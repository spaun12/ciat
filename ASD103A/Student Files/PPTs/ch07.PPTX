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51"/>
  </p:notesMasterIdLst>
  <p:handoutMasterIdLst>
    <p:handoutMasterId r:id="rId52"/>
  </p:handoutMasterIdLst>
  <p:sldIdLst>
    <p:sldId id="382" r:id="rId2"/>
    <p:sldId id="333"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 id="375" r:id="rId42"/>
    <p:sldId id="376" r:id="rId43"/>
    <p:sldId id="377" r:id="rId44"/>
    <p:sldId id="378" r:id="rId45"/>
    <p:sldId id="379" r:id="rId46"/>
    <p:sldId id="380" r:id="rId47"/>
    <p:sldId id="381" r:id="rId48"/>
    <p:sldId id="335" r:id="rId49"/>
    <p:sldId id="336" r:id="rId50"/>
  </p:sldIdLst>
  <p:sldSz cx="9144000" cy="6858000" type="screen4x3"/>
  <p:notesSz cx="6858000" cy="9144000"/>
  <p:custDataLst>
    <p:tags r:id="rId53"/>
  </p:custDataLst>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extLst/>
  </p:cmAuthor>
  <p:cmAuthor id="2" name="Stulga, Michele L" initials="SML" lastIdx="19" clrIdx="2">
    <p:extLst/>
  </p:cmAuthor>
  <p:cmAuthor id="3" name="Marianne Freeman" initials="MF" lastIdx="9" clrIdx="3">
    <p:extLst>
      <p:ext uri="{19B8F6BF-5375-455C-9EA6-DF929625EA0E}">
        <p15:presenceInfo xmlns:p15="http://schemas.microsoft.com/office/powerpoint/2012/main" userId="1199072752_tp_dropbox" providerId="Windows Live"/>
      </p:ext>
    </p:extLst>
  </p:cmAuthor>
  <p:cmAuthor id="4" name="Julie Tomsho" initials="JRT" lastIdx="8"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C00000"/>
    <a:srgbClr val="8A3800"/>
    <a:srgbClr val="0068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4" autoAdjust="0"/>
    <p:restoredTop sz="96408" autoAdjust="0"/>
  </p:normalViewPr>
  <p:slideViewPr>
    <p:cSldViewPr>
      <p:cViewPr varScale="1">
        <p:scale>
          <a:sx n="64" d="100"/>
          <a:sy n="64" d="100"/>
        </p:scale>
        <p:origin x="1348" y="36"/>
      </p:cViewPr>
      <p:guideLst>
        <p:guide orient="horz" pos="2160"/>
        <p:guide pos="2880"/>
      </p:guideLst>
    </p:cSldViewPr>
  </p:slideViewPr>
  <p:outlineViewPr>
    <p:cViewPr>
      <p:scale>
        <a:sx n="33" d="100"/>
        <a:sy n="33" d="100"/>
      </p:scale>
      <p:origin x="0" y="-26088"/>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2399495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a:t>
            </a:fld>
            <a:endParaRPr lang="en-US" dirty="0"/>
          </a:p>
        </p:txBody>
      </p:sp>
    </p:spTree>
    <p:extLst>
      <p:ext uri="{BB962C8B-B14F-4D97-AF65-F5344CB8AC3E}">
        <p14:creationId xmlns:p14="http://schemas.microsoft.com/office/powerpoint/2010/main" val="2185036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a:t>
            </a:fld>
            <a:endParaRPr lang="en-US" dirty="0"/>
          </a:p>
        </p:txBody>
      </p:sp>
    </p:spTree>
    <p:extLst>
      <p:ext uri="{BB962C8B-B14F-4D97-AF65-F5344CB8AC3E}">
        <p14:creationId xmlns:p14="http://schemas.microsoft.com/office/powerpoint/2010/main" val="3610918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a:t>
            </a:fld>
            <a:endParaRPr lang="en-US" dirty="0"/>
          </a:p>
        </p:txBody>
      </p:sp>
    </p:spTree>
    <p:extLst>
      <p:ext uri="{BB962C8B-B14F-4D97-AF65-F5344CB8AC3E}">
        <p14:creationId xmlns:p14="http://schemas.microsoft.com/office/powerpoint/2010/main" val="2298503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a:t>
            </a:fld>
            <a:endParaRPr lang="en-US" dirty="0"/>
          </a:p>
        </p:txBody>
      </p:sp>
    </p:spTree>
    <p:extLst>
      <p:ext uri="{BB962C8B-B14F-4D97-AF65-F5344CB8AC3E}">
        <p14:creationId xmlns:p14="http://schemas.microsoft.com/office/powerpoint/2010/main" val="3386615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a:t>
            </a:fld>
            <a:endParaRPr lang="en-US" dirty="0"/>
          </a:p>
        </p:txBody>
      </p:sp>
    </p:spTree>
    <p:extLst>
      <p:ext uri="{BB962C8B-B14F-4D97-AF65-F5344CB8AC3E}">
        <p14:creationId xmlns:p14="http://schemas.microsoft.com/office/powerpoint/2010/main" val="1803726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7</a:t>
            </a:fld>
            <a:endParaRPr lang="en-US" dirty="0"/>
          </a:p>
        </p:txBody>
      </p:sp>
    </p:spTree>
    <p:extLst>
      <p:ext uri="{BB962C8B-B14F-4D97-AF65-F5344CB8AC3E}">
        <p14:creationId xmlns:p14="http://schemas.microsoft.com/office/powerpoint/2010/main" val="2776231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8</a:t>
            </a:fld>
            <a:endParaRPr lang="en-US" dirty="0"/>
          </a:p>
        </p:txBody>
      </p:sp>
    </p:spTree>
    <p:extLst>
      <p:ext uri="{BB962C8B-B14F-4D97-AF65-F5344CB8AC3E}">
        <p14:creationId xmlns:p14="http://schemas.microsoft.com/office/powerpoint/2010/main" val="433333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9</a:t>
            </a:fld>
            <a:endParaRPr lang="en-US" dirty="0"/>
          </a:p>
        </p:txBody>
      </p:sp>
    </p:spTree>
    <p:extLst>
      <p:ext uri="{BB962C8B-B14F-4D97-AF65-F5344CB8AC3E}">
        <p14:creationId xmlns:p14="http://schemas.microsoft.com/office/powerpoint/2010/main" val="996263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10</a:t>
            </a:fld>
            <a:endParaRPr lang="en-US" dirty="0"/>
          </a:p>
        </p:txBody>
      </p:sp>
    </p:spTree>
    <p:extLst>
      <p:ext uri="{BB962C8B-B14F-4D97-AF65-F5344CB8AC3E}">
        <p14:creationId xmlns:p14="http://schemas.microsoft.com/office/powerpoint/2010/main" val="3154168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11</a:t>
            </a:fld>
            <a:endParaRPr lang="en-US" dirty="0"/>
          </a:p>
        </p:txBody>
      </p:sp>
    </p:spTree>
    <p:extLst>
      <p:ext uri="{BB962C8B-B14F-4D97-AF65-F5344CB8AC3E}">
        <p14:creationId xmlns:p14="http://schemas.microsoft.com/office/powerpoint/2010/main" val="1391326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12</a:t>
            </a:fld>
            <a:endParaRPr lang="en-US" dirty="0"/>
          </a:p>
        </p:txBody>
      </p:sp>
    </p:spTree>
    <p:extLst>
      <p:ext uri="{BB962C8B-B14F-4D97-AF65-F5344CB8AC3E}">
        <p14:creationId xmlns:p14="http://schemas.microsoft.com/office/powerpoint/2010/main" val="30003419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13</a:t>
            </a:fld>
            <a:endParaRPr lang="en-US" dirty="0"/>
          </a:p>
        </p:txBody>
      </p:sp>
    </p:spTree>
    <p:extLst>
      <p:ext uri="{BB962C8B-B14F-4D97-AF65-F5344CB8AC3E}">
        <p14:creationId xmlns:p14="http://schemas.microsoft.com/office/powerpoint/2010/main" val="1964704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14</a:t>
            </a:fld>
            <a:endParaRPr lang="en-US" dirty="0"/>
          </a:p>
        </p:txBody>
      </p:sp>
    </p:spTree>
    <p:extLst>
      <p:ext uri="{BB962C8B-B14F-4D97-AF65-F5344CB8AC3E}">
        <p14:creationId xmlns:p14="http://schemas.microsoft.com/office/powerpoint/2010/main" val="4207916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15</a:t>
            </a:fld>
            <a:endParaRPr lang="en-US" dirty="0"/>
          </a:p>
        </p:txBody>
      </p:sp>
    </p:spTree>
    <p:extLst>
      <p:ext uri="{BB962C8B-B14F-4D97-AF65-F5344CB8AC3E}">
        <p14:creationId xmlns:p14="http://schemas.microsoft.com/office/powerpoint/2010/main" val="2802767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16</a:t>
            </a:fld>
            <a:endParaRPr lang="en-US" dirty="0"/>
          </a:p>
        </p:txBody>
      </p:sp>
    </p:spTree>
    <p:extLst>
      <p:ext uri="{BB962C8B-B14F-4D97-AF65-F5344CB8AC3E}">
        <p14:creationId xmlns:p14="http://schemas.microsoft.com/office/powerpoint/2010/main" val="1782914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17</a:t>
            </a:fld>
            <a:endParaRPr lang="en-US" dirty="0"/>
          </a:p>
        </p:txBody>
      </p:sp>
    </p:spTree>
    <p:extLst>
      <p:ext uri="{BB962C8B-B14F-4D97-AF65-F5344CB8AC3E}">
        <p14:creationId xmlns:p14="http://schemas.microsoft.com/office/powerpoint/2010/main" val="2121930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18</a:t>
            </a:fld>
            <a:endParaRPr lang="en-US" dirty="0"/>
          </a:p>
        </p:txBody>
      </p:sp>
    </p:spTree>
    <p:extLst>
      <p:ext uri="{BB962C8B-B14F-4D97-AF65-F5344CB8AC3E}">
        <p14:creationId xmlns:p14="http://schemas.microsoft.com/office/powerpoint/2010/main" val="1623198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19</a:t>
            </a:fld>
            <a:endParaRPr lang="en-US" dirty="0"/>
          </a:p>
        </p:txBody>
      </p:sp>
    </p:spTree>
    <p:extLst>
      <p:ext uri="{BB962C8B-B14F-4D97-AF65-F5344CB8AC3E}">
        <p14:creationId xmlns:p14="http://schemas.microsoft.com/office/powerpoint/2010/main" val="1961797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20</a:t>
            </a:fld>
            <a:endParaRPr lang="en-US" dirty="0"/>
          </a:p>
        </p:txBody>
      </p:sp>
    </p:spTree>
    <p:extLst>
      <p:ext uri="{BB962C8B-B14F-4D97-AF65-F5344CB8AC3E}">
        <p14:creationId xmlns:p14="http://schemas.microsoft.com/office/powerpoint/2010/main" val="6581073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21</a:t>
            </a:fld>
            <a:endParaRPr lang="en-US" dirty="0"/>
          </a:p>
        </p:txBody>
      </p:sp>
    </p:spTree>
    <p:extLst>
      <p:ext uri="{BB962C8B-B14F-4D97-AF65-F5344CB8AC3E}">
        <p14:creationId xmlns:p14="http://schemas.microsoft.com/office/powerpoint/2010/main" val="23134729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22</a:t>
            </a:fld>
            <a:endParaRPr lang="en-US" dirty="0"/>
          </a:p>
        </p:txBody>
      </p:sp>
    </p:spTree>
    <p:extLst>
      <p:ext uri="{BB962C8B-B14F-4D97-AF65-F5344CB8AC3E}">
        <p14:creationId xmlns:p14="http://schemas.microsoft.com/office/powerpoint/2010/main" val="3814841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23</a:t>
            </a:fld>
            <a:endParaRPr lang="en-US" dirty="0"/>
          </a:p>
        </p:txBody>
      </p:sp>
    </p:spTree>
    <p:extLst>
      <p:ext uri="{BB962C8B-B14F-4D97-AF65-F5344CB8AC3E}">
        <p14:creationId xmlns:p14="http://schemas.microsoft.com/office/powerpoint/2010/main" val="1307832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24</a:t>
            </a:fld>
            <a:endParaRPr lang="en-US" dirty="0"/>
          </a:p>
        </p:txBody>
      </p:sp>
    </p:spTree>
    <p:extLst>
      <p:ext uri="{BB962C8B-B14F-4D97-AF65-F5344CB8AC3E}">
        <p14:creationId xmlns:p14="http://schemas.microsoft.com/office/powerpoint/2010/main" val="22028686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25</a:t>
            </a:fld>
            <a:endParaRPr lang="en-US" dirty="0"/>
          </a:p>
        </p:txBody>
      </p:sp>
    </p:spTree>
    <p:extLst>
      <p:ext uri="{BB962C8B-B14F-4D97-AF65-F5344CB8AC3E}">
        <p14:creationId xmlns:p14="http://schemas.microsoft.com/office/powerpoint/2010/main" val="566389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26</a:t>
            </a:fld>
            <a:endParaRPr lang="en-US" dirty="0"/>
          </a:p>
        </p:txBody>
      </p:sp>
    </p:spTree>
    <p:extLst>
      <p:ext uri="{BB962C8B-B14F-4D97-AF65-F5344CB8AC3E}">
        <p14:creationId xmlns:p14="http://schemas.microsoft.com/office/powerpoint/2010/main" val="10354886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27</a:t>
            </a:fld>
            <a:endParaRPr lang="en-US" dirty="0"/>
          </a:p>
        </p:txBody>
      </p:sp>
    </p:spTree>
    <p:extLst>
      <p:ext uri="{BB962C8B-B14F-4D97-AF65-F5344CB8AC3E}">
        <p14:creationId xmlns:p14="http://schemas.microsoft.com/office/powerpoint/2010/main" val="33899412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28</a:t>
            </a:fld>
            <a:endParaRPr lang="en-US" dirty="0"/>
          </a:p>
        </p:txBody>
      </p:sp>
    </p:spTree>
    <p:extLst>
      <p:ext uri="{BB962C8B-B14F-4D97-AF65-F5344CB8AC3E}">
        <p14:creationId xmlns:p14="http://schemas.microsoft.com/office/powerpoint/2010/main" val="22447706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29</a:t>
            </a:fld>
            <a:endParaRPr lang="en-US" dirty="0"/>
          </a:p>
        </p:txBody>
      </p:sp>
    </p:spTree>
    <p:extLst>
      <p:ext uri="{BB962C8B-B14F-4D97-AF65-F5344CB8AC3E}">
        <p14:creationId xmlns:p14="http://schemas.microsoft.com/office/powerpoint/2010/main" val="2422591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30</a:t>
            </a:fld>
            <a:endParaRPr lang="en-US" dirty="0"/>
          </a:p>
        </p:txBody>
      </p:sp>
    </p:spTree>
    <p:extLst>
      <p:ext uri="{BB962C8B-B14F-4D97-AF65-F5344CB8AC3E}">
        <p14:creationId xmlns:p14="http://schemas.microsoft.com/office/powerpoint/2010/main" val="1491636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31</a:t>
            </a:fld>
            <a:endParaRPr lang="en-US" dirty="0"/>
          </a:p>
        </p:txBody>
      </p:sp>
    </p:spTree>
    <p:extLst>
      <p:ext uri="{BB962C8B-B14F-4D97-AF65-F5344CB8AC3E}">
        <p14:creationId xmlns:p14="http://schemas.microsoft.com/office/powerpoint/2010/main" val="21514878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32</a:t>
            </a:fld>
            <a:endParaRPr lang="en-US" dirty="0"/>
          </a:p>
        </p:txBody>
      </p:sp>
    </p:spTree>
    <p:extLst>
      <p:ext uri="{BB962C8B-B14F-4D97-AF65-F5344CB8AC3E}">
        <p14:creationId xmlns:p14="http://schemas.microsoft.com/office/powerpoint/2010/main" val="4793142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33</a:t>
            </a:fld>
            <a:endParaRPr lang="en-US" dirty="0"/>
          </a:p>
        </p:txBody>
      </p:sp>
    </p:spTree>
    <p:extLst>
      <p:ext uri="{BB962C8B-B14F-4D97-AF65-F5344CB8AC3E}">
        <p14:creationId xmlns:p14="http://schemas.microsoft.com/office/powerpoint/2010/main" val="22910194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34</a:t>
            </a:fld>
            <a:endParaRPr lang="en-US" dirty="0"/>
          </a:p>
        </p:txBody>
      </p:sp>
    </p:spTree>
    <p:extLst>
      <p:ext uri="{BB962C8B-B14F-4D97-AF65-F5344CB8AC3E}">
        <p14:creationId xmlns:p14="http://schemas.microsoft.com/office/powerpoint/2010/main" val="36316264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35</a:t>
            </a:fld>
            <a:endParaRPr lang="en-US" dirty="0"/>
          </a:p>
        </p:txBody>
      </p:sp>
    </p:spTree>
    <p:extLst>
      <p:ext uri="{BB962C8B-B14F-4D97-AF65-F5344CB8AC3E}">
        <p14:creationId xmlns:p14="http://schemas.microsoft.com/office/powerpoint/2010/main" val="17843695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36</a:t>
            </a:fld>
            <a:endParaRPr lang="en-US" dirty="0"/>
          </a:p>
        </p:txBody>
      </p:sp>
    </p:spTree>
    <p:extLst>
      <p:ext uri="{BB962C8B-B14F-4D97-AF65-F5344CB8AC3E}">
        <p14:creationId xmlns:p14="http://schemas.microsoft.com/office/powerpoint/2010/main" val="27411612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37</a:t>
            </a:fld>
            <a:endParaRPr lang="en-US" dirty="0"/>
          </a:p>
        </p:txBody>
      </p:sp>
    </p:spTree>
    <p:extLst>
      <p:ext uri="{BB962C8B-B14F-4D97-AF65-F5344CB8AC3E}">
        <p14:creationId xmlns:p14="http://schemas.microsoft.com/office/powerpoint/2010/main" val="27229085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38</a:t>
            </a:fld>
            <a:endParaRPr lang="en-US" dirty="0"/>
          </a:p>
        </p:txBody>
      </p:sp>
    </p:spTree>
    <p:extLst>
      <p:ext uri="{BB962C8B-B14F-4D97-AF65-F5344CB8AC3E}">
        <p14:creationId xmlns:p14="http://schemas.microsoft.com/office/powerpoint/2010/main" val="33903651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39</a:t>
            </a:fld>
            <a:endParaRPr lang="en-US" dirty="0"/>
          </a:p>
        </p:txBody>
      </p:sp>
    </p:spTree>
    <p:extLst>
      <p:ext uri="{BB962C8B-B14F-4D97-AF65-F5344CB8AC3E}">
        <p14:creationId xmlns:p14="http://schemas.microsoft.com/office/powerpoint/2010/main" val="11728791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40</a:t>
            </a:fld>
            <a:endParaRPr lang="en-US" dirty="0"/>
          </a:p>
        </p:txBody>
      </p:sp>
    </p:spTree>
    <p:extLst>
      <p:ext uri="{BB962C8B-B14F-4D97-AF65-F5344CB8AC3E}">
        <p14:creationId xmlns:p14="http://schemas.microsoft.com/office/powerpoint/2010/main" val="1425542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41</a:t>
            </a:fld>
            <a:endParaRPr lang="en-US" dirty="0"/>
          </a:p>
        </p:txBody>
      </p:sp>
    </p:spTree>
    <p:extLst>
      <p:ext uri="{BB962C8B-B14F-4D97-AF65-F5344CB8AC3E}">
        <p14:creationId xmlns:p14="http://schemas.microsoft.com/office/powerpoint/2010/main" val="18290357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42</a:t>
            </a:fld>
            <a:endParaRPr lang="en-US" dirty="0"/>
          </a:p>
        </p:txBody>
      </p:sp>
    </p:spTree>
    <p:extLst>
      <p:ext uri="{BB962C8B-B14F-4D97-AF65-F5344CB8AC3E}">
        <p14:creationId xmlns:p14="http://schemas.microsoft.com/office/powerpoint/2010/main" val="5265989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43</a:t>
            </a:fld>
            <a:endParaRPr lang="en-US" dirty="0"/>
          </a:p>
        </p:txBody>
      </p:sp>
    </p:spTree>
    <p:extLst>
      <p:ext uri="{BB962C8B-B14F-4D97-AF65-F5344CB8AC3E}">
        <p14:creationId xmlns:p14="http://schemas.microsoft.com/office/powerpoint/2010/main" val="17387097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44</a:t>
            </a:fld>
            <a:endParaRPr lang="en-US" dirty="0"/>
          </a:p>
        </p:txBody>
      </p:sp>
    </p:spTree>
    <p:extLst>
      <p:ext uri="{BB962C8B-B14F-4D97-AF65-F5344CB8AC3E}">
        <p14:creationId xmlns:p14="http://schemas.microsoft.com/office/powerpoint/2010/main" val="5898894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45</a:t>
            </a:fld>
            <a:endParaRPr lang="en-US" dirty="0"/>
          </a:p>
        </p:txBody>
      </p:sp>
    </p:spTree>
    <p:extLst>
      <p:ext uri="{BB962C8B-B14F-4D97-AF65-F5344CB8AC3E}">
        <p14:creationId xmlns:p14="http://schemas.microsoft.com/office/powerpoint/2010/main" val="11627688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46</a:t>
            </a:fld>
            <a:endParaRPr lang="en-US" dirty="0"/>
          </a:p>
        </p:txBody>
      </p:sp>
    </p:spTree>
    <p:extLst>
      <p:ext uri="{BB962C8B-B14F-4D97-AF65-F5344CB8AC3E}">
        <p14:creationId xmlns:p14="http://schemas.microsoft.com/office/powerpoint/2010/main" val="21772074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47</a:t>
            </a:fld>
            <a:endParaRPr lang="en-US" dirty="0"/>
          </a:p>
        </p:txBody>
      </p:sp>
    </p:spTree>
    <p:extLst>
      <p:ext uri="{BB962C8B-B14F-4D97-AF65-F5344CB8AC3E}">
        <p14:creationId xmlns:p14="http://schemas.microsoft.com/office/powerpoint/2010/main" val="14975635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48</a:t>
            </a:fld>
            <a:endParaRPr lang="en-US" dirty="0"/>
          </a:p>
        </p:txBody>
      </p:sp>
    </p:spTree>
    <p:extLst>
      <p:ext uri="{BB962C8B-B14F-4D97-AF65-F5344CB8AC3E}">
        <p14:creationId xmlns:p14="http://schemas.microsoft.com/office/powerpoint/2010/main" val="28720960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49</a:t>
            </a:fld>
            <a:endParaRPr lang="en-US" dirty="0"/>
          </a:p>
        </p:txBody>
      </p:sp>
    </p:spTree>
    <p:extLst>
      <p:ext uri="{BB962C8B-B14F-4D97-AF65-F5344CB8AC3E}">
        <p14:creationId xmlns:p14="http://schemas.microsoft.com/office/powerpoint/2010/main" val="3800213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7"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1374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8650" y="3343803"/>
            <a:ext cx="7886700" cy="8471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85800" y="4334403"/>
            <a:ext cx="7886700" cy="853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36195AC9-BFC6-4E47-89AB-74CA8BB5098B}"/>
              </a:ext>
            </a:extLst>
          </p:cNvPr>
          <p:cNvSpPr>
            <a:spLocks noGrp="1"/>
          </p:cNvSpPr>
          <p:nvPr>
            <p:ph idx="14"/>
          </p:nvPr>
        </p:nvSpPr>
        <p:spPr>
          <a:xfrm>
            <a:off x="603250" y="4953000"/>
            <a:ext cx="7886700" cy="853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E7D84E6-27AD-4EEA-A335-664FA1B1ED9E}"/>
              </a:ext>
            </a:extLst>
          </p:cNvPr>
          <p:cNvSpPr>
            <a:spLocks noGrp="1"/>
          </p:cNvSpPr>
          <p:nvPr>
            <p:ph type="ftr" sz="quarter" idx="11"/>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1175714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1">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3"/>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68" r:id="rId9"/>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11.jp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8.xml"/><Relationship Id="rId1" Type="http://schemas.openxmlformats.org/officeDocument/2006/relationships/vmlDrawing" Target="../drawings/vmlDrawing1.vml"/><Relationship Id="rId5" Type="http://schemas.openxmlformats.org/officeDocument/2006/relationships/image" Target="../media/image12.wmf"/><Relationship Id="rId4" Type="http://schemas.openxmlformats.org/officeDocument/2006/relationships/oleObject" Target="../embeddings/oleObject1.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dirty="0">
                <a:solidFill>
                  <a:schemeClr val="bg2">
                    <a:lumMod val="10000"/>
                  </a:schemeClr>
                </a:solidFill>
              </a:rPr>
              <a:t>Chapter 7: Stacks</a:t>
            </a: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fontScale="92500"/>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73713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549274"/>
          </a:xfrm>
        </p:spPr>
        <p:txBody>
          <a:bodyPr/>
          <a:lstStyle/>
          <a:p>
            <a:r>
              <a:rPr lang="en-US" b="1" dirty="0"/>
              <a:t>Learning Objectives</a:t>
            </a:r>
          </a:p>
        </p:txBody>
      </p:sp>
      <p:sp>
        <p:nvSpPr>
          <p:cNvPr id="9219" name="Content Placeholder 6"/>
          <p:cNvSpPr>
            <a:spLocks noGrp="1"/>
          </p:cNvSpPr>
          <p:nvPr>
            <p:ph idx="1"/>
          </p:nvPr>
        </p:nvSpPr>
        <p:spPr>
          <a:xfrm>
            <a:off x="628650" y="1825625"/>
            <a:ext cx="7886700" cy="3889375"/>
          </a:xfrm>
        </p:spPr>
        <p:txBody>
          <a:bodyPr/>
          <a:lstStyle/>
          <a:p>
            <a:pPr marL="291600" indent="-291600">
              <a:spcBef>
                <a:spcPts val="1000"/>
              </a:spcBef>
            </a:pPr>
            <a:r>
              <a:rPr lang="en-US" dirty="0"/>
              <a:t>Describe the features and behavior of a stack</a:t>
            </a:r>
          </a:p>
          <a:p>
            <a:pPr marL="291600" indent="-291600">
              <a:spcBef>
                <a:spcPts val="1000"/>
              </a:spcBef>
            </a:pPr>
            <a:r>
              <a:rPr lang="en-US" dirty="0"/>
              <a:t>Choose a stack implementation based on its performance characteristics</a:t>
            </a:r>
          </a:p>
          <a:p>
            <a:pPr marL="291600" indent="-291600">
              <a:spcBef>
                <a:spcPts val="1000"/>
              </a:spcBef>
            </a:pPr>
            <a:r>
              <a:rPr lang="en-US" dirty="0"/>
              <a:t>Recognize applications where it is appropriate to use a stack</a:t>
            </a:r>
          </a:p>
          <a:p>
            <a:pPr marL="291600" indent="-291600">
              <a:spcBef>
                <a:spcPts val="1000"/>
              </a:spcBef>
            </a:pPr>
            <a:r>
              <a:rPr lang="en-US" dirty="0"/>
              <a:t>Explain how the system call stack provides run-time support for recursive subroutines</a:t>
            </a:r>
          </a:p>
          <a:p>
            <a:pPr marL="291600" indent="-291600">
              <a:spcBef>
                <a:spcPts val="1000"/>
              </a:spcBef>
            </a:pPr>
            <a:r>
              <a:rPr lang="en-US" dirty="0"/>
              <a:t>Design and implement a backtracking algorithm that uses a stack</a:t>
            </a:r>
          </a:p>
        </p:txBody>
      </p:sp>
      <p:sp>
        <p:nvSpPr>
          <p:cNvPr id="9220" name="Footer Placeholder 7"/>
          <p:cNvSpPr>
            <a:spLocks noGrp="1"/>
          </p:cNvSpPr>
          <p:nvPr>
            <p:ph type="ftr" sz="quarter" idx="11"/>
          </p:nvPr>
        </p:nvSpPr>
        <p:spPr/>
        <p:txBody>
          <a:bodyPr/>
          <a:lstStyle/>
          <a:p>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Overview of Stacks </a:t>
            </a:r>
            <a:r>
              <a:rPr lang="en-US" sz="2000" dirty="0"/>
              <a:t>(1 of 3)</a:t>
            </a:r>
          </a:p>
        </p:txBody>
      </p:sp>
      <p:sp>
        <p:nvSpPr>
          <p:cNvPr id="3" name="Content Placeholder 2"/>
          <p:cNvSpPr>
            <a:spLocks noGrp="1"/>
          </p:cNvSpPr>
          <p:nvPr>
            <p:ph idx="1"/>
          </p:nvPr>
        </p:nvSpPr>
        <p:spPr>
          <a:xfrm>
            <a:off x="628650" y="1676400"/>
            <a:ext cx="7886700" cy="4114800"/>
          </a:xfrm>
        </p:spPr>
        <p:txBody>
          <a:bodyPr/>
          <a:lstStyle/>
          <a:p>
            <a:pPr marL="291600" indent="-291600">
              <a:spcBef>
                <a:spcPts val="1000"/>
              </a:spcBef>
            </a:pPr>
            <a:r>
              <a:rPr lang="en-US" dirty="0"/>
              <a:t>Stacks – linear collections</a:t>
            </a:r>
          </a:p>
          <a:p>
            <a:pPr lvl="1">
              <a:spcBef>
                <a:spcPts val="1000"/>
              </a:spcBef>
            </a:pPr>
            <a:r>
              <a:rPr lang="en-US" dirty="0"/>
              <a:t>Access is completely restricted to just one end called the </a:t>
            </a:r>
            <a:r>
              <a:rPr lang="en-US" i="1" dirty="0"/>
              <a:t>top</a:t>
            </a:r>
          </a:p>
          <a:p>
            <a:pPr lvl="1">
              <a:spcBef>
                <a:spcPts val="1000"/>
              </a:spcBef>
            </a:pPr>
            <a:r>
              <a:rPr lang="en-US" dirty="0"/>
              <a:t>Use a </a:t>
            </a:r>
            <a:r>
              <a:rPr lang="en-US" i="1" dirty="0"/>
              <a:t>last-in-first-out</a:t>
            </a:r>
            <a:r>
              <a:rPr lang="en-US" dirty="0"/>
              <a:t> (L</a:t>
            </a:r>
            <a:r>
              <a:rPr lang="en-US" sz="100" dirty="0"/>
              <a:t> </a:t>
            </a:r>
            <a:r>
              <a:rPr lang="en-US" dirty="0"/>
              <a:t>I</a:t>
            </a:r>
            <a:r>
              <a:rPr lang="en-US" sz="100" dirty="0"/>
              <a:t> </a:t>
            </a:r>
            <a:r>
              <a:rPr lang="en-US" dirty="0"/>
              <a:t>F</a:t>
            </a:r>
            <a:r>
              <a:rPr lang="en-US" sz="100" dirty="0"/>
              <a:t> </a:t>
            </a:r>
            <a:r>
              <a:rPr lang="en-US" dirty="0"/>
              <a:t>O) protocol</a:t>
            </a:r>
          </a:p>
          <a:p>
            <a:pPr marL="291600" indent="-291600">
              <a:spcBef>
                <a:spcPts val="1000"/>
              </a:spcBef>
            </a:pPr>
            <a:r>
              <a:rPr lang="en-US" dirty="0"/>
              <a:t>Analogy</a:t>
            </a:r>
          </a:p>
          <a:p>
            <a:pPr lvl="1">
              <a:spcBef>
                <a:spcPts val="1000"/>
              </a:spcBef>
            </a:pPr>
            <a:r>
              <a:rPr lang="en-US" dirty="0"/>
              <a:t>Stack of clean trays in a cafeteria</a:t>
            </a:r>
          </a:p>
          <a:p>
            <a:pPr lvl="1"/>
            <a:r>
              <a:rPr lang="en-US" dirty="0"/>
              <a:t>New tray is removed from top of the stack, when needed</a:t>
            </a:r>
          </a:p>
          <a:p>
            <a:pPr marL="291600" indent="-291600">
              <a:spcBef>
                <a:spcPts val="1000"/>
              </a:spcBef>
            </a:pPr>
            <a:r>
              <a:rPr lang="en-US" dirty="0"/>
              <a:t>Operations for putting items on and removing items from a stack are called </a:t>
            </a:r>
            <a:r>
              <a:rPr lang="en-US" b="1" dirty="0">
                <a:latin typeface="Courier New" panose="02070309020205020404" pitchFamily="49" charset="0"/>
                <a:cs typeface="Courier New" panose="02070309020205020404" pitchFamily="49" charset="0"/>
              </a:rPr>
              <a:t>push</a:t>
            </a:r>
            <a:r>
              <a:rPr lang="en-US" dirty="0"/>
              <a:t> and </a:t>
            </a:r>
            <a:r>
              <a:rPr lang="en-US" b="1" dirty="0">
                <a:latin typeface="Courier New" panose="02070309020205020404" pitchFamily="49" charset="0"/>
                <a:cs typeface="Courier New" panose="02070309020205020404" pitchFamily="49" charset="0"/>
              </a:rPr>
              <a:t>pop</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52414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Overview of Stacks </a:t>
            </a:r>
            <a:r>
              <a:rPr lang="en-US" sz="2000" dirty="0"/>
              <a:t>(2 of 3)</a:t>
            </a:r>
          </a:p>
        </p:txBody>
      </p:sp>
      <p:sp>
        <p:nvSpPr>
          <p:cNvPr id="3" name="Content Placeholder 2"/>
          <p:cNvSpPr>
            <a:spLocks noGrp="1"/>
          </p:cNvSpPr>
          <p:nvPr>
            <p:ph idx="1"/>
          </p:nvPr>
        </p:nvSpPr>
        <p:spPr>
          <a:xfrm>
            <a:off x="661780" y="1676400"/>
            <a:ext cx="7886700" cy="384175"/>
          </a:xfrm>
        </p:spPr>
        <p:txBody>
          <a:bodyPr/>
          <a:lstStyle/>
          <a:p>
            <a:pPr marL="0" indent="0">
              <a:spcBef>
                <a:spcPts val="1000"/>
              </a:spcBef>
              <a:buNone/>
            </a:pPr>
            <a:r>
              <a:rPr lang="en-IN" b="1" dirty="0"/>
              <a:t>Figure 7-1: </a:t>
            </a:r>
            <a:r>
              <a:rPr lang="en-IN" dirty="0"/>
              <a:t>Some states in the lifetime of a stack</a:t>
            </a:r>
            <a:endParaRPr lang="en-US" b="1" dirty="0">
              <a:latin typeface="Courier New" panose="02070309020205020404" pitchFamily="49" charset="0"/>
              <a:cs typeface="Courier New" panose="02070309020205020404" pitchFamily="49" charset="0"/>
            </a:endParaRPr>
          </a:p>
        </p:txBody>
      </p:sp>
      <p:pic>
        <p:nvPicPr>
          <p:cNvPr id="7" name="Content Placeholder 6" descr="Illustration shows some states in the lifetime of a stack. Figure shows labeled boxes stacked upon each other. The state empty shows no boxes. The state, After push, a, shows a box labeled a. The state, after push, b, after push, c, after push, d, shows boxes labeled a, b, c, d stacked from bottom to top. The state, after pop, shows a stack with the labeled boxes a, b, and c. The state, after push, e, after push, f, shows a stack with boxes labeled a, b, c, e, f, stacked from bottom to top. The state, after pop, shows a stack with the boxes labeled a, b, c, and e."/>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990600" y="2475147"/>
            <a:ext cx="6854031" cy="3266800"/>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20621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Overview of Stacks </a:t>
            </a:r>
            <a:r>
              <a:rPr lang="en-US" sz="2000" dirty="0"/>
              <a:t>(3 of 3)</a:t>
            </a:r>
          </a:p>
        </p:txBody>
      </p:sp>
      <p:sp>
        <p:nvSpPr>
          <p:cNvPr id="3" name="Content Placeholder 2"/>
          <p:cNvSpPr>
            <a:spLocks noGrp="1"/>
          </p:cNvSpPr>
          <p:nvPr>
            <p:ph idx="1"/>
          </p:nvPr>
        </p:nvSpPr>
        <p:spPr>
          <a:xfrm>
            <a:off x="628650" y="1524000"/>
            <a:ext cx="7886700" cy="4267200"/>
          </a:xfrm>
        </p:spPr>
        <p:txBody>
          <a:bodyPr/>
          <a:lstStyle/>
          <a:p>
            <a:pPr marL="291600" indent="-291600">
              <a:spcBef>
                <a:spcPts val="1000"/>
              </a:spcBef>
            </a:pPr>
            <a:r>
              <a:rPr lang="en-US" dirty="0"/>
              <a:t>Applications of stacks in computer science</a:t>
            </a:r>
          </a:p>
          <a:p>
            <a:pPr lvl="1">
              <a:spcBef>
                <a:spcPts val="1000"/>
              </a:spcBef>
            </a:pPr>
            <a:r>
              <a:rPr lang="en-US" dirty="0">
                <a:latin typeface="Open Sans"/>
                <a:cs typeface="Courier New" panose="02070309020205020404" pitchFamily="49" charset="0"/>
              </a:rPr>
              <a:t>Translating infix expressions to postfix form and evaluating postfix expressions  </a:t>
            </a:r>
          </a:p>
          <a:p>
            <a:pPr lvl="1">
              <a:spcBef>
                <a:spcPts val="1000"/>
              </a:spcBef>
            </a:pPr>
            <a:r>
              <a:rPr lang="en-US" dirty="0">
                <a:latin typeface="Open Sans"/>
                <a:cs typeface="Courier New" panose="02070309020205020404" pitchFamily="49" charset="0"/>
              </a:rPr>
              <a:t>Backtracking algorithms</a:t>
            </a:r>
          </a:p>
          <a:p>
            <a:pPr lvl="1">
              <a:spcBef>
                <a:spcPts val="1000"/>
              </a:spcBef>
            </a:pPr>
            <a:r>
              <a:rPr lang="en-US" dirty="0">
                <a:latin typeface="Open Sans"/>
                <a:cs typeface="Courier New" panose="02070309020205020404" pitchFamily="49" charset="0"/>
              </a:rPr>
              <a:t>Managing computer memory in support of function and method calls</a:t>
            </a:r>
          </a:p>
          <a:p>
            <a:pPr lvl="1">
              <a:spcBef>
                <a:spcPts val="1000"/>
              </a:spcBef>
            </a:pPr>
            <a:r>
              <a:rPr lang="en-US" dirty="0">
                <a:latin typeface="Open Sans"/>
                <a:cs typeface="Courier New" panose="02070309020205020404" pitchFamily="49" charset="0"/>
              </a:rPr>
              <a:t>Supporting the undo feature in text editors, word processors, spreadsheet programs, drawing programs, and similar applications</a:t>
            </a:r>
          </a:p>
          <a:p>
            <a:pPr lvl="1">
              <a:spcBef>
                <a:spcPts val="1000"/>
              </a:spcBef>
            </a:pPr>
            <a:r>
              <a:rPr lang="en-US" dirty="0">
                <a:latin typeface="Open Sans"/>
                <a:cs typeface="Courier New" panose="02070309020205020404" pitchFamily="49" charset="0"/>
              </a:rPr>
              <a:t>Maintaining a history of the links visited by a web browser</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40255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Using a Stack</a:t>
            </a:r>
          </a:p>
        </p:txBody>
      </p:sp>
      <p:sp>
        <p:nvSpPr>
          <p:cNvPr id="3" name="Content Placeholder 2"/>
          <p:cNvSpPr>
            <a:spLocks noGrp="1"/>
          </p:cNvSpPr>
          <p:nvPr>
            <p:ph idx="1"/>
          </p:nvPr>
        </p:nvSpPr>
        <p:spPr>
          <a:xfrm>
            <a:off x="628650" y="1524000"/>
            <a:ext cx="7886700" cy="4351338"/>
          </a:xfrm>
        </p:spPr>
        <p:txBody>
          <a:bodyPr/>
          <a:lstStyle/>
          <a:p>
            <a:pPr marL="291600" indent="-291600">
              <a:spcBef>
                <a:spcPts val="1000"/>
              </a:spcBef>
            </a:pPr>
            <a:r>
              <a:rPr lang="en-US" dirty="0"/>
              <a:t>A stack type is not built into Python</a:t>
            </a:r>
          </a:p>
          <a:p>
            <a:pPr marL="291600" indent="-291600">
              <a:spcBef>
                <a:spcPts val="1000"/>
              </a:spcBef>
            </a:pPr>
            <a:r>
              <a:rPr lang="en-US" dirty="0"/>
              <a:t>Programmers can use a Python list to emulate an array-based stack:</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list</a:t>
            </a:r>
            <a:r>
              <a:rPr lang="en-US" dirty="0"/>
              <a:t> method </a:t>
            </a:r>
            <a:r>
              <a:rPr lang="en-US" b="1" dirty="0">
                <a:latin typeface="Courier New" panose="02070309020205020404" pitchFamily="49" charset="0"/>
                <a:cs typeface="Courier New" panose="02070309020205020404" pitchFamily="49" charset="0"/>
              </a:rPr>
              <a:t>append</a:t>
            </a:r>
            <a:r>
              <a:rPr lang="en-US" dirty="0"/>
              <a:t> pushes an element onto this stack</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list</a:t>
            </a:r>
            <a:r>
              <a:rPr lang="en-US" dirty="0"/>
              <a:t> </a:t>
            </a:r>
            <a:r>
              <a:rPr lang="en-US" dirty="0">
                <a:latin typeface="Open Sans Regular"/>
                <a:cs typeface="Courier New" panose="02070309020205020404" pitchFamily="49" charset="0"/>
              </a:rPr>
              <a:t>method</a:t>
            </a:r>
            <a:r>
              <a:rPr lang="en-US" b="1" dirty="0">
                <a:latin typeface="Courier New" panose="02070309020205020404" pitchFamily="49" charset="0"/>
                <a:cs typeface="Courier New" panose="02070309020205020404" pitchFamily="49" charset="0"/>
              </a:rPr>
              <a:t> pop </a:t>
            </a:r>
            <a:r>
              <a:rPr lang="en-US" dirty="0"/>
              <a:t>removes and returns the element at its top</a:t>
            </a:r>
          </a:p>
          <a:p>
            <a:pPr marL="291600" indent="-291600">
              <a:spcBef>
                <a:spcPts val="1000"/>
              </a:spcBef>
            </a:pPr>
            <a:r>
              <a:rPr lang="en-US" dirty="0"/>
              <a:t>The main drawback of this option is as follows:</a:t>
            </a:r>
          </a:p>
          <a:p>
            <a:pPr lvl="1">
              <a:spcBef>
                <a:spcPts val="1000"/>
              </a:spcBef>
            </a:pPr>
            <a:r>
              <a:rPr lang="en-US" dirty="0"/>
              <a:t>All other list operations can manipulate the stack as well</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73988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Stack Interface </a:t>
            </a:r>
            <a:r>
              <a:rPr lang="en-US" sz="2000" dirty="0"/>
              <a:t>(1 of 5)</a:t>
            </a:r>
          </a:p>
        </p:txBody>
      </p:sp>
      <p:sp>
        <p:nvSpPr>
          <p:cNvPr id="3" name="Content Placeholder 2"/>
          <p:cNvSpPr>
            <a:spLocks noGrp="1"/>
          </p:cNvSpPr>
          <p:nvPr>
            <p:ph idx="1"/>
          </p:nvPr>
        </p:nvSpPr>
        <p:spPr>
          <a:xfrm>
            <a:off x="628650" y="1524000"/>
            <a:ext cx="7886700" cy="2133600"/>
          </a:xfrm>
        </p:spPr>
        <p:txBody>
          <a:bodyPr/>
          <a:lstStyle/>
          <a:p>
            <a:pPr marL="291600" indent="-291600">
              <a:spcBef>
                <a:spcPts val="1000"/>
              </a:spcBef>
            </a:pPr>
            <a:r>
              <a:rPr lang="en-US" dirty="0"/>
              <a:t>A stack interface provides an operation named </a:t>
            </a:r>
            <a:r>
              <a:rPr lang="en-US" b="1" dirty="0">
                <a:latin typeface="Courier New" panose="02070309020205020404" pitchFamily="49" charset="0"/>
                <a:cs typeface="Courier New" panose="02070309020205020404" pitchFamily="49" charset="0"/>
              </a:rPr>
              <a:t>peek</a:t>
            </a:r>
            <a:r>
              <a:rPr lang="en-US" dirty="0"/>
              <a:t> for examining the element at the top of a stack</a:t>
            </a:r>
          </a:p>
          <a:p>
            <a:pPr marL="291600" indent="-291600">
              <a:spcBef>
                <a:spcPts val="1000"/>
              </a:spcBef>
            </a:pPr>
            <a:r>
              <a:rPr lang="en-US" dirty="0"/>
              <a:t>The stack type can also include operations such as</a:t>
            </a:r>
          </a:p>
          <a:p>
            <a:pPr lvl="1">
              <a:spcBef>
                <a:spcPts val="1000"/>
              </a:spcBef>
            </a:pPr>
            <a:r>
              <a:rPr lang="en-US" b="1" dirty="0">
                <a:latin typeface="Courier New" panose="02070309020205020404" pitchFamily="49" charset="0"/>
                <a:cs typeface="Courier New" panose="02070309020205020404" pitchFamily="49" charset="0"/>
              </a:rPr>
              <a:t>clear</a:t>
            </a:r>
            <a:r>
              <a:rPr lang="en-US" dirty="0"/>
              <a:t>, </a:t>
            </a:r>
            <a:r>
              <a:rPr lang="en-US" b="1" dirty="0">
                <a:latin typeface="Courier New" panose="02070309020205020404" pitchFamily="49" charset="0"/>
                <a:cs typeface="Courier New" panose="02070309020205020404" pitchFamily="49" charset="0"/>
              </a:rPr>
              <a:t>isEmpty</a:t>
            </a:r>
            <a:r>
              <a:rPr lang="en-US" dirty="0"/>
              <a:t>, </a:t>
            </a:r>
            <a:r>
              <a:rPr lang="en-US" b="1" dirty="0">
                <a:latin typeface="Courier New" panose="02070309020205020404" pitchFamily="49" charset="0"/>
                <a:cs typeface="Courier New" panose="02070309020205020404" pitchFamily="49" charset="0"/>
              </a:rPr>
              <a:t>len</a:t>
            </a:r>
            <a:r>
              <a:rPr lang="en-US" dirty="0"/>
              <a:t>, </a:t>
            </a:r>
            <a:r>
              <a:rPr lang="en-US" b="1" dirty="0">
                <a:latin typeface="Courier New" panose="02070309020205020404" pitchFamily="49" charset="0"/>
                <a:cs typeface="Courier New" panose="02070309020205020404" pitchFamily="49" charset="0"/>
              </a:rPr>
              <a:t>str</a:t>
            </a:r>
            <a:r>
              <a:rPr lang="en-US" dirty="0"/>
              <a:t>, </a:t>
            </a:r>
            <a:r>
              <a:rPr lang="en-US" b="1" dirty="0">
                <a:latin typeface="Courier New" panose="02070309020205020404" pitchFamily="49" charset="0"/>
                <a:cs typeface="Courier New" panose="02070309020205020404" pitchFamily="49" charset="0"/>
              </a:rPr>
              <a:t>in</a:t>
            </a:r>
            <a:r>
              <a:rPr lang="en-US" dirty="0"/>
              <a:t>, and </a:t>
            </a:r>
            <a:r>
              <a:rPr lang="en-US" b="1" dirty="0">
                <a:latin typeface="Courier New" panose="02070309020205020404" pitchFamily="49" charset="0"/>
                <a:cs typeface="Courier New" panose="02070309020205020404" pitchFamily="49" charset="0"/>
              </a:rPr>
              <a:t>+</a:t>
            </a:r>
          </a:p>
          <a:p>
            <a:pPr marL="291600" indent="-291600">
              <a:spcBef>
                <a:spcPts val="1000"/>
              </a:spcBef>
            </a:pPr>
            <a:r>
              <a:rPr lang="en-US" dirty="0"/>
              <a:t>These operations are listed as Python methods in Table 7.1 (see next slide)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78391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Stack Interface </a:t>
            </a:r>
            <a:r>
              <a:rPr lang="en-US" sz="2000" dirty="0"/>
              <a:t>(2 of 5)</a:t>
            </a:r>
          </a:p>
        </p:txBody>
      </p:sp>
      <p:sp>
        <p:nvSpPr>
          <p:cNvPr id="3" name="Content Placeholder 2"/>
          <p:cNvSpPr>
            <a:spLocks noGrp="1"/>
          </p:cNvSpPr>
          <p:nvPr>
            <p:ph idx="1"/>
          </p:nvPr>
        </p:nvSpPr>
        <p:spPr>
          <a:xfrm>
            <a:off x="628650" y="1672713"/>
            <a:ext cx="7886700" cy="384175"/>
          </a:xfrm>
        </p:spPr>
        <p:txBody>
          <a:bodyPr/>
          <a:lstStyle/>
          <a:p>
            <a:pPr marL="291600" indent="-291600">
              <a:spcBef>
                <a:spcPts val="1000"/>
              </a:spcBef>
            </a:pPr>
            <a:r>
              <a:rPr lang="en-US" dirty="0"/>
              <a:t>Table 7.1 The Methods in the Stack Interface</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265521450"/>
              </p:ext>
            </p:extLst>
          </p:nvPr>
        </p:nvGraphicFramePr>
        <p:xfrm>
          <a:off x="926976" y="2286000"/>
          <a:ext cx="7677150" cy="2992120"/>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3657733034"/>
                    </a:ext>
                  </a:extLst>
                </a:gridCol>
                <a:gridCol w="4781550">
                  <a:extLst>
                    <a:ext uri="{9D8B030D-6E8A-4147-A177-3AD203B41FA5}">
                      <a16:colId xmlns:a16="http://schemas.microsoft.com/office/drawing/2014/main" val="3603331802"/>
                    </a:ext>
                  </a:extLst>
                </a:gridCol>
              </a:tblGrid>
              <a:tr h="370840">
                <a:tc>
                  <a:txBody>
                    <a:bodyPr/>
                    <a:lstStyle/>
                    <a:p>
                      <a:r>
                        <a:rPr lang="en-US" dirty="0">
                          <a:solidFill>
                            <a:schemeClr val="bg2">
                              <a:lumMod val="10000"/>
                            </a:schemeClr>
                          </a:solidFill>
                          <a:latin typeface="Open Sans" panose="020B0606030504020204"/>
                        </a:rPr>
                        <a:t>Stack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1963162"/>
                  </a:ext>
                </a:extLst>
              </a:tr>
              <a:tr h="370840">
                <a:tc>
                  <a:txBody>
                    <a:bodyPr/>
                    <a:lstStyle/>
                    <a:p>
                      <a:r>
                        <a:rPr lang="en-US" b="1" dirty="0">
                          <a:latin typeface="Courier New" panose="02070309020205020404" pitchFamily="49" charset="0"/>
                          <a:cs typeface="Courier New" panose="02070309020205020404" pitchFamily="49" charset="0"/>
                        </a:rPr>
                        <a:t>s.isEmpty()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Returns</a:t>
                      </a:r>
                      <a:r>
                        <a:rPr lang="en-US" baseline="0" dirty="0">
                          <a:latin typeface="Open Sans" panose="020B0606030504020204"/>
                        </a:rPr>
                        <a:t> </a:t>
                      </a:r>
                      <a:r>
                        <a:rPr lang="en-US" b="1" baseline="0" dirty="0">
                          <a:latin typeface="Courier New" panose="02070309020205020404" pitchFamily="49" charset="0"/>
                          <a:cs typeface="Courier New" panose="02070309020205020404" pitchFamily="49" charset="0"/>
                        </a:rPr>
                        <a:t>True</a:t>
                      </a:r>
                      <a:r>
                        <a:rPr lang="en-US" baseline="0" dirty="0">
                          <a:latin typeface="Open Sans" panose="020B0606030504020204"/>
                        </a:rPr>
                        <a:t> if </a:t>
                      </a:r>
                      <a:r>
                        <a:rPr lang="en-US" b="1" baseline="0" dirty="0">
                          <a:latin typeface="Open Sans" panose="020B0606030504020204"/>
                          <a:cs typeface="Courier New" panose="02070309020205020404" pitchFamily="49" charset="0"/>
                        </a:rPr>
                        <a:t>s</a:t>
                      </a:r>
                      <a:r>
                        <a:rPr lang="en-US" b="1" baseline="0" dirty="0">
                          <a:latin typeface="Open Sans" panose="020B0606030504020204"/>
                        </a:rPr>
                        <a:t> </a:t>
                      </a:r>
                      <a:r>
                        <a:rPr lang="en-US" baseline="0" dirty="0">
                          <a:latin typeface="Open Sans" panose="020B0606030504020204"/>
                        </a:rPr>
                        <a:t>is empty or </a:t>
                      </a:r>
                      <a:r>
                        <a:rPr lang="en-US" b="1" baseline="0" dirty="0">
                          <a:latin typeface="Courier New" panose="02070309020205020404" pitchFamily="49" charset="0"/>
                          <a:cs typeface="Courier New" panose="02070309020205020404" pitchFamily="49" charset="0"/>
                        </a:rPr>
                        <a:t>False</a:t>
                      </a:r>
                      <a:r>
                        <a:rPr lang="en-US" baseline="0" dirty="0">
                          <a:latin typeface="Open Sans" panose="020B0606030504020204"/>
                        </a:rPr>
                        <a:t> otherwise.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732325"/>
                  </a:ext>
                </a:extLst>
              </a:tr>
              <a:tr h="370840">
                <a:tc>
                  <a:txBody>
                    <a:bodyPr/>
                    <a:lstStyle/>
                    <a:p>
                      <a:r>
                        <a:rPr lang="en-US" b="1" dirty="0">
                          <a:latin typeface="Courier New" panose="02070309020205020404" pitchFamily="49" charset="0"/>
                          <a:cs typeface="Courier New" panose="02070309020205020404" pitchFamily="49" charset="0"/>
                        </a:rPr>
                        <a:t>s._len_()</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b="1" dirty="0">
                          <a:latin typeface="Courier New" panose="02070309020205020404" pitchFamily="49" charset="0"/>
                          <a:cs typeface="Courier New" panose="02070309020205020404" pitchFamily="49" charset="0"/>
                        </a:rPr>
                        <a:t>len(s)</a:t>
                      </a:r>
                      <a:r>
                        <a:rPr lang="en-US" dirty="0">
                          <a:latin typeface="Open Sans" panose="020B0606030504020204"/>
                        </a:rPr>
                        <a:t>. Returns the number of items </a:t>
                      </a:r>
                      <a:r>
                        <a:rPr lang="en-US" b="0" dirty="0">
                          <a:latin typeface="Open Sans" panose="020B0606030504020204"/>
                          <a:cs typeface="Courier New" panose="02070309020205020404" pitchFamily="49" charset="0"/>
                        </a:rPr>
                        <a:t>in</a:t>
                      </a:r>
                      <a:r>
                        <a:rPr lang="en-US" b="1" dirty="0">
                          <a:latin typeface="Open Sans" panose="020B0606030504020204"/>
                          <a:cs typeface="Courier New" panose="02070309020205020404" pitchFamily="49" charset="0"/>
                        </a:rPr>
                        <a:t> </a:t>
                      </a:r>
                      <a:r>
                        <a:rPr lang="en-US" b="1" dirty="0">
                          <a:latin typeface="Courier New" panose="02070309020205020404" pitchFamily="49" charset="0"/>
                          <a:cs typeface="Courier New" panose="02070309020205020404" pitchFamily="49" charset="0"/>
                        </a:rPr>
                        <a:t>s</a:t>
                      </a:r>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462183"/>
                  </a:ext>
                </a:extLst>
              </a:tr>
              <a:tr h="370840">
                <a:tc>
                  <a:txBody>
                    <a:bodyPr/>
                    <a:lstStyle/>
                    <a:p>
                      <a:r>
                        <a:rPr lang="en-US" b="1" dirty="0">
                          <a:latin typeface="Courier New" panose="02070309020205020404" pitchFamily="49" charset="0"/>
                          <a:cs typeface="Courier New" panose="02070309020205020404" pitchFamily="49" charset="0"/>
                        </a:rPr>
                        <a:t>s._str_()</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b="1" dirty="0">
                          <a:latin typeface="Courier New" panose="02070309020205020404" pitchFamily="49" charset="0"/>
                          <a:cs typeface="Courier New" panose="02070309020205020404" pitchFamily="49" charset="0"/>
                        </a:rPr>
                        <a:t>str(s)</a:t>
                      </a:r>
                      <a:r>
                        <a:rPr lang="en-US" dirty="0">
                          <a:latin typeface="Open Sans" panose="020B0606030504020204"/>
                        </a:rPr>
                        <a:t>.</a:t>
                      </a:r>
                      <a:r>
                        <a:rPr lang="en-US" baseline="0" dirty="0">
                          <a:latin typeface="Open Sans" panose="020B0606030504020204"/>
                        </a:rPr>
                        <a:t> Returns the string representation of </a:t>
                      </a:r>
                      <a:r>
                        <a:rPr lang="en-US" b="1" baseline="0" dirty="0">
                          <a:latin typeface="Courier New" panose="02070309020205020404" pitchFamily="49" charset="0"/>
                          <a:cs typeface="Courier New" panose="02070309020205020404" pitchFamily="49" charset="0"/>
                        </a:rPr>
                        <a:t>s</a:t>
                      </a:r>
                      <a:r>
                        <a:rPr lang="en-US" baseline="0" dirty="0">
                          <a:latin typeface="Open Sans" panose="020B0606030504020204"/>
                        </a:rPr>
                        <a:t>.</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9638145"/>
                  </a:ext>
                </a:extLst>
              </a:tr>
              <a:tr h="370840">
                <a:tc>
                  <a:txBody>
                    <a:bodyPr/>
                    <a:lstStyle/>
                    <a:p>
                      <a:r>
                        <a:rPr lang="en-US" b="1" dirty="0">
                          <a:latin typeface="Courier New" panose="02070309020205020404" pitchFamily="49" charset="0"/>
                          <a:cs typeface="Courier New" panose="02070309020205020404" pitchFamily="49" charset="0"/>
                        </a:rPr>
                        <a:t>s._iter_()</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b="1" dirty="0">
                          <a:latin typeface="Courier New" panose="02070309020205020404" pitchFamily="49" charset="0"/>
                          <a:cs typeface="Courier New" panose="02070309020205020404" pitchFamily="49" charset="0"/>
                        </a:rPr>
                        <a:t>iter(s)</a:t>
                      </a:r>
                      <a:r>
                        <a:rPr lang="en-US" dirty="0">
                          <a:latin typeface="Open Sans" panose="020B0606030504020204"/>
                        </a:rPr>
                        <a:t>, or </a:t>
                      </a:r>
                      <a:r>
                        <a:rPr lang="en-US" b="1" dirty="0">
                          <a:latin typeface="Courier New" panose="02070309020205020404" pitchFamily="49" charset="0"/>
                          <a:cs typeface="Courier New" panose="02070309020205020404" pitchFamily="49" charset="0"/>
                        </a:rPr>
                        <a:t>for item in s</a:t>
                      </a:r>
                      <a:r>
                        <a:rPr lang="en-US" dirty="0">
                          <a:latin typeface="Open Sans" panose="020B0606030504020204"/>
                        </a:rPr>
                        <a:t>:. Visits each item in </a:t>
                      </a:r>
                      <a:r>
                        <a:rPr lang="en-US" b="1" dirty="0">
                          <a:latin typeface="Courier New" panose="02070309020205020404" pitchFamily="49" charset="0"/>
                          <a:cs typeface="Courier New" panose="02070309020205020404" pitchFamily="49" charset="0"/>
                        </a:rPr>
                        <a:t>s</a:t>
                      </a:r>
                      <a:r>
                        <a:rPr lang="en-US" dirty="0">
                          <a:latin typeface="Open Sans" panose="020B0606030504020204"/>
                        </a:rPr>
                        <a:t>,</a:t>
                      </a:r>
                      <a:r>
                        <a:rPr lang="en-US" baseline="0" dirty="0">
                          <a:latin typeface="Open Sans" panose="020B0606030504020204"/>
                        </a:rPr>
                        <a:t> from bottom to top.</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7312850"/>
                  </a:ext>
                </a:extLst>
              </a:tr>
              <a:tr h="370840">
                <a:tc>
                  <a:txBody>
                    <a:bodyPr/>
                    <a:lstStyle/>
                    <a:p>
                      <a:r>
                        <a:rPr lang="en-US" b="1" dirty="0">
                          <a:latin typeface="Courier New" panose="02070309020205020404" pitchFamily="49" charset="0"/>
                          <a:cs typeface="Courier New" panose="02070309020205020404" pitchFamily="49" charset="0"/>
                        </a:rPr>
                        <a:t>s._contains.(item)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b="1" dirty="0">
                          <a:latin typeface="Courier New" panose="02070309020205020404" pitchFamily="49" charset="0"/>
                          <a:cs typeface="Courier New" panose="02070309020205020404" pitchFamily="49" charset="0"/>
                        </a:rPr>
                        <a:t>item in</a:t>
                      </a:r>
                      <a:r>
                        <a:rPr lang="en-US" b="1" baseline="0" dirty="0">
                          <a:latin typeface="Courier New" panose="02070309020205020404" pitchFamily="49" charset="0"/>
                          <a:cs typeface="Courier New" panose="02070309020205020404" pitchFamily="49" charset="0"/>
                        </a:rPr>
                        <a:t> s</a:t>
                      </a:r>
                      <a:r>
                        <a:rPr lang="en-US" baseline="0" dirty="0">
                          <a:latin typeface="Open Sans" panose="020B0606030504020204"/>
                        </a:rPr>
                        <a:t>. Returns </a:t>
                      </a:r>
                      <a:r>
                        <a:rPr lang="en-US" b="1" baseline="0" dirty="0">
                          <a:latin typeface="Courier New" panose="02070309020205020404" pitchFamily="49" charset="0"/>
                          <a:cs typeface="Courier New" panose="02070309020205020404" pitchFamily="49" charset="0"/>
                        </a:rPr>
                        <a:t>True</a:t>
                      </a:r>
                      <a:r>
                        <a:rPr lang="en-US" baseline="0" dirty="0">
                          <a:latin typeface="Open Sans" panose="020B0606030504020204"/>
                        </a:rPr>
                        <a:t> if </a:t>
                      </a:r>
                      <a:r>
                        <a:rPr lang="en-US" b="1" baseline="0" dirty="0">
                          <a:latin typeface="Courier New" panose="02070309020205020404" pitchFamily="49" charset="0"/>
                          <a:cs typeface="Courier New" panose="02070309020205020404" pitchFamily="49" charset="0"/>
                        </a:rPr>
                        <a:t>item</a:t>
                      </a:r>
                      <a:r>
                        <a:rPr lang="en-US" baseline="0" dirty="0">
                          <a:latin typeface="Open Sans" panose="020B0606030504020204"/>
                        </a:rPr>
                        <a:t> is in </a:t>
                      </a:r>
                      <a:r>
                        <a:rPr lang="en-US" b="1" baseline="0" dirty="0">
                          <a:latin typeface="Courier New" panose="02070309020205020404" pitchFamily="49" charset="0"/>
                          <a:cs typeface="Courier New" panose="02070309020205020404" pitchFamily="49" charset="0"/>
                        </a:rPr>
                        <a:t>s</a:t>
                      </a:r>
                      <a:r>
                        <a:rPr lang="en-US" baseline="0" dirty="0">
                          <a:latin typeface="Open Sans" panose="020B0606030504020204"/>
                        </a:rPr>
                        <a:t> or </a:t>
                      </a:r>
                      <a:r>
                        <a:rPr lang="en-US" b="1" baseline="0" dirty="0">
                          <a:latin typeface="Courier New" panose="02070309020205020404" pitchFamily="49" charset="0"/>
                          <a:cs typeface="Courier New" panose="02070309020205020404" pitchFamily="49" charset="0"/>
                        </a:rPr>
                        <a:t>False</a:t>
                      </a:r>
                      <a:r>
                        <a:rPr lang="en-US" baseline="0" dirty="0">
                          <a:latin typeface="Open Sans" panose="020B0606030504020204"/>
                        </a:rPr>
                        <a:t> otherwise.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900275"/>
                  </a:ext>
                </a:extLst>
              </a:tr>
              <a:tr h="370840">
                <a:tc>
                  <a:txBody>
                    <a:bodyPr/>
                    <a:lstStyle/>
                    <a:p>
                      <a:r>
                        <a:rPr lang="en-US" b="1" dirty="0">
                          <a:latin typeface="Courier New" panose="02070309020205020404" pitchFamily="49" charset="0"/>
                          <a:cs typeface="Courier New" panose="02070309020205020404" pitchFamily="49" charset="0"/>
                        </a:rPr>
                        <a:t>s1._add_(s2)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sz="1350" b="1" kern="1200" baseline="0" dirty="0">
                          <a:solidFill>
                            <a:schemeClr val="dk1"/>
                          </a:solidFill>
                          <a:latin typeface="Courier New" panose="02070309020205020404" pitchFamily="49" charset="0"/>
                          <a:ea typeface="+mn-ea"/>
                          <a:cs typeface="Courier New" panose="02070309020205020404" pitchFamily="49" charset="0"/>
                        </a:rPr>
                        <a:t>s1 + s2</a:t>
                      </a:r>
                      <a:r>
                        <a:rPr lang="en-US" dirty="0">
                          <a:latin typeface="Open Sans" panose="020B0606030504020204"/>
                        </a:rPr>
                        <a:t>. Returns a new stack containing the items in </a:t>
                      </a:r>
                      <a:r>
                        <a:rPr lang="en-US" sz="1350" b="1" kern="1200" baseline="0" dirty="0">
                          <a:solidFill>
                            <a:schemeClr val="dk1"/>
                          </a:solidFill>
                          <a:latin typeface="Courier New" panose="02070309020205020404" pitchFamily="49" charset="0"/>
                          <a:ea typeface="+mn-ea"/>
                          <a:cs typeface="Courier New" panose="02070309020205020404" pitchFamily="49" charset="0"/>
                        </a:rPr>
                        <a:t>s1</a:t>
                      </a:r>
                      <a:r>
                        <a:rPr lang="en-US" dirty="0">
                          <a:latin typeface="Open Sans" panose="020B0606030504020204"/>
                        </a:rPr>
                        <a:t> and </a:t>
                      </a:r>
                      <a:r>
                        <a:rPr lang="en-US" sz="1350" b="1" kern="1200" baseline="0" dirty="0">
                          <a:solidFill>
                            <a:schemeClr val="dk1"/>
                          </a:solidFill>
                          <a:latin typeface="Courier New" panose="02070309020205020404" pitchFamily="49" charset="0"/>
                          <a:ea typeface="+mn-ea"/>
                          <a:cs typeface="Courier New" panose="02070309020205020404" pitchFamily="49" charset="0"/>
                        </a:rPr>
                        <a:t>s2</a:t>
                      </a:r>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6006849"/>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91666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Stack Interface </a:t>
            </a:r>
            <a:r>
              <a:rPr lang="en-US" sz="2000" dirty="0"/>
              <a:t>(3 of 5)</a:t>
            </a:r>
          </a:p>
        </p:txBody>
      </p:sp>
      <p:sp>
        <p:nvSpPr>
          <p:cNvPr id="3" name="Content Placeholder 2"/>
          <p:cNvSpPr>
            <a:spLocks noGrp="1"/>
          </p:cNvSpPr>
          <p:nvPr>
            <p:ph idx="1"/>
          </p:nvPr>
        </p:nvSpPr>
        <p:spPr>
          <a:xfrm>
            <a:off x="628650" y="1665775"/>
            <a:ext cx="7886700" cy="317695"/>
          </a:xfrm>
        </p:spPr>
        <p:txBody>
          <a:bodyPr/>
          <a:lstStyle/>
          <a:p>
            <a:pPr marL="291600" indent="-291600">
              <a:spcBef>
                <a:spcPts val="1000"/>
              </a:spcBef>
            </a:pPr>
            <a:r>
              <a:rPr lang="en-US" dirty="0"/>
              <a:t>Table 7.1 The Methods in the Stack Interface (continued)</a:t>
            </a:r>
          </a:p>
        </p:txBody>
      </p:sp>
      <p:graphicFrame>
        <p:nvGraphicFramePr>
          <p:cNvPr id="9" name="Content Placeholder 8" descr="Table is accessible to screenreaders"/>
          <p:cNvGraphicFramePr>
            <a:graphicFrameLocks noGrp="1"/>
          </p:cNvGraphicFramePr>
          <p:nvPr>
            <p:ph idx="13"/>
            <p:extLst>
              <p:ext uri="{D42A27DB-BD31-4B8C-83A1-F6EECF244321}">
                <p14:modId xmlns:p14="http://schemas.microsoft.com/office/powerpoint/2010/main" val="2038373295"/>
              </p:ext>
            </p:extLst>
          </p:nvPr>
        </p:nvGraphicFramePr>
        <p:xfrm>
          <a:off x="914400" y="2497781"/>
          <a:ext cx="7600950" cy="269494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3142656748"/>
                    </a:ext>
                  </a:extLst>
                </a:gridCol>
                <a:gridCol w="4781550">
                  <a:extLst>
                    <a:ext uri="{9D8B030D-6E8A-4147-A177-3AD203B41FA5}">
                      <a16:colId xmlns:a16="http://schemas.microsoft.com/office/drawing/2014/main" val="599074392"/>
                    </a:ext>
                  </a:extLst>
                </a:gridCol>
              </a:tblGrid>
              <a:tr h="370840">
                <a:tc>
                  <a:txBody>
                    <a:bodyPr/>
                    <a:lstStyle/>
                    <a:p>
                      <a:r>
                        <a:rPr lang="en-US" dirty="0">
                          <a:solidFill>
                            <a:schemeClr val="bg2">
                              <a:lumMod val="10000"/>
                            </a:schemeClr>
                          </a:solidFill>
                          <a:latin typeface="Open Sans" panose="020B0606030504020204"/>
                        </a:rPr>
                        <a:t>Stack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313845"/>
                  </a:ext>
                </a:extLst>
              </a:tr>
              <a:tr h="370840">
                <a:tc>
                  <a:txBody>
                    <a:bodyPr/>
                    <a:lstStyle/>
                    <a:p>
                      <a:r>
                        <a:rPr lang="en-US" b="1" dirty="0">
                          <a:latin typeface="Courier New" panose="02070309020205020404" pitchFamily="49" charset="0"/>
                          <a:cs typeface="Courier New" panose="02070309020205020404" pitchFamily="49" charset="0"/>
                        </a:rPr>
                        <a:t>s._eq_(anyObject)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b="1" dirty="0">
                          <a:latin typeface="Courier New" panose="02070309020205020404" pitchFamily="49" charset="0"/>
                          <a:cs typeface="Courier New" panose="02070309020205020404" pitchFamily="49" charset="0"/>
                        </a:rPr>
                        <a:t>s==anyObject</a:t>
                      </a:r>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1365997"/>
                  </a:ext>
                </a:extLst>
              </a:tr>
              <a:tr h="370840">
                <a:tc>
                  <a:txBody>
                    <a:bodyPr/>
                    <a:lstStyle/>
                    <a:p>
                      <a:r>
                        <a:rPr lang="en-US" b="1" dirty="0">
                          <a:latin typeface="Courier New" panose="02070309020205020404" pitchFamily="49" charset="0"/>
                          <a:cs typeface="Courier New" panose="02070309020205020404" pitchFamily="49" charset="0"/>
                        </a:rPr>
                        <a:t>s.clear()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Makes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dirty="0">
                          <a:latin typeface="Open Sans" panose="020B0606030504020204"/>
                        </a:rPr>
                        <a:t> become</a:t>
                      </a:r>
                      <a:r>
                        <a:rPr lang="en-US" baseline="0" dirty="0">
                          <a:latin typeface="Open Sans" panose="020B0606030504020204"/>
                        </a:rPr>
                        <a:t> empty</a:t>
                      </a:r>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8274582"/>
                  </a:ext>
                </a:extLst>
              </a:tr>
              <a:tr h="370840">
                <a:tc>
                  <a:txBody>
                    <a:bodyPr/>
                    <a:lstStyle/>
                    <a:p>
                      <a:r>
                        <a:rPr lang="en-US" b="1" dirty="0">
                          <a:latin typeface="Courier New" panose="02070309020205020404" pitchFamily="49" charset="0"/>
                          <a:cs typeface="Courier New" panose="02070309020205020404" pitchFamily="49" charset="0"/>
                        </a:rPr>
                        <a:t>s.peek</a:t>
                      </a:r>
                      <a:r>
                        <a:rPr lang="en-US" b="1" baseline="0"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Returns the item</a:t>
                      </a:r>
                      <a:r>
                        <a:rPr lang="en-US" baseline="0" dirty="0">
                          <a:latin typeface="Open Sans" panose="020B0606030504020204"/>
                        </a:rPr>
                        <a:t> at the top of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baseline="0" dirty="0">
                          <a:latin typeface="Open Sans" panose="020B0606030504020204"/>
                        </a:rPr>
                        <a:t>. Precondition: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baseline="0" dirty="0">
                          <a:latin typeface="Open Sans" panose="020B0606030504020204"/>
                        </a:rPr>
                        <a:t> must not be empty; raises a </a:t>
                      </a:r>
                      <a:r>
                        <a:rPr lang="en-US" sz="1350" b="1" kern="1200" dirty="0">
                          <a:solidFill>
                            <a:schemeClr val="dk1"/>
                          </a:solidFill>
                          <a:latin typeface="Courier New" panose="02070309020205020404" pitchFamily="49" charset="0"/>
                          <a:ea typeface="+mn-ea"/>
                          <a:cs typeface="Courier New" panose="02070309020205020404" pitchFamily="49" charset="0"/>
                        </a:rPr>
                        <a:t>KeyError</a:t>
                      </a:r>
                      <a:r>
                        <a:rPr lang="en-US" baseline="0" dirty="0">
                          <a:latin typeface="Open Sans" panose="020B0606030504020204"/>
                        </a:rPr>
                        <a:t> if the stack is empty.</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5778511"/>
                  </a:ext>
                </a:extLst>
              </a:tr>
              <a:tr h="370840">
                <a:tc>
                  <a:txBody>
                    <a:bodyPr/>
                    <a:lstStyle/>
                    <a:p>
                      <a:r>
                        <a:rPr lang="en-US" b="1" dirty="0">
                          <a:latin typeface="Courier New" panose="02070309020205020404" pitchFamily="49" charset="0"/>
                          <a:cs typeface="Courier New" panose="02070309020205020404" pitchFamily="49" charset="0"/>
                        </a:rPr>
                        <a:t>s.push(item)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Adds </a:t>
                      </a:r>
                      <a:r>
                        <a:rPr lang="en-US" sz="1350" b="1" kern="1200" dirty="0">
                          <a:solidFill>
                            <a:schemeClr val="dk1"/>
                          </a:solidFill>
                          <a:latin typeface="Courier New" panose="02070309020205020404" pitchFamily="49" charset="0"/>
                          <a:ea typeface="+mn-ea"/>
                          <a:cs typeface="Courier New" panose="02070309020205020404" pitchFamily="49" charset="0"/>
                        </a:rPr>
                        <a:t>item</a:t>
                      </a:r>
                      <a:r>
                        <a:rPr lang="en-US" dirty="0">
                          <a:latin typeface="Open Sans" panose="020B0606030504020204"/>
                        </a:rPr>
                        <a:t> to the top of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716108"/>
                  </a:ext>
                </a:extLst>
              </a:tr>
              <a:tr h="370840">
                <a:tc>
                  <a:txBody>
                    <a:bodyPr/>
                    <a:lstStyle/>
                    <a:p>
                      <a:r>
                        <a:rPr lang="en-US" b="1" dirty="0">
                          <a:latin typeface="Courier New" panose="02070309020205020404" pitchFamily="49" charset="0"/>
                          <a:cs typeface="Courier New" panose="02070309020205020404" pitchFamily="49" charset="0"/>
                        </a:rPr>
                        <a:t>s.pop()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Removes</a:t>
                      </a:r>
                      <a:r>
                        <a:rPr lang="en-US" baseline="0" dirty="0">
                          <a:latin typeface="Open Sans" panose="020B0606030504020204"/>
                        </a:rPr>
                        <a:t> and returns the item at the top of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baseline="0" dirty="0">
                          <a:latin typeface="Open Sans" panose="020B0606030504020204"/>
                        </a:rPr>
                        <a:t>. Precondition: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baseline="0" dirty="0">
                          <a:latin typeface="Open Sans" panose="020B0606030504020204"/>
                        </a:rPr>
                        <a:t> must not be empty; raises a </a:t>
                      </a:r>
                      <a:r>
                        <a:rPr lang="en-US" sz="1350" b="1" kern="1200" dirty="0">
                          <a:solidFill>
                            <a:schemeClr val="dk1"/>
                          </a:solidFill>
                          <a:latin typeface="Courier New" panose="02070309020205020404" pitchFamily="49" charset="0"/>
                          <a:ea typeface="+mn-ea"/>
                          <a:cs typeface="Courier New" panose="02070309020205020404" pitchFamily="49" charset="0"/>
                        </a:rPr>
                        <a:t>KeyError</a:t>
                      </a:r>
                      <a:r>
                        <a:rPr lang="en-US" baseline="0" dirty="0">
                          <a:latin typeface="Open Sans" panose="020B0606030504020204"/>
                        </a:rPr>
                        <a:t> if the stack is empty.</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1110837"/>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1307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Stack Interface </a:t>
            </a:r>
            <a:r>
              <a:rPr lang="en-US" sz="2000" dirty="0"/>
              <a:t>(4 of 5)</a:t>
            </a:r>
          </a:p>
        </p:txBody>
      </p:sp>
      <p:sp>
        <p:nvSpPr>
          <p:cNvPr id="3" name="Content Placeholder 2"/>
          <p:cNvSpPr>
            <a:spLocks noGrp="1"/>
          </p:cNvSpPr>
          <p:nvPr>
            <p:ph idx="1"/>
          </p:nvPr>
        </p:nvSpPr>
        <p:spPr>
          <a:xfrm>
            <a:off x="628650" y="1296145"/>
            <a:ext cx="7886700" cy="366200"/>
          </a:xfrm>
        </p:spPr>
        <p:txBody>
          <a:bodyPr/>
          <a:lstStyle/>
          <a:p>
            <a:pPr marL="291600" indent="-291600">
              <a:spcBef>
                <a:spcPts val="1000"/>
              </a:spcBef>
            </a:pPr>
            <a:r>
              <a:rPr lang="en-US" dirty="0"/>
              <a:t>Table 7.2 The Effect of Stack Operations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583024015"/>
              </p:ext>
            </p:extLst>
          </p:nvPr>
        </p:nvGraphicFramePr>
        <p:xfrm>
          <a:off x="838199" y="2133600"/>
          <a:ext cx="7677150" cy="3759200"/>
        </p:xfrm>
        <a:graphic>
          <a:graphicData uri="http://schemas.openxmlformats.org/drawingml/2006/table">
            <a:tbl>
              <a:tblPr firstRow="1" bandRow="1">
                <a:tableStyleId>{5C22544A-7EE6-4342-B048-85BDC9FD1C3A}</a:tableStyleId>
              </a:tblPr>
              <a:tblGrid>
                <a:gridCol w="1762125">
                  <a:extLst>
                    <a:ext uri="{9D8B030D-6E8A-4147-A177-3AD203B41FA5}">
                      <a16:colId xmlns:a16="http://schemas.microsoft.com/office/drawing/2014/main" val="2241326449"/>
                    </a:ext>
                  </a:extLst>
                </a:gridCol>
                <a:gridCol w="2428875">
                  <a:extLst>
                    <a:ext uri="{9D8B030D-6E8A-4147-A177-3AD203B41FA5}">
                      <a16:colId xmlns:a16="http://schemas.microsoft.com/office/drawing/2014/main" val="886761945"/>
                    </a:ext>
                  </a:extLst>
                </a:gridCol>
                <a:gridCol w="1514475">
                  <a:extLst>
                    <a:ext uri="{9D8B030D-6E8A-4147-A177-3AD203B41FA5}">
                      <a16:colId xmlns:a16="http://schemas.microsoft.com/office/drawing/2014/main" val="3051421572"/>
                    </a:ext>
                  </a:extLst>
                </a:gridCol>
                <a:gridCol w="1971675">
                  <a:extLst>
                    <a:ext uri="{9D8B030D-6E8A-4147-A177-3AD203B41FA5}">
                      <a16:colId xmlns:a16="http://schemas.microsoft.com/office/drawing/2014/main" val="4142295998"/>
                    </a:ext>
                  </a:extLst>
                </a:gridCol>
              </a:tblGrid>
              <a:tr h="37084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State of Stack after the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Value Returned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8810206"/>
                  </a:ext>
                </a:extLst>
              </a:tr>
              <a:tr h="370840">
                <a:tc>
                  <a:txBody>
                    <a:bodyPr/>
                    <a:lstStyle/>
                    <a:p>
                      <a:r>
                        <a:rPr lang="en-US" b="1" dirty="0">
                          <a:latin typeface="Courier New" panose="02070309020205020404" pitchFamily="49" charset="0"/>
                          <a:cs typeface="Courier New" panose="02070309020205020404" pitchFamily="49" charset="0"/>
                        </a:rPr>
                        <a:t>s = &lt;Stack Type&gt;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Initially, stack is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4940928"/>
                  </a:ext>
                </a:extLst>
              </a:tr>
              <a:tr h="370840">
                <a:tc>
                  <a:txBody>
                    <a:bodyPr/>
                    <a:lstStyle/>
                    <a:p>
                      <a:r>
                        <a:rPr lang="en-US" b="1" dirty="0">
                          <a:latin typeface="Courier New" panose="02070309020205020404" pitchFamily="49" charset="0"/>
                          <a:cs typeface="Courier New" panose="02070309020205020404" pitchFamily="49" charset="0"/>
                        </a:rPr>
                        <a:t>s.push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Calibri"/>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The stack contains the single</a:t>
                      </a:r>
                      <a:r>
                        <a:rPr lang="en-US" baseline="0" dirty="0">
                          <a:latin typeface="Open Sans" panose="020B0606030504020204"/>
                        </a:rPr>
                        <a:t> item.</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7923670"/>
                  </a:ext>
                </a:extLst>
              </a:tr>
              <a:tr h="370840">
                <a:tc>
                  <a:txBody>
                    <a:bodyPr/>
                    <a:lstStyle/>
                    <a:p>
                      <a:r>
                        <a:rPr lang="en-US" b="1" dirty="0">
                          <a:latin typeface="Courier New" panose="02070309020205020404" pitchFamily="49" charset="0"/>
                          <a:cs typeface="Courier New" panose="02070309020205020404" pitchFamily="49" charset="0"/>
                        </a:rPr>
                        <a:t>s.push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b="1" kern="1200" dirty="0">
                          <a:solidFill>
                            <a:schemeClr val="dk1"/>
                          </a:solidFill>
                          <a:latin typeface="Courier New" panose="02070309020205020404" pitchFamily="49" charset="0"/>
                          <a:ea typeface="+mn-ea"/>
                          <a:cs typeface="Courier New" panose="02070309020205020404" pitchFamily="49" charset="0"/>
                        </a:rPr>
                        <a:t>b</a:t>
                      </a:r>
                      <a:r>
                        <a:rPr lang="en-US" baseline="0" dirty="0">
                          <a:latin typeface="Open Sans" panose="020B0606030504020204"/>
                        </a:rPr>
                        <a:t> is the top item.</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1968000"/>
                  </a:ext>
                </a:extLst>
              </a:tr>
              <a:tr h="370840">
                <a:tc>
                  <a:txBody>
                    <a:bodyPr/>
                    <a:lstStyle/>
                    <a:p>
                      <a:r>
                        <a:rPr lang="en-US" b="1" dirty="0">
                          <a:latin typeface="Courier New" panose="02070309020205020404" pitchFamily="49" charset="0"/>
                          <a:cs typeface="Courier New" panose="02070309020205020404" pitchFamily="49" charset="0"/>
                        </a:rPr>
                        <a:t>s.push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mn-lt"/>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c</a:t>
                      </a:r>
                      <a:r>
                        <a:rPr lang="en-US" dirty="0">
                          <a:latin typeface="Open Sans" panose="020B0606030504020204"/>
                        </a:rPr>
                        <a:t> is the top 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6346934"/>
                  </a:ext>
                </a:extLst>
              </a:tr>
              <a:tr h="370840">
                <a:tc>
                  <a:txBody>
                    <a:bodyPr/>
                    <a:lstStyle/>
                    <a:p>
                      <a:r>
                        <a:rPr lang="en-US" b="1" dirty="0">
                          <a:latin typeface="Courier New" panose="02070309020205020404" pitchFamily="49" charset="0"/>
                          <a:cs typeface="Courier New" panose="02070309020205020404" pitchFamily="49" charset="0"/>
                        </a:rPr>
                        <a:t>s.isEmpty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The stack is not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4085422"/>
                  </a:ext>
                </a:extLst>
              </a:tr>
              <a:tr h="370840">
                <a:tc>
                  <a:txBody>
                    <a:bodyPr/>
                    <a:lstStyle/>
                    <a:p>
                      <a:r>
                        <a:rPr lang="en-US" b="1" dirty="0">
                          <a:latin typeface="Courier New" panose="02070309020205020404" pitchFamily="49" charset="0"/>
                          <a:cs typeface="Courier New" panose="02070309020205020404" pitchFamily="49" charset="0"/>
                        </a:rPr>
                        <a:t>len</a:t>
                      </a:r>
                      <a:r>
                        <a:rPr lang="en-US" b="1" baseline="0" dirty="0">
                          <a:latin typeface="Courier New" panose="02070309020205020404" pitchFamily="49" charset="0"/>
                          <a:cs typeface="Courier New" panose="02070309020205020404" pitchFamily="49" charset="0"/>
                        </a:rPr>
                        <a:t> (s)</a:t>
                      </a:r>
                      <a:endParaRPr lang="en-US" b="1" dirty="0">
                        <a:latin typeface="Courier New" panose="02070309020205020404" pitchFamily="49" charset="0"/>
                        <a:cs typeface="Courier New" panose="020703090202050204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The stack contains three items.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8956337"/>
                  </a:ext>
                </a:extLst>
              </a:tr>
              <a:tr h="370840">
                <a:tc>
                  <a:txBody>
                    <a:bodyPr/>
                    <a:lstStyle/>
                    <a:p>
                      <a:r>
                        <a:rPr lang="en-US" b="1" dirty="0">
                          <a:latin typeface="Courier New" panose="02070309020205020404" pitchFamily="49" charset="0"/>
                          <a:cs typeface="Courier New" panose="02070309020205020404" pitchFamily="49" charset="0"/>
                        </a:rPr>
                        <a:t>s.peek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Return the top item without removing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0450885"/>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2508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Stack Interface </a:t>
            </a:r>
            <a:r>
              <a:rPr lang="en-US" sz="2000" dirty="0"/>
              <a:t>(5 of 5)</a:t>
            </a:r>
          </a:p>
        </p:txBody>
      </p:sp>
      <p:sp>
        <p:nvSpPr>
          <p:cNvPr id="3" name="Content Placeholder 2"/>
          <p:cNvSpPr>
            <a:spLocks noGrp="1"/>
          </p:cNvSpPr>
          <p:nvPr>
            <p:ph idx="1"/>
          </p:nvPr>
        </p:nvSpPr>
        <p:spPr>
          <a:xfrm>
            <a:off x="628650" y="1295400"/>
            <a:ext cx="7886700" cy="307975"/>
          </a:xfrm>
        </p:spPr>
        <p:txBody>
          <a:bodyPr/>
          <a:lstStyle/>
          <a:p>
            <a:pPr marL="291600" indent="-291600">
              <a:spcBef>
                <a:spcPts val="1000"/>
              </a:spcBef>
            </a:pPr>
            <a:r>
              <a:rPr lang="en-US" dirty="0"/>
              <a:t>Table 7.2 The Effect of Stack Operations (continued)</a:t>
            </a:r>
          </a:p>
        </p:txBody>
      </p:sp>
      <p:graphicFrame>
        <p:nvGraphicFramePr>
          <p:cNvPr id="8" name="Content Placeholder 7" descr="Table is accessible to screenreaders"/>
          <p:cNvGraphicFramePr>
            <a:graphicFrameLocks noGrp="1"/>
          </p:cNvGraphicFramePr>
          <p:nvPr>
            <p:ph idx="12"/>
            <p:extLst>
              <p:ext uri="{D42A27DB-BD31-4B8C-83A1-F6EECF244321}">
                <p14:modId xmlns:p14="http://schemas.microsoft.com/office/powerpoint/2010/main" val="3555557308"/>
              </p:ext>
            </p:extLst>
          </p:nvPr>
        </p:nvGraphicFramePr>
        <p:xfrm>
          <a:off x="628650" y="1772920"/>
          <a:ext cx="8286750" cy="3759200"/>
        </p:xfrm>
        <a:graphic>
          <a:graphicData uri="http://schemas.openxmlformats.org/drawingml/2006/table">
            <a:tbl>
              <a:tblPr firstRow="1" bandRow="1">
                <a:tableStyleId>{5C22544A-7EE6-4342-B048-85BDC9FD1C3A}</a:tableStyleId>
              </a:tblPr>
              <a:tblGrid>
                <a:gridCol w="1971675">
                  <a:extLst>
                    <a:ext uri="{9D8B030D-6E8A-4147-A177-3AD203B41FA5}">
                      <a16:colId xmlns:a16="http://schemas.microsoft.com/office/drawing/2014/main" val="2601463595"/>
                    </a:ext>
                  </a:extLst>
                </a:gridCol>
                <a:gridCol w="1971675">
                  <a:extLst>
                    <a:ext uri="{9D8B030D-6E8A-4147-A177-3AD203B41FA5}">
                      <a16:colId xmlns:a16="http://schemas.microsoft.com/office/drawing/2014/main" val="3240664235"/>
                    </a:ext>
                  </a:extLst>
                </a:gridCol>
                <a:gridCol w="1971675">
                  <a:extLst>
                    <a:ext uri="{9D8B030D-6E8A-4147-A177-3AD203B41FA5}">
                      <a16:colId xmlns:a16="http://schemas.microsoft.com/office/drawing/2014/main" val="2784114207"/>
                    </a:ext>
                  </a:extLst>
                </a:gridCol>
                <a:gridCol w="2371725">
                  <a:extLst>
                    <a:ext uri="{9D8B030D-6E8A-4147-A177-3AD203B41FA5}">
                      <a16:colId xmlns:a16="http://schemas.microsoft.com/office/drawing/2014/main" val="2646238644"/>
                    </a:ext>
                  </a:extLst>
                </a:gridCol>
              </a:tblGrid>
              <a:tr h="37084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State of Stack after the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Value Returned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60360"/>
                  </a:ext>
                </a:extLst>
              </a:tr>
              <a:tr h="370840">
                <a:tc>
                  <a:txBody>
                    <a:bodyPr/>
                    <a:lstStyle/>
                    <a:p>
                      <a:r>
                        <a:rPr lang="en-US" b="1" dirty="0">
                          <a:latin typeface="Courier New" panose="02070309020205020404" pitchFamily="49" charset="0"/>
                          <a:cs typeface="Courier New" panose="02070309020205020404" pitchFamily="49" charset="0"/>
                        </a:rPr>
                        <a:t>s.pop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Remove</a:t>
                      </a:r>
                      <a:r>
                        <a:rPr lang="en-US" baseline="0" dirty="0">
                          <a:latin typeface="Open Sans" panose="020B0606030504020204"/>
                        </a:rPr>
                        <a:t> and return the top item. </a:t>
                      </a:r>
                      <a:r>
                        <a:rPr lang="en-US" b="1" baseline="0" dirty="0">
                          <a:latin typeface="Courier New" panose="02070309020205020404" pitchFamily="49" charset="0"/>
                          <a:cs typeface="Courier New" panose="02070309020205020404" pitchFamily="49" charset="0"/>
                        </a:rPr>
                        <a:t>b</a:t>
                      </a:r>
                      <a:r>
                        <a:rPr lang="en-US" b="1" baseline="0" dirty="0">
                          <a:latin typeface="Open Sans" panose="020B0606030504020204"/>
                          <a:cs typeface="Courier New" panose="02070309020205020404" pitchFamily="49" charset="0"/>
                        </a:rPr>
                        <a:t> </a:t>
                      </a:r>
                      <a:r>
                        <a:rPr lang="en-US" baseline="0" dirty="0">
                          <a:latin typeface="Open Sans" panose="020B0606030504020204"/>
                        </a:rPr>
                        <a:t>is now the top item.</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277833"/>
                  </a:ext>
                </a:extLst>
              </a:tr>
              <a:tr h="370840">
                <a:tc>
                  <a:txBody>
                    <a:bodyPr/>
                    <a:lstStyle/>
                    <a:p>
                      <a:r>
                        <a:rPr lang="en-US" b="1" dirty="0">
                          <a:latin typeface="Courier New" panose="02070309020205020404" pitchFamily="49" charset="0"/>
                          <a:cs typeface="Courier New" panose="02070309020205020404" pitchFamily="49" charset="0"/>
                        </a:rPr>
                        <a:t>s.pop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Remove</a:t>
                      </a:r>
                      <a:r>
                        <a:rPr lang="en-US" baseline="0" dirty="0">
                          <a:latin typeface="Open Sans" panose="020B0606030504020204"/>
                        </a:rPr>
                        <a:t> and return the top item. </a:t>
                      </a:r>
                      <a:r>
                        <a:rPr lang="en-US" b="1" baseline="0" dirty="0">
                          <a:latin typeface="Courier New" panose="02070309020205020404" pitchFamily="49" charset="0"/>
                          <a:cs typeface="Courier New" panose="02070309020205020404" pitchFamily="49" charset="0"/>
                        </a:rPr>
                        <a:t>a</a:t>
                      </a:r>
                      <a:r>
                        <a:rPr lang="en-US" b="1" baseline="0" dirty="0">
                          <a:latin typeface="Open Sans" panose="020B0606030504020204"/>
                          <a:cs typeface="Courier New" panose="02070309020205020404" pitchFamily="49" charset="0"/>
                        </a:rPr>
                        <a:t> </a:t>
                      </a:r>
                      <a:r>
                        <a:rPr lang="en-US" baseline="0" dirty="0">
                          <a:latin typeface="Open Sans" panose="020B0606030504020204"/>
                        </a:rPr>
                        <a:t>is now the top item.</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9178585"/>
                  </a:ext>
                </a:extLst>
              </a:tr>
              <a:tr h="370840">
                <a:tc>
                  <a:txBody>
                    <a:bodyPr/>
                    <a:lstStyle/>
                    <a:p>
                      <a:r>
                        <a:rPr lang="en-US" b="1" dirty="0">
                          <a:latin typeface="Courier New" panose="02070309020205020404" pitchFamily="49" charset="0"/>
                          <a:cs typeface="Courier New" panose="02070309020205020404" pitchFamily="49" charset="0"/>
                        </a:rPr>
                        <a:t>s.pop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b="0" kern="1200" dirty="0">
                          <a:solidFill>
                            <a:schemeClr val="dk1"/>
                          </a:solidFill>
                          <a:latin typeface="Open Sans" panose="020B0606030504020204"/>
                          <a:ea typeface="+mn-ea"/>
                          <a:cs typeface="Courier New" panose="02070309020205020404" pitchFamily="49" charset="0"/>
                        </a:rPr>
                        <a:t>Remove</a:t>
                      </a:r>
                      <a:r>
                        <a:rPr lang="en-US" sz="1350" b="0" kern="1200" baseline="0" dirty="0">
                          <a:solidFill>
                            <a:schemeClr val="dk1"/>
                          </a:solidFill>
                          <a:latin typeface="Open Sans" panose="020B0606030504020204"/>
                          <a:ea typeface="+mn-ea"/>
                          <a:cs typeface="Courier New" panose="02070309020205020404" pitchFamily="49" charset="0"/>
                        </a:rPr>
                        <a:t> and return the top item.</a:t>
                      </a:r>
                      <a:endParaRPr lang="en-US" b="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3949365"/>
                  </a:ext>
                </a:extLst>
              </a:tr>
              <a:tr h="370840">
                <a:tc>
                  <a:txBody>
                    <a:bodyPr/>
                    <a:lstStyle/>
                    <a:p>
                      <a:r>
                        <a:rPr lang="en-US" b="1" dirty="0">
                          <a:latin typeface="Courier New" panose="02070309020205020404" pitchFamily="49" charset="0"/>
                          <a:cs typeface="Courier New" panose="02070309020205020404" pitchFamily="49" charset="0"/>
                        </a:rPr>
                        <a:t>s.isEmpty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mn-lt"/>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True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latin typeface="Open Sans" panose="020B0606030504020204"/>
                          <a:cs typeface="Courier New" panose="02070309020205020404" pitchFamily="49" charset="0"/>
                        </a:rPr>
                        <a:t>The</a:t>
                      </a:r>
                      <a:r>
                        <a:rPr lang="en-US" b="0" baseline="0" dirty="0">
                          <a:latin typeface="Open Sans" panose="020B0606030504020204"/>
                          <a:cs typeface="Courier New" panose="02070309020205020404" pitchFamily="49" charset="0"/>
                        </a:rPr>
                        <a:t> stack is empty.</a:t>
                      </a:r>
                      <a:endParaRPr lang="en-US" b="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886259"/>
                  </a:ext>
                </a:extLst>
              </a:tr>
              <a:tr h="370840">
                <a:tc>
                  <a:txBody>
                    <a:bodyPr/>
                    <a:lstStyle/>
                    <a:p>
                      <a:r>
                        <a:rPr lang="en-US" b="1" dirty="0">
                          <a:latin typeface="Courier New" panose="02070309020205020404" pitchFamily="49" charset="0"/>
                          <a:cs typeface="Courier New" panose="02070309020205020404" pitchFamily="49" charset="0"/>
                        </a:rPr>
                        <a:t>s.peek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KeyError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Peeking at an empty stack raises an exception.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306584"/>
                  </a:ext>
                </a:extLst>
              </a:tr>
              <a:tr h="370840">
                <a:tc>
                  <a:txBody>
                    <a:bodyPr/>
                    <a:lstStyle/>
                    <a:p>
                      <a:r>
                        <a:rPr lang="en-US" b="1" dirty="0">
                          <a:latin typeface="Courier New" panose="02070309020205020404" pitchFamily="49" charset="0"/>
                          <a:cs typeface="Courier New" panose="02070309020205020404" pitchFamily="49" charset="0"/>
                        </a:rPr>
                        <a:t>s.pop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mn-lt"/>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KeyError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Popping an empty stack raises</a:t>
                      </a:r>
                      <a:r>
                        <a:rPr lang="en-US" baseline="0" dirty="0">
                          <a:latin typeface="Open Sans" panose="020B0606030504020204"/>
                        </a:rPr>
                        <a:t> an exception.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5129910"/>
                  </a:ext>
                </a:extLst>
              </a:tr>
              <a:tr h="370840">
                <a:tc>
                  <a:txBody>
                    <a:bodyPr/>
                    <a:lstStyle/>
                    <a:p>
                      <a:r>
                        <a:rPr lang="en-US" b="1" dirty="0">
                          <a:latin typeface="Courier New" panose="02070309020205020404" pitchFamily="49" charset="0"/>
                          <a:cs typeface="Courier New" panose="02070309020205020404" pitchFamily="49" charset="0"/>
                        </a:rPr>
                        <a:t>s.push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d</a:t>
                      </a:r>
                      <a:r>
                        <a:rPr lang="en-US" dirty="0">
                          <a:latin typeface="Open Sans" panose="020B0606030504020204"/>
                        </a:rPr>
                        <a:t> is the top 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4201320"/>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66324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Instantiating a Stack</a:t>
            </a:r>
          </a:p>
        </p:txBody>
      </p:sp>
      <p:sp>
        <p:nvSpPr>
          <p:cNvPr id="3" name="Content Placeholder 2"/>
          <p:cNvSpPr>
            <a:spLocks noGrp="1"/>
          </p:cNvSpPr>
          <p:nvPr>
            <p:ph idx="1"/>
          </p:nvPr>
        </p:nvSpPr>
        <p:spPr>
          <a:xfrm>
            <a:off x="628650" y="1524000"/>
            <a:ext cx="7886700" cy="4351338"/>
          </a:xfrm>
        </p:spPr>
        <p:txBody>
          <a:bodyPr/>
          <a:lstStyle/>
          <a:p>
            <a:pPr marL="291600" indent="-291600">
              <a:spcBef>
                <a:spcPts val="1000"/>
              </a:spcBef>
            </a:pPr>
            <a:r>
              <a:rPr lang="en-US" dirty="0"/>
              <a:t>Later in this chapter, two different implementations are considered:</a:t>
            </a:r>
          </a:p>
          <a:p>
            <a:pPr lvl="1">
              <a:spcBef>
                <a:spcPts val="1000"/>
              </a:spcBef>
            </a:pPr>
            <a:r>
              <a:rPr lang="en-US" b="1" dirty="0">
                <a:latin typeface="Courier New" panose="02070309020205020404" pitchFamily="49" charset="0"/>
                <a:cs typeface="Courier New" panose="02070309020205020404" pitchFamily="49" charset="0"/>
              </a:rPr>
              <a:t>ArrayStack</a:t>
            </a:r>
          </a:p>
          <a:p>
            <a:pPr lvl="1">
              <a:spcBef>
                <a:spcPts val="1000"/>
              </a:spcBef>
            </a:pPr>
            <a:r>
              <a:rPr lang="en-US" b="1" dirty="0">
                <a:latin typeface="Courier New" panose="02070309020205020404" pitchFamily="49" charset="0"/>
                <a:cs typeface="Courier New" panose="02070309020205020404" pitchFamily="49" charset="0"/>
              </a:rPr>
              <a:t>LinkedStack</a:t>
            </a:r>
          </a:p>
          <a:p>
            <a:pPr marL="291600" indent="-291600">
              <a:spcBef>
                <a:spcPts val="1000"/>
              </a:spcBef>
            </a:pPr>
            <a:r>
              <a:rPr lang="en-US" dirty="0"/>
              <a:t>This code segment shows how you might instantiate them:</a:t>
            </a:r>
          </a:p>
          <a:p>
            <a:pPr lvl="1">
              <a:spcBef>
                <a:spcPts val="1000"/>
              </a:spcBef>
            </a:pPr>
            <a:r>
              <a:rPr lang="en-US" b="1" dirty="0">
                <a:latin typeface="Courier New" panose="02070309020205020404" pitchFamily="49" charset="0"/>
                <a:cs typeface="Courier New" panose="02070309020205020404" pitchFamily="49" charset="0"/>
              </a:rPr>
              <a:t>s1=ArrayStack ()</a:t>
            </a:r>
          </a:p>
          <a:p>
            <a:pPr lvl="1"/>
            <a:r>
              <a:rPr lang="en-US" b="1" dirty="0">
                <a:latin typeface="Courier New" panose="02070309020205020404" pitchFamily="49" charset="0"/>
                <a:cs typeface="Courier New" panose="02070309020205020404" pitchFamily="49" charset="0"/>
              </a:rPr>
              <a:t>s2=LinkedStack ([20, 40, 60])</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72129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r>
              <a:rPr lang="en-US" b="1" dirty="0"/>
              <a:t>Example Application: Matching Parentheses </a:t>
            </a:r>
            <a:r>
              <a:rPr lang="en-US" sz="2000" dirty="0"/>
              <a:t>(1 of 3)</a:t>
            </a:r>
          </a:p>
        </p:txBody>
      </p:sp>
      <p:sp>
        <p:nvSpPr>
          <p:cNvPr id="3" name="Content Placeholder 2"/>
          <p:cNvSpPr>
            <a:spLocks noGrp="1"/>
          </p:cNvSpPr>
          <p:nvPr>
            <p:ph idx="1"/>
          </p:nvPr>
        </p:nvSpPr>
        <p:spPr>
          <a:xfrm>
            <a:off x="628650" y="1524000"/>
            <a:ext cx="7886700" cy="1981200"/>
          </a:xfrm>
        </p:spPr>
        <p:txBody>
          <a:bodyPr/>
          <a:lstStyle/>
          <a:p>
            <a:pPr marL="291600" indent="-291600">
              <a:spcBef>
                <a:spcPts val="1000"/>
              </a:spcBef>
            </a:pPr>
            <a:r>
              <a:rPr lang="en-US" dirty="0"/>
              <a:t>Compilers need to determine if the bracketing symbols in expressions are balanced correctly</a:t>
            </a:r>
          </a:p>
          <a:p>
            <a:pPr marL="291600" indent="-291600">
              <a:spcBef>
                <a:spcPts val="1000"/>
              </a:spcBef>
            </a:pPr>
            <a:r>
              <a:rPr lang="en-US" dirty="0"/>
              <a:t>Table 7.3 provides some examples:</a:t>
            </a:r>
          </a:p>
          <a:p>
            <a:pPr lvl="1">
              <a:spcBef>
                <a:spcPts val="1000"/>
              </a:spcBef>
            </a:pPr>
            <a:r>
              <a:rPr lang="en-US" dirty="0"/>
              <a:t>See next slide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1036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r>
              <a:rPr lang="en-US" b="1" dirty="0"/>
              <a:t>Example Application: Matching Parentheses </a:t>
            </a:r>
            <a:r>
              <a:rPr lang="en-US" sz="2000" dirty="0"/>
              <a:t>(2 of 3)</a:t>
            </a:r>
          </a:p>
        </p:txBody>
      </p:sp>
      <p:sp>
        <p:nvSpPr>
          <p:cNvPr id="3" name="Content Placeholder 2"/>
          <p:cNvSpPr>
            <a:spLocks noGrp="1"/>
          </p:cNvSpPr>
          <p:nvPr>
            <p:ph idx="1"/>
          </p:nvPr>
        </p:nvSpPr>
        <p:spPr>
          <a:xfrm>
            <a:off x="628650" y="1825625"/>
            <a:ext cx="7886700" cy="384175"/>
          </a:xfrm>
        </p:spPr>
        <p:txBody>
          <a:bodyPr/>
          <a:lstStyle/>
          <a:p>
            <a:pPr marL="291600" indent="-291600">
              <a:spcBef>
                <a:spcPts val="1000"/>
              </a:spcBef>
            </a:pPr>
            <a:r>
              <a:rPr lang="en-US" dirty="0"/>
              <a:t>Table 7.3 Balanced and Unbalanced Brackets in Expressions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725694362"/>
              </p:ext>
            </p:extLst>
          </p:nvPr>
        </p:nvGraphicFramePr>
        <p:xfrm>
          <a:off x="628650" y="2513012"/>
          <a:ext cx="7886700" cy="2694940"/>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2108100538"/>
                    </a:ext>
                  </a:extLst>
                </a:gridCol>
                <a:gridCol w="2209800">
                  <a:extLst>
                    <a:ext uri="{9D8B030D-6E8A-4147-A177-3AD203B41FA5}">
                      <a16:colId xmlns:a16="http://schemas.microsoft.com/office/drawing/2014/main" val="238251432"/>
                    </a:ext>
                  </a:extLst>
                </a:gridCol>
                <a:gridCol w="3714750">
                  <a:extLst>
                    <a:ext uri="{9D8B030D-6E8A-4147-A177-3AD203B41FA5}">
                      <a16:colId xmlns:a16="http://schemas.microsoft.com/office/drawing/2014/main" val="2533360612"/>
                    </a:ext>
                  </a:extLst>
                </a:gridCol>
              </a:tblGrid>
              <a:tr h="370840">
                <a:tc>
                  <a:txBody>
                    <a:bodyPr/>
                    <a:lstStyle/>
                    <a:p>
                      <a:r>
                        <a:rPr lang="en-US" dirty="0">
                          <a:solidFill>
                            <a:schemeClr val="bg2">
                              <a:lumMod val="10000"/>
                            </a:schemeClr>
                          </a:solidFill>
                          <a:latin typeface="Open Sans" panose="020B0606030504020204"/>
                        </a:rPr>
                        <a:t>Example Expression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Reason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602810"/>
                  </a:ext>
                </a:extLst>
              </a:tr>
              <a:tr h="370840">
                <a:tc>
                  <a:txBody>
                    <a:bodyPr/>
                    <a:lstStyle/>
                    <a:p>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7116292"/>
                  </a:ext>
                </a:extLst>
              </a:tr>
              <a:tr h="370840">
                <a:tc>
                  <a:txBody>
                    <a:bodyPr/>
                    <a:lstStyle/>
                    <a:p>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Unbalanced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Missing a closing ) at the 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6650104"/>
                  </a:ext>
                </a:extLst>
              </a:tr>
              <a:tr h="370840">
                <a:tc>
                  <a:txBody>
                    <a:bodyPr/>
                    <a:lstStyle/>
                    <a:p>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Unbalanced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The closing ) at the beginning has no matching</a:t>
                      </a:r>
                      <a:r>
                        <a:rPr lang="en-US" baseline="0" dirty="0">
                          <a:latin typeface="Open Sans" panose="020B0606030504020204"/>
                        </a:rPr>
                        <a:t> opening ( and one of the opening parentheses has no closing parenthesis</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783090"/>
                  </a:ext>
                </a:extLst>
              </a:tr>
              <a:tr h="370840">
                <a:tc>
                  <a:txBody>
                    <a:bodyPr/>
                    <a:lstStyle/>
                    <a:p>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mn-lt"/>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052092"/>
                  </a:ext>
                </a:extLst>
              </a:tr>
              <a:tr h="370840">
                <a:tc>
                  <a:txBody>
                    <a:bodyPr/>
                    <a:lstStyle/>
                    <a:p>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Unbalanced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The bracketed sections are not nested properly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8204955"/>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05133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r>
              <a:rPr lang="en-US" b="1" dirty="0"/>
              <a:t>Example Application: Matching Parentheses </a:t>
            </a:r>
            <a:r>
              <a:rPr lang="en-US" sz="2000" dirty="0"/>
              <a:t>(3 of 3)</a:t>
            </a:r>
          </a:p>
        </p:txBody>
      </p:sp>
      <p:sp>
        <p:nvSpPr>
          <p:cNvPr id="3" name="Content Placeholder 2"/>
          <p:cNvSpPr>
            <a:spLocks noGrp="1"/>
          </p:cNvSpPr>
          <p:nvPr>
            <p:ph idx="1"/>
          </p:nvPr>
        </p:nvSpPr>
        <p:spPr>
          <a:xfrm>
            <a:off x="628650" y="1600201"/>
            <a:ext cx="7886700" cy="3581400"/>
          </a:xfrm>
        </p:spPr>
        <p:txBody>
          <a:bodyPr>
            <a:normAutofit/>
          </a:bodyPr>
          <a:lstStyle/>
          <a:p>
            <a:pPr marL="291600" indent="-291600">
              <a:spcBef>
                <a:spcPts val="1000"/>
              </a:spcBef>
            </a:pPr>
            <a:r>
              <a:rPr lang="en-US" dirty="0"/>
              <a:t>To check an expression, take the following steps:</a:t>
            </a:r>
          </a:p>
          <a:p>
            <a:pPr lvl="1">
              <a:spcBef>
                <a:spcPts val="1000"/>
              </a:spcBef>
            </a:pPr>
            <a:r>
              <a:rPr lang="en-US" dirty="0"/>
              <a:t>Scan across the expression, pushing opening brackets onto a stack</a:t>
            </a:r>
          </a:p>
          <a:p>
            <a:pPr lvl="1">
              <a:spcBef>
                <a:spcPts val="1000"/>
              </a:spcBef>
            </a:pPr>
            <a:r>
              <a:rPr lang="en-US" dirty="0"/>
              <a:t>On encountering a closing bracket, if the stack is empty or if the item on the top of the stack is not an opening bracket of the same type, you know the brackets do not balance; therefore, you can quit the process and signal that the expression is improperly formed</a:t>
            </a:r>
          </a:p>
          <a:p>
            <a:pPr lvl="1">
              <a:spcBef>
                <a:spcPts val="1000"/>
              </a:spcBef>
            </a:pPr>
            <a:r>
              <a:rPr lang="en-US" dirty="0"/>
              <a:t>Otherwise, pop the item off the top of the stack and continue scanning the expression</a:t>
            </a:r>
          </a:p>
          <a:p>
            <a:pPr lvl="1">
              <a:spcBef>
                <a:spcPts val="1000"/>
              </a:spcBef>
            </a:pPr>
            <a:r>
              <a:rPr lang="en-US" dirty="0"/>
              <a:t>When you reach the end of the expression, the stack should be empty, and if it is not, you know the brackets do not balance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85075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Three Applications of Stacks</a:t>
            </a:r>
          </a:p>
        </p:txBody>
      </p:sp>
      <p:sp>
        <p:nvSpPr>
          <p:cNvPr id="3" name="Content Placeholder 2"/>
          <p:cNvSpPr>
            <a:spLocks noGrp="1"/>
          </p:cNvSpPr>
          <p:nvPr>
            <p:ph idx="1"/>
          </p:nvPr>
        </p:nvSpPr>
        <p:spPr>
          <a:xfrm>
            <a:off x="628650" y="1447800"/>
            <a:ext cx="7886700" cy="4351338"/>
          </a:xfrm>
        </p:spPr>
        <p:txBody>
          <a:bodyPr/>
          <a:lstStyle/>
          <a:p>
            <a:pPr marL="291600" indent="-291600">
              <a:spcBef>
                <a:spcPts val="1000"/>
              </a:spcBef>
            </a:pPr>
            <a:r>
              <a:rPr lang="en-US" dirty="0"/>
              <a:t>First, you’ll see algorithms for evaluating arithmetic expressions:</a:t>
            </a:r>
          </a:p>
          <a:p>
            <a:pPr lvl="1">
              <a:spcBef>
                <a:spcPts val="1000"/>
              </a:spcBef>
            </a:pPr>
            <a:r>
              <a:rPr lang="en-US" dirty="0"/>
              <a:t>These algorithms apply to problems in compiler design, and you will use them in the chapter’s case study</a:t>
            </a:r>
          </a:p>
          <a:p>
            <a:pPr marL="291600" indent="-291600">
              <a:spcBef>
                <a:spcPts val="1000"/>
              </a:spcBef>
            </a:pPr>
            <a:r>
              <a:rPr lang="en-US" dirty="0"/>
              <a:t>Second, you’ll learn a general technique for using stacks to solve backtracking problems:</a:t>
            </a:r>
          </a:p>
          <a:p>
            <a:pPr lvl="1">
              <a:spcBef>
                <a:spcPts val="1000"/>
              </a:spcBef>
            </a:pPr>
            <a:r>
              <a:rPr lang="en-US" dirty="0"/>
              <a:t>The programming projects explore applications of the technique</a:t>
            </a:r>
          </a:p>
          <a:p>
            <a:pPr marL="291600" indent="-291600">
              <a:spcBef>
                <a:spcPts val="1000"/>
              </a:spcBef>
            </a:pPr>
            <a:r>
              <a:rPr lang="en-US" dirty="0"/>
              <a:t>Third, you’ll witness the role of stacks in computer memory management</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04950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Evaluating Arithmetic Expressions </a:t>
            </a:r>
            <a:r>
              <a:rPr lang="en-US" sz="2000" dirty="0"/>
              <a:t>(1 of 3)</a:t>
            </a:r>
          </a:p>
        </p:txBody>
      </p:sp>
      <p:sp>
        <p:nvSpPr>
          <p:cNvPr id="3" name="Content Placeholder 2"/>
          <p:cNvSpPr>
            <a:spLocks noGrp="1"/>
          </p:cNvSpPr>
          <p:nvPr>
            <p:ph idx="1"/>
          </p:nvPr>
        </p:nvSpPr>
        <p:spPr>
          <a:xfrm>
            <a:off x="628650" y="1600200"/>
            <a:ext cx="7886700" cy="4351338"/>
          </a:xfrm>
        </p:spPr>
        <p:txBody>
          <a:bodyPr/>
          <a:lstStyle/>
          <a:p>
            <a:pPr marL="291600" indent="-291600">
              <a:spcBef>
                <a:spcPts val="1000"/>
              </a:spcBef>
            </a:pPr>
            <a:r>
              <a:rPr lang="en-US" dirty="0"/>
              <a:t>An indirect approach to evaluating arithmetic expressions works best:</a:t>
            </a:r>
          </a:p>
          <a:p>
            <a:pPr lvl="1">
              <a:spcBef>
                <a:spcPts val="1000"/>
              </a:spcBef>
            </a:pPr>
            <a:r>
              <a:rPr lang="en-US" dirty="0"/>
              <a:t>Transform an expression from its familiar infix form to a postfix form</a:t>
            </a:r>
          </a:p>
          <a:p>
            <a:pPr lvl="1">
              <a:spcBef>
                <a:spcPts val="1000"/>
              </a:spcBef>
            </a:pPr>
            <a:r>
              <a:rPr lang="en-US" dirty="0"/>
              <a:t>Evaluate the postfix form</a:t>
            </a:r>
          </a:p>
          <a:p>
            <a:pPr lvl="1">
              <a:spcBef>
                <a:spcPts val="1000"/>
              </a:spcBef>
            </a:pPr>
            <a:r>
              <a:rPr lang="en-US" dirty="0"/>
              <a:t>In the infix form, each operator is located between its operands</a:t>
            </a:r>
          </a:p>
          <a:p>
            <a:pPr lvl="1">
              <a:spcBef>
                <a:spcPts val="1000"/>
              </a:spcBef>
            </a:pPr>
            <a:r>
              <a:rPr lang="en-US" dirty="0"/>
              <a:t>In the postfix form, an operator immediately follows its operands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33667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Evaluating Arithmetic Expressions </a:t>
            </a:r>
            <a:r>
              <a:rPr lang="en-US" sz="2000" dirty="0"/>
              <a:t>(2 of 3)</a:t>
            </a:r>
          </a:p>
        </p:txBody>
      </p:sp>
      <p:sp>
        <p:nvSpPr>
          <p:cNvPr id="3" name="Content Placeholder 2"/>
          <p:cNvSpPr>
            <a:spLocks noGrp="1"/>
          </p:cNvSpPr>
          <p:nvPr>
            <p:ph idx="1"/>
          </p:nvPr>
        </p:nvSpPr>
        <p:spPr>
          <a:xfrm>
            <a:off x="628650" y="1676400"/>
            <a:ext cx="7886700" cy="460375"/>
          </a:xfrm>
        </p:spPr>
        <p:txBody>
          <a:bodyPr/>
          <a:lstStyle/>
          <a:p>
            <a:pPr marL="291600" indent="-291600">
              <a:spcBef>
                <a:spcPts val="1000"/>
              </a:spcBef>
            </a:pPr>
            <a:r>
              <a:rPr lang="en-US" dirty="0"/>
              <a:t>Table 7.4 Some Infix and Postfix Expressions</a:t>
            </a:r>
          </a:p>
        </p:txBody>
      </p:sp>
      <p:graphicFrame>
        <p:nvGraphicFramePr>
          <p:cNvPr id="8" name="Content Placeholder 7" descr="Table is accessible to screenreaders"/>
          <p:cNvGraphicFramePr>
            <a:graphicFrameLocks noGrp="1"/>
          </p:cNvGraphicFramePr>
          <p:nvPr>
            <p:ph idx="12"/>
            <p:extLst>
              <p:ext uri="{D42A27DB-BD31-4B8C-83A1-F6EECF244321}">
                <p14:modId xmlns:p14="http://schemas.microsoft.com/office/powerpoint/2010/main" val="760854316"/>
              </p:ext>
            </p:extLst>
          </p:nvPr>
        </p:nvGraphicFramePr>
        <p:xfrm>
          <a:off x="914400" y="2325948"/>
          <a:ext cx="6457950" cy="2225040"/>
        </p:xfrm>
        <a:graphic>
          <a:graphicData uri="http://schemas.openxmlformats.org/drawingml/2006/table">
            <a:tbl>
              <a:tblPr firstRow="1" bandRow="1">
                <a:tableStyleId>{5C22544A-7EE6-4342-B048-85BDC9FD1C3A}</a:tableStyleId>
              </a:tblPr>
              <a:tblGrid>
                <a:gridCol w="2114550">
                  <a:extLst>
                    <a:ext uri="{9D8B030D-6E8A-4147-A177-3AD203B41FA5}">
                      <a16:colId xmlns:a16="http://schemas.microsoft.com/office/drawing/2014/main" val="640813985"/>
                    </a:ext>
                  </a:extLst>
                </a:gridCol>
                <a:gridCol w="2286000">
                  <a:extLst>
                    <a:ext uri="{9D8B030D-6E8A-4147-A177-3AD203B41FA5}">
                      <a16:colId xmlns:a16="http://schemas.microsoft.com/office/drawing/2014/main" val="3963930187"/>
                    </a:ext>
                  </a:extLst>
                </a:gridCol>
                <a:gridCol w="2057400">
                  <a:extLst>
                    <a:ext uri="{9D8B030D-6E8A-4147-A177-3AD203B41FA5}">
                      <a16:colId xmlns:a16="http://schemas.microsoft.com/office/drawing/2014/main" val="1706564768"/>
                    </a:ext>
                  </a:extLst>
                </a:gridCol>
              </a:tblGrid>
              <a:tr h="370840">
                <a:tc>
                  <a:txBody>
                    <a:bodyPr/>
                    <a:lstStyle/>
                    <a:p>
                      <a:r>
                        <a:rPr lang="en-US" dirty="0">
                          <a:solidFill>
                            <a:schemeClr val="bg2">
                              <a:lumMod val="10000"/>
                            </a:schemeClr>
                          </a:solidFill>
                          <a:latin typeface="Open Sans" panose="020B0606030504020204"/>
                        </a:rPr>
                        <a:t>Infix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Postfix</a:t>
                      </a:r>
                      <a:r>
                        <a:rPr lang="en-US" baseline="0" dirty="0">
                          <a:solidFill>
                            <a:schemeClr val="bg2">
                              <a:lumMod val="10000"/>
                            </a:schemeClr>
                          </a:solidFill>
                          <a:latin typeface="Open Sans" panose="020B0606030504020204"/>
                        </a:rPr>
                        <a:t> Form</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1978065"/>
                  </a:ext>
                </a:extLst>
              </a:tr>
              <a:tr h="370840">
                <a:tc>
                  <a:txBody>
                    <a:bodyPr/>
                    <a:lstStyle/>
                    <a:p>
                      <a:r>
                        <a:rPr lang="en-US" dirty="0">
                          <a:latin typeface="Open Sans" panose="020B0606030504020204"/>
                        </a:rPr>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5208632"/>
                  </a:ext>
                </a:extLst>
              </a:tr>
              <a:tr h="370840">
                <a:tc>
                  <a:txBody>
                    <a:bodyPr/>
                    <a:lstStyle/>
                    <a:p>
                      <a:r>
                        <a:rPr lang="en-US" dirty="0">
                          <a:latin typeface="Open Sans" panose="020B0606030504020204"/>
                        </a:rPr>
                        <a:t>34 + 22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 22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3150407"/>
                  </a:ext>
                </a:extLst>
              </a:tr>
              <a:tr h="370840">
                <a:tc>
                  <a:txBody>
                    <a:bodyPr/>
                    <a:lstStyle/>
                    <a:p>
                      <a:r>
                        <a:rPr lang="en-US" dirty="0">
                          <a:latin typeface="Open Sans" panose="020B0606030504020204"/>
                        </a:rPr>
                        <a:t>34</a:t>
                      </a:r>
                      <a:r>
                        <a:rPr lang="en-US" baseline="0" dirty="0">
                          <a:latin typeface="Open Sans" panose="020B0606030504020204"/>
                        </a:rPr>
                        <a:t> + 22 * 2</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 22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4313106"/>
                  </a:ext>
                </a:extLst>
              </a:tr>
              <a:tr h="370840">
                <a:tc>
                  <a:txBody>
                    <a:bodyPr/>
                    <a:lstStyle/>
                    <a:p>
                      <a:r>
                        <a:rPr lang="en-US" dirty="0">
                          <a:latin typeface="Open Sans" panose="020B0606030504020204"/>
                        </a:rPr>
                        <a:t>34 * 22 + 2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 22 * 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1703072"/>
                  </a:ext>
                </a:extLst>
              </a:tr>
              <a:tr h="370840">
                <a:tc>
                  <a:txBody>
                    <a:bodyPr/>
                    <a:lstStyle/>
                    <a:p>
                      <a:r>
                        <a:rPr lang="en-US" dirty="0">
                          <a:latin typeface="Open Sans" panose="020B0606030504020204"/>
                        </a:rPr>
                        <a:t>(34 + 22) *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 22 + 2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112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2293233"/>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8311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Evaluating Arithmetic Expressions </a:t>
            </a:r>
            <a:r>
              <a:rPr lang="en-US" sz="2000" dirty="0"/>
              <a:t>(3 of 3)</a:t>
            </a:r>
          </a:p>
        </p:txBody>
      </p:sp>
      <p:sp>
        <p:nvSpPr>
          <p:cNvPr id="3" name="Content Placeholder 2"/>
          <p:cNvSpPr>
            <a:spLocks noGrp="1"/>
          </p:cNvSpPr>
          <p:nvPr>
            <p:ph idx="1"/>
          </p:nvPr>
        </p:nvSpPr>
        <p:spPr>
          <a:xfrm>
            <a:off x="628650" y="1469545"/>
            <a:ext cx="7886700" cy="3407255"/>
          </a:xfrm>
        </p:spPr>
        <p:txBody>
          <a:bodyPr>
            <a:normAutofit/>
          </a:bodyPr>
          <a:lstStyle/>
          <a:p>
            <a:pPr marL="291600" indent="-291600">
              <a:spcBef>
                <a:spcPts val="1000"/>
              </a:spcBef>
            </a:pPr>
            <a:r>
              <a:rPr lang="en-US" dirty="0"/>
              <a:t>Consider the steps in evaluating the following:</a:t>
            </a:r>
          </a:p>
          <a:p>
            <a:pPr lvl="1">
              <a:spcBef>
                <a:spcPts val="1000"/>
              </a:spcBef>
            </a:pPr>
            <a:r>
              <a:rPr lang="en-US" dirty="0"/>
              <a:t>Infix evaluation: 34 + 22 * 2 → 34 + 44 → 78</a:t>
            </a:r>
          </a:p>
          <a:p>
            <a:pPr lvl="1">
              <a:spcBef>
                <a:spcPts val="1000"/>
              </a:spcBef>
            </a:pPr>
            <a:r>
              <a:rPr lang="en-US" dirty="0"/>
              <a:t>Postfix evaluation: 34 22 2 * + → 34 44 + → 78</a:t>
            </a:r>
          </a:p>
          <a:p>
            <a:pPr marL="291600" indent="-291600">
              <a:spcBef>
                <a:spcPts val="1000"/>
              </a:spcBef>
            </a:pPr>
            <a:r>
              <a:rPr lang="en-US" dirty="0"/>
              <a:t>The use of parentheses and operator precedence in infix expressions is for the convenience of the human beings who read them and write them</a:t>
            </a:r>
          </a:p>
          <a:p>
            <a:pPr marL="291600" indent="-291600">
              <a:spcBef>
                <a:spcPts val="1000"/>
              </a:spcBef>
            </a:pPr>
            <a:r>
              <a:rPr lang="en-US" dirty="0"/>
              <a:t>By eliminating these parentheses,</a:t>
            </a:r>
          </a:p>
          <a:p>
            <a:pPr lvl="1">
              <a:spcBef>
                <a:spcPts val="1000"/>
              </a:spcBef>
            </a:pPr>
            <a:r>
              <a:rPr lang="en-US" dirty="0"/>
              <a:t>The equivalent postfix expressions present a computer with a format that is much easier and more efficient for it to evaluate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00678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Evaluating Postfix Expressions </a:t>
            </a:r>
            <a:r>
              <a:rPr lang="en-US" sz="2000" dirty="0"/>
              <a:t>(1 of 3)</a:t>
            </a:r>
          </a:p>
        </p:txBody>
      </p:sp>
      <p:sp>
        <p:nvSpPr>
          <p:cNvPr id="3" name="Content Placeholder 2"/>
          <p:cNvSpPr>
            <a:spLocks noGrp="1"/>
          </p:cNvSpPr>
          <p:nvPr>
            <p:ph idx="1"/>
          </p:nvPr>
        </p:nvSpPr>
        <p:spPr>
          <a:xfrm>
            <a:off x="628650" y="1600200"/>
            <a:ext cx="7886700" cy="2133600"/>
          </a:xfrm>
        </p:spPr>
        <p:txBody>
          <a:bodyPr/>
          <a:lstStyle/>
          <a:p>
            <a:pPr marL="291600" indent="-291600">
              <a:spcBef>
                <a:spcPts val="1000"/>
              </a:spcBef>
            </a:pPr>
            <a:r>
              <a:rPr lang="en-US" dirty="0"/>
              <a:t>Evaluating a postfix expression involves three steps:</a:t>
            </a:r>
          </a:p>
          <a:p>
            <a:pPr lvl="1">
              <a:spcBef>
                <a:spcPts val="1000"/>
              </a:spcBef>
            </a:pPr>
            <a:r>
              <a:rPr lang="en-US" dirty="0"/>
              <a:t>Scan across the expression from left to right</a:t>
            </a:r>
          </a:p>
          <a:p>
            <a:pPr lvl="1">
              <a:spcBef>
                <a:spcPts val="1000"/>
              </a:spcBef>
            </a:pPr>
            <a:r>
              <a:rPr lang="en-US" dirty="0"/>
              <a:t>On encountering an operator, apply it to the two preceding operands and replace all three by the result</a:t>
            </a:r>
          </a:p>
          <a:p>
            <a:pPr lvl="1">
              <a:spcBef>
                <a:spcPts val="1000"/>
              </a:spcBef>
            </a:pPr>
            <a:r>
              <a:rPr lang="en-US" dirty="0"/>
              <a:t>Continue scanning until you reach the expression’s end, at which point only the expression’s value remains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9939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Evaluating Postfix Expressions </a:t>
            </a:r>
            <a:r>
              <a:rPr lang="en-US" sz="2000" dirty="0"/>
              <a:t>(2 of 3)</a:t>
            </a:r>
          </a:p>
        </p:txBody>
      </p:sp>
      <p:sp>
        <p:nvSpPr>
          <p:cNvPr id="3" name="Content Placeholder 2"/>
          <p:cNvSpPr>
            <a:spLocks noGrp="1"/>
          </p:cNvSpPr>
          <p:nvPr>
            <p:ph idx="1"/>
          </p:nvPr>
        </p:nvSpPr>
        <p:spPr>
          <a:xfrm>
            <a:off x="628650" y="1705055"/>
            <a:ext cx="7886700" cy="384175"/>
          </a:xfrm>
        </p:spPr>
        <p:txBody>
          <a:bodyPr/>
          <a:lstStyle/>
          <a:p>
            <a:pPr marL="291600" indent="-291600">
              <a:spcBef>
                <a:spcPts val="1000"/>
              </a:spcBef>
            </a:pPr>
            <a:r>
              <a:rPr lang="en-US" dirty="0"/>
              <a:t>Table 7.5 Tracing the Evaluation of a Postfix Expression</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701705285"/>
              </p:ext>
            </p:extLst>
          </p:nvPr>
        </p:nvGraphicFramePr>
        <p:xfrm>
          <a:off x="990600" y="2362200"/>
          <a:ext cx="7524750" cy="326136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484744669"/>
                    </a:ext>
                  </a:extLst>
                </a:gridCol>
                <a:gridCol w="2076450">
                  <a:extLst>
                    <a:ext uri="{9D8B030D-6E8A-4147-A177-3AD203B41FA5}">
                      <a16:colId xmlns:a16="http://schemas.microsoft.com/office/drawing/2014/main" val="1061252509"/>
                    </a:ext>
                  </a:extLst>
                </a:gridCol>
                <a:gridCol w="2628900">
                  <a:extLst>
                    <a:ext uri="{9D8B030D-6E8A-4147-A177-3AD203B41FA5}">
                      <a16:colId xmlns:a16="http://schemas.microsoft.com/office/drawing/2014/main" val="4183141101"/>
                    </a:ext>
                  </a:extLst>
                </a:gridCol>
              </a:tblGrid>
              <a:tr h="1143000">
                <a:tc>
                  <a:txBody>
                    <a:bodyPr/>
                    <a:lstStyle/>
                    <a:p>
                      <a:r>
                        <a:rPr lang="en-US" dirty="0">
                          <a:solidFill>
                            <a:schemeClr val="bg2">
                              <a:lumMod val="10000"/>
                            </a:schemeClr>
                          </a:solidFill>
                          <a:latin typeface="Open Sans" panose="020B0606030504020204"/>
                        </a:rPr>
                        <a:t>Postfix Expression: 4 5 6 * +3 </a:t>
                      </a:r>
                      <a:r>
                        <a:rPr lang="en-US" dirty="0">
                          <a:solidFill>
                            <a:schemeClr val="bg2">
                              <a:lumMod val="10000"/>
                            </a:schemeClr>
                          </a:solidFill>
                          <a:latin typeface="Arial" panose="020B0604020202020204" pitchFamily="34" charset="0"/>
                          <a:cs typeface="Arial" panose="020B0604020202020204" pitchFamily="34" charset="0"/>
                        </a:rPr>
                        <a:t>−</a:t>
                      </a:r>
                      <a:endParaRPr lang="en-US" dirty="0">
                        <a:solidFill>
                          <a:schemeClr val="bg2">
                            <a:lumMod val="10000"/>
                          </a:schemeClr>
                        </a:solidFill>
                        <a:latin typeface="Open Sans" panose="020B0606030504020204"/>
                      </a:endParaRPr>
                    </a:p>
                    <a:p>
                      <a:endParaRPr lang="en-US" dirty="0">
                        <a:solidFill>
                          <a:schemeClr val="bg2">
                            <a:lumMod val="10000"/>
                          </a:schemeClr>
                        </a:solidFill>
                        <a:latin typeface="Open Sans" panose="020B0606030504020204"/>
                      </a:endParaRPr>
                    </a:p>
                    <a:p>
                      <a:r>
                        <a:rPr lang="en-US" dirty="0">
                          <a:solidFill>
                            <a:schemeClr val="bg2">
                              <a:lumMod val="10000"/>
                            </a:schemeClr>
                          </a:solidFill>
                          <a:latin typeface="Open Sans" panose="020B0606030504020204"/>
                        </a:rPr>
                        <a:t>Portion of Postfix Expression Scanned So</a:t>
                      </a:r>
                      <a:r>
                        <a:rPr lang="en-US" baseline="0" dirty="0">
                          <a:solidFill>
                            <a:schemeClr val="bg2">
                              <a:lumMod val="10000"/>
                            </a:schemeClr>
                          </a:solidFill>
                          <a:latin typeface="Open Sans" panose="020B0606030504020204"/>
                        </a:rPr>
                        <a:t> Far </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Operand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Resulting Value: 31</a:t>
                      </a:r>
                    </a:p>
                    <a:p>
                      <a:endParaRPr lang="en-US" dirty="0">
                        <a:solidFill>
                          <a:schemeClr val="bg2">
                            <a:lumMod val="10000"/>
                          </a:schemeClr>
                        </a:solidFill>
                        <a:latin typeface="Open Sans" panose="020B0606030504020204"/>
                      </a:endParaRPr>
                    </a:p>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0938212"/>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BDDEF"/>
                          </a:solidFill>
                          <a:effectLst/>
                          <a:uLnTx/>
                          <a:uFillTx/>
                          <a:latin typeface="Calibri"/>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BDDEF"/>
                          </a:solidFill>
                          <a:effectLst/>
                          <a:uLnTx/>
                          <a:uFillTx/>
                          <a:latin typeface="Calibri"/>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No tokens have been scanned yet, so the stack is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0870700"/>
                  </a:ext>
                </a:extLst>
              </a:tr>
              <a:tr h="370840">
                <a:tc>
                  <a:txBody>
                    <a:bodyPr/>
                    <a:lstStyle/>
                    <a:p>
                      <a:r>
                        <a:rPr lang="en-US" dirty="0">
                          <a:latin typeface="Open Sans" panose="020B0606030504020204"/>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the operand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6492589"/>
                  </a:ext>
                </a:extLst>
              </a:tr>
              <a:tr h="370840">
                <a:tc>
                  <a:txBody>
                    <a:bodyPr/>
                    <a:lstStyle/>
                    <a:p>
                      <a:r>
                        <a:rPr lang="en-US" dirty="0">
                          <a:latin typeface="Open Sans" panose="020B0606030504020204"/>
                        </a:rPr>
                        <a:t>4 5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the operand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3659822"/>
                  </a:ext>
                </a:extLst>
              </a:tr>
              <a:tr h="370840">
                <a:tc>
                  <a:txBody>
                    <a:bodyPr/>
                    <a:lstStyle/>
                    <a:p>
                      <a:r>
                        <a:rPr lang="en-US" dirty="0">
                          <a:latin typeface="Open Sans" panose="020B0606030504020204"/>
                        </a:rPr>
                        <a:t>4 5 6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the operand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767260"/>
                  </a:ext>
                </a:extLst>
              </a:tr>
              <a:tr h="370840">
                <a:tc>
                  <a:txBody>
                    <a:bodyPr/>
                    <a:lstStyle/>
                    <a:p>
                      <a:r>
                        <a:rPr lang="en-US" dirty="0">
                          <a:latin typeface="Open Sans" panose="020B0606030504020204"/>
                        </a:rPr>
                        <a:t>4</a:t>
                      </a:r>
                      <a:r>
                        <a:rPr lang="en-US" baseline="0" dirty="0">
                          <a:latin typeface="Open Sans" panose="020B0606030504020204"/>
                        </a:rPr>
                        <a:t> 5 6 *</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Replace the top two operands by their product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3453596"/>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21010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Evaluating Postfix Expressions </a:t>
            </a:r>
            <a:r>
              <a:rPr lang="en-US" sz="2000" dirty="0"/>
              <a:t>(3 of 3)</a:t>
            </a:r>
          </a:p>
        </p:txBody>
      </p:sp>
      <p:sp>
        <p:nvSpPr>
          <p:cNvPr id="3" name="Content Placeholder 2"/>
          <p:cNvSpPr>
            <a:spLocks noGrp="1"/>
          </p:cNvSpPr>
          <p:nvPr>
            <p:ph idx="1"/>
          </p:nvPr>
        </p:nvSpPr>
        <p:spPr>
          <a:xfrm>
            <a:off x="627938" y="1705252"/>
            <a:ext cx="8363662" cy="381000"/>
          </a:xfrm>
        </p:spPr>
        <p:txBody>
          <a:bodyPr>
            <a:normAutofit fontScale="92500"/>
          </a:bodyPr>
          <a:lstStyle/>
          <a:p>
            <a:pPr marL="291600" indent="-291600">
              <a:spcBef>
                <a:spcPts val="1000"/>
              </a:spcBef>
            </a:pPr>
            <a:r>
              <a:rPr lang="en-US" dirty="0"/>
              <a:t>Table 7.5 Tracing the Evaluation of a Postfix Expression (continued)</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3024064233"/>
              </p:ext>
            </p:extLst>
          </p:nvPr>
        </p:nvGraphicFramePr>
        <p:xfrm>
          <a:off x="947535" y="2420643"/>
          <a:ext cx="7886700" cy="2649220"/>
        </p:xfrm>
        <a:graphic>
          <a:graphicData uri="http://schemas.openxmlformats.org/drawingml/2006/table">
            <a:tbl>
              <a:tblPr firstRow="1" bandRow="1">
                <a:tableStyleId>{5C22544A-7EE6-4342-B048-85BDC9FD1C3A}</a:tableStyleId>
              </a:tblPr>
              <a:tblGrid>
                <a:gridCol w="2877262">
                  <a:extLst>
                    <a:ext uri="{9D8B030D-6E8A-4147-A177-3AD203B41FA5}">
                      <a16:colId xmlns:a16="http://schemas.microsoft.com/office/drawing/2014/main" val="677924368"/>
                    </a:ext>
                  </a:extLst>
                </a:gridCol>
                <a:gridCol w="2380538">
                  <a:extLst>
                    <a:ext uri="{9D8B030D-6E8A-4147-A177-3AD203B41FA5}">
                      <a16:colId xmlns:a16="http://schemas.microsoft.com/office/drawing/2014/main" val="2274598377"/>
                    </a:ext>
                  </a:extLst>
                </a:gridCol>
                <a:gridCol w="2628900">
                  <a:extLst>
                    <a:ext uri="{9D8B030D-6E8A-4147-A177-3AD203B41FA5}">
                      <a16:colId xmlns:a16="http://schemas.microsoft.com/office/drawing/2014/main" val="2821781979"/>
                    </a:ext>
                  </a:extLst>
                </a:gridCol>
              </a:tblGrid>
              <a:tr h="1066800">
                <a:tc>
                  <a:txBody>
                    <a:bodyPr/>
                    <a:lstStyle/>
                    <a:p>
                      <a:r>
                        <a:rPr lang="en-US" dirty="0">
                          <a:solidFill>
                            <a:schemeClr val="bg2">
                              <a:lumMod val="10000"/>
                            </a:schemeClr>
                          </a:solidFill>
                          <a:latin typeface="Open Sans" panose="020B0606030504020204"/>
                        </a:rPr>
                        <a:t>Postfix Expression: 4 5 6 * +3 </a:t>
                      </a:r>
                      <a:r>
                        <a:rPr lang="en-US" dirty="0">
                          <a:solidFill>
                            <a:schemeClr val="bg2">
                              <a:lumMod val="10000"/>
                            </a:schemeClr>
                          </a:solidFill>
                          <a:latin typeface="Arial" panose="020B0604020202020204" pitchFamily="34" charset="0"/>
                          <a:cs typeface="Arial" panose="020B0604020202020204" pitchFamily="34" charset="0"/>
                        </a:rPr>
                        <a:t>−</a:t>
                      </a:r>
                      <a:endParaRPr lang="en-US" dirty="0">
                        <a:solidFill>
                          <a:schemeClr val="bg2">
                            <a:lumMod val="10000"/>
                          </a:schemeClr>
                        </a:solidFill>
                        <a:latin typeface="Open Sans" panose="020B0606030504020204"/>
                      </a:endParaRPr>
                    </a:p>
                    <a:p>
                      <a:endParaRPr lang="en-US" dirty="0">
                        <a:solidFill>
                          <a:schemeClr val="bg2">
                            <a:lumMod val="10000"/>
                          </a:schemeClr>
                        </a:solidFill>
                        <a:latin typeface="Open Sans" panose="020B0606030504020204"/>
                      </a:endParaRPr>
                    </a:p>
                    <a:p>
                      <a:r>
                        <a:rPr lang="en-US" dirty="0">
                          <a:solidFill>
                            <a:schemeClr val="bg2">
                              <a:lumMod val="10000"/>
                            </a:schemeClr>
                          </a:solidFill>
                          <a:latin typeface="Open Sans" panose="020B0606030504020204"/>
                        </a:rPr>
                        <a:t>Portion of Postfix Expression Scanned So</a:t>
                      </a:r>
                      <a:r>
                        <a:rPr lang="en-US" baseline="0" dirty="0">
                          <a:solidFill>
                            <a:schemeClr val="bg2">
                              <a:lumMod val="10000"/>
                            </a:schemeClr>
                          </a:solidFill>
                          <a:latin typeface="Open Sans" panose="020B0606030504020204"/>
                        </a:rPr>
                        <a:t> Far </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Open Sans" panose="020B0606030504020204"/>
                      </a:endParaRPr>
                    </a:p>
                    <a:p>
                      <a:endParaRPr lang="en-US" dirty="0">
                        <a:latin typeface="Open Sans" panose="020B0606030504020204"/>
                      </a:endParaRPr>
                    </a:p>
                    <a:p>
                      <a:r>
                        <a:rPr lang="en-US" dirty="0">
                          <a:solidFill>
                            <a:schemeClr val="bg2">
                              <a:lumMod val="10000"/>
                            </a:schemeClr>
                          </a:solidFill>
                          <a:latin typeface="Open Sans" panose="020B0606030504020204"/>
                        </a:rPr>
                        <a:t>Operand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Resulting Value: 31</a:t>
                      </a:r>
                      <a:endParaRPr lang="en-US" dirty="0">
                        <a:latin typeface="Open Sans" panose="020B0606030504020204"/>
                      </a:endParaRPr>
                    </a:p>
                    <a:p>
                      <a:endParaRPr lang="en-US" dirty="0">
                        <a:solidFill>
                          <a:schemeClr val="bg2">
                            <a:lumMod val="10000"/>
                          </a:schemeClr>
                        </a:solidFill>
                        <a:latin typeface="Open Sans" panose="020B0606030504020204"/>
                      </a:endParaRPr>
                    </a:p>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195742"/>
                  </a:ext>
                </a:extLst>
              </a:tr>
              <a:tr h="370840">
                <a:tc>
                  <a:txBody>
                    <a:bodyPr/>
                    <a:lstStyle/>
                    <a:p>
                      <a:r>
                        <a:rPr lang="en-US" dirty="0">
                          <a:latin typeface="Open Sans" panose="020B0606030504020204"/>
                        </a:rPr>
                        <a:t>4 5 6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Replace the top two operands by their 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96805"/>
                  </a:ext>
                </a:extLst>
              </a:tr>
              <a:tr h="370840">
                <a:tc>
                  <a:txBody>
                    <a:bodyPr/>
                    <a:lstStyle/>
                    <a:p>
                      <a:r>
                        <a:rPr lang="en-US" dirty="0">
                          <a:latin typeface="Open Sans" panose="020B0606030504020204"/>
                        </a:rPr>
                        <a:t>4 5 6 *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the operand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4728803"/>
                  </a:ext>
                </a:extLst>
              </a:tr>
              <a:tr h="370840">
                <a:tc>
                  <a:txBody>
                    <a:bodyPr/>
                    <a:lstStyle/>
                    <a:p>
                      <a:r>
                        <a:rPr lang="en-US" dirty="0">
                          <a:latin typeface="Open Sans" panose="020B0606030504020204"/>
                        </a:rPr>
                        <a:t>4 5 6 * + 3 </a:t>
                      </a:r>
                      <a:r>
                        <a:rPr lang="en-US" dirty="0">
                          <a:solidFill>
                            <a:schemeClr val="bg2">
                              <a:lumMod val="10000"/>
                            </a:schemeClr>
                          </a:solidFill>
                          <a:latin typeface="Arial" panose="020B0604020202020204" pitchFamily="34" charset="0"/>
                          <a:cs typeface="Arial" panose="020B0604020202020204" pitchFamily="34" charset="0"/>
                        </a:rPr>
                        <a:t>−</a:t>
                      </a:r>
                      <a:r>
                        <a:rPr lang="en-US" dirty="0">
                          <a:latin typeface="Open Sans" panose="020B0606030504020204"/>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Replace the top two operands by their difference</a:t>
                      </a:r>
                      <a:r>
                        <a:rPr lang="en-US" baseline="0" dirty="0">
                          <a:latin typeface="Open Sans" panose="020B0606030504020204"/>
                        </a:rPr>
                        <a:t> and pop the final value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662927"/>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30652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Converting Infix to Postfix </a:t>
            </a:r>
            <a:r>
              <a:rPr lang="en-US" sz="2000" dirty="0"/>
              <a:t>(1 of 3)</a:t>
            </a:r>
          </a:p>
        </p:txBody>
      </p:sp>
      <p:sp>
        <p:nvSpPr>
          <p:cNvPr id="3" name="Content Placeholder 2"/>
          <p:cNvSpPr>
            <a:spLocks noGrp="1"/>
          </p:cNvSpPr>
          <p:nvPr>
            <p:ph idx="1"/>
          </p:nvPr>
        </p:nvSpPr>
        <p:spPr>
          <a:xfrm>
            <a:off x="628650" y="1447800"/>
            <a:ext cx="7886700" cy="4191000"/>
          </a:xfrm>
        </p:spPr>
        <p:txBody>
          <a:bodyPr>
            <a:normAutofit lnSpcReduction="10000"/>
          </a:bodyPr>
          <a:lstStyle/>
          <a:p>
            <a:pPr marL="291600" indent="-291600">
              <a:spcBef>
                <a:spcPts val="1000"/>
              </a:spcBef>
            </a:pPr>
            <a:r>
              <a:rPr lang="en-US" dirty="0"/>
              <a:t>Detailed steps</a:t>
            </a:r>
          </a:p>
          <a:p>
            <a:pPr lvl="1">
              <a:spcBef>
                <a:spcPts val="1000"/>
              </a:spcBef>
            </a:pPr>
            <a:r>
              <a:rPr lang="en-US" dirty="0"/>
              <a:t>Start with an empty postfix expression and an empty stack, which will hold operators and left parentheses</a:t>
            </a:r>
          </a:p>
          <a:p>
            <a:pPr lvl="1">
              <a:spcBef>
                <a:spcPts val="1000"/>
              </a:spcBef>
            </a:pPr>
            <a:r>
              <a:rPr lang="en-US" dirty="0"/>
              <a:t>Scan across the infix expression from left to right</a:t>
            </a:r>
          </a:p>
          <a:p>
            <a:pPr lvl="1">
              <a:spcBef>
                <a:spcPts val="1000"/>
              </a:spcBef>
            </a:pPr>
            <a:r>
              <a:rPr lang="en-US" dirty="0"/>
              <a:t>On encountering an operand, append it to the postfix expression</a:t>
            </a:r>
          </a:p>
          <a:p>
            <a:pPr lvl="1">
              <a:spcBef>
                <a:spcPts val="1000"/>
              </a:spcBef>
            </a:pPr>
            <a:r>
              <a:rPr lang="en-US" dirty="0"/>
              <a:t>On encountering a left parenthesis, push it onto the stack</a:t>
            </a:r>
          </a:p>
          <a:p>
            <a:pPr lvl="1">
              <a:spcBef>
                <a:spcPts val="1000"/>
              </a:spcBef>
            </a:pPr>
            <a:r>
              <a:rPr lang="en-US" dirty="0"/>
              <a:t>On encountering an operator, pop off the stack all operators that have equal or higher precedence, append them to the postfix expression, and then push the scanned operator onto the stack</a:t>
            </a:r>
          </a:p>
          <a:p>
            <a:pPr lvl="1">
              <a:spcBef>
                <a:spcPts val="1000"/>
              </a:spcBef>
            </a:pPr>
            <a:r>
              <a:rPr lang="en-US" dirty="0"/>
              <a:t>On encountering a right parenthesis, shift operators from the stack to the postfix expression until meeting the matching left parenthesis, which is discarded</a:t>
            </a:r>
          </a:p>
          <a:p>
            <a:pPr lvl="1">
              <a:spcBef>
                <a:spcPts val="1000"/>
              </a:spcBef>
            </a:pPr>
            <a:r>
              <a:rPr lang="en-US" dirty="0"/>
              <a:t>On encountering the end of the infix expression, transfer the remaining operators from the stack to the postfix expression</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5699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Converting Infix to Postfix </a:t>
            </a:r>
            <a:r>
              <a:rPr lang="en-US" sz="2000" dirty="0"/>
              <a:t>(2 of 3)</a:t>
            </a:r>
          </a:p>
        </p:txBody>
      </p:sp>
      <p:sp>
        <p:nvSpPr>
          <p:cNvPr id="3" name="Content Placeholder 2"/>
          <p:cNvSpPr>
            <a:spLocks noGrp="1"/>
          </p:cNvSpPr>
          <p:nvPr>
            <p:ph idx="1"/>
          </p:nvPr>
        </p:nvSpPr>
        <p:spPr>
          <a:xfrm>
            <a:off x="628650" y="1426430"/>
            <a:ext cx="7886700" cy="630969"/>
          </a:xfrm>
        </p:spPr>
        <p:txBody>
          <a:bodyPr>
            <a:normAutofit lnSpcReduction="10000"/>
          </a:bodyPr>
          <a:lstStyle/>
          <a:p>
            <a:pPr marL="291600" indent="-291600">
              <a:lnSpc>
                <a:spcPct val="100000"/>
              </a:lnSpc>
              <a:spcBef>
                <a:spcPts val="1000"/>
              </a:spcBef>
            </a:pPr>
            <a:r>
              <a:rPr lang="en-US" dirty="0"/>
              <a:t>Table 7.6 Tracing the Conversion of an Infix Expression to a Postfix Expression</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874138653"/>
              </p:ext>
            </p:extLst>
          </p:nvPr>
        </p:nvGraphicFramePr>
        <p:xfrm>
          <a:off x="723900" y="2260600"/>
          <a:ext cx="8191500" cy="327152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675745355"/>
                    </a:ext>
                  </a:extLst>
                </a:gridCol>
                <a:gridCol w="1314450">
                  <a:extLst>
                    <a:ext uri="{9D8B030D-6E8A-4147-A177-3AD203B41FA5}">
                      <a16:colId xmlns:a16="http://schemas.microsoft.com/office/drawing/2014/main" val="3480902672"/>
                    </a:ext>
                  </a:extLst>
                </a:gridCol>
                <a:gridCol w="1971675">
                  <a:extLst>
                    <a:ext uri="{9D8B030D-6E8A-4147-A177-3AD203B41FA5}">
                      <a16:colId xmlns:a16="http://schemas.microsoft.com/office/drawing/2014/main" val="3431873323"/>
                    </a:ext>
                  </a:extLst>
                </a:gridCol>
                <a:gridCol w="2276475">
                  <a:extLst>
                    <a:ext uri="{9D8B030D-6E8A-4147-A177-3AD203B41FA5}">
                      <a16:colId xmlns:a16="http://schemas.microsoft.com/office/drawing/2014/main" val="2023933879"/>
                    </a:ext>
                  </a:extLst>
                </a:gridCol>
              </a:tblGrid>
              <a:tr h="370840">
                <a:tc>
                  <a:txBody>
                    <a:bodyPr/>
                    <a:lstStyle/>
                    <a:p>
                      <a:r>
                        <a:rPr lang="en-US" dirty="0">
                          <a:solidFill>
                            <a:schemeClr val="bg2">
                              <a:lumMod val="10000"/>
                            </a:schemeClr>
                          </a:solidFill>
                          <a:latin typeface="Open Sans" panose="020B0606030504020204"/>
                        </a:rPr>
                        <a:t>Infix Expression: 4 + 5  * 6 </a:t>
                      </a:r>
                      <a:r>
                        <a:rPr lang="en-US" dirty="0">
                          <a:solidFill>
                            <a:schemeClr val="bg2">
                              <a:lumMod val="10000"/>
                            </a:schemeClr>
                          </a:solidFill>
                          <a:latin typeface="Arial" panose="020B0604020202020204" pitchFamily="34" charset="0"/>
                          <a:cs typeface="Arial" panose="020B0604020202020204" pitchFamily="34" charset="0"/>
                        </a:rPr>
                        <a:t>−</a:t>
                      </a:r>
                      <a:r>
                        <a:rPr lang="en-US" dirty="0">
                          <a:solidFill>
                            <a:schemeClr val="bg2">
                              <a:lumMod val="10000"/>
                            </a:schemeClr>
                          </a:solidFill>
                          <a:latin typeface="Open Sans" panose="020B0606030504020204"/>
                        </a:rPr>
                        <a:t> 3</a:t>
                      </a:r>
                    </a:p>
                    <a:p>
                      <a:r>
                        <a:rPr lang="en-US" dirty="0">
                          <a:solidFill>
                            <a:schemeClr val="bg2">
                              <a:lumMod val="10000"/>
                            </a:schemeClr>
                          </a:solidFill>
                          <a:latin typeface="Open Sans" panose="020B0606030504020204"/>
                        </a:rPr>
                        <a:t>Portion of Infix Expression Scanned So</a:t>
                      </a:r>
                      <a:r>
                        <a:rPr lang="en-US" baseline="0" dirty="0">
                          <a:solidFill>
                            <a:schemeClr val="bg2">
                              <a:lumMod val="10000"/>
                            </a:schemeClr>
                          </a:solidFill>
                          <a:latin typeface="Open Sans" panose="020B0606030504020204"/>
                        </a:rPr>
                        <a:t> Far </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Operator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Postfix Expression:</a:t>
                      </a:r>
                      <a:r>
                        <a:rPr lang="en-US" baseline="0" dirty="0">
                          <a:solidFill>
                            <a:schemeClr val="bg2">
                              <a:lumMod val="10000"/>
                            </a:schemeClr>
                          </a:solidFill>
                          <a:latin typeface="Open Sans" panose="020B0606030504020204"/>
                        </a:rPr>
                        <a:t> 4 5 6 * + 3 </a:t>
                      </a:r>
                      <a:r>
                        <a:rPr lang="en-US" dirty="0">
                          <a:solidFill>
                            <a:schemeClr val="bg2">
                              <a:lumMod val="10000"/>
                            </a:schemeClr>
                          </a:solidFill>
                          <a:latin typeface="Arial" panose="020B0604020202020204" pitchFamily="34" charset="0"/>
                          <a:cs typeface="Arial" panose="020B0604020202020204" pitchFamily="34" charset="0"/>
                        </a:rPr>
                        <a:t>−</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3900768"/>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BDDEF"/>
                          </a:solidFill>
                          <a:effectLst/>
                          <a:uLnTx/>
                          <a:uFillTx/>
                          <a:latin typeface="Calibri"/>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CBDDEF"/>
                          </a:solidFill>
                          <a:effectLst/>
                          <a:uLnTx/>
                          <a:uFillTx/>
                          <a:latin typeface="Calibri"/>
                          <a:ea typeface="+mn-ea"/>
                          <a:cs typeface="+mn-cs"/>
                        </a:rPr>
                        <a:t>blank</a:t>
                      </a:r>
                      <a:endParaRPr kumimoji="0" lang="en-US" sz="1350" b="0" i="0" u="none" strike="noStrike" kern="1200" cap="none" spc="0" normalizeH="0" baseline="0" noProof="0" dirty="0">
                        <a:ln>
                          <a:noFill/>
                        </a:ln>
                        <a:solidFill>
                          <a:srgbClr val="CBDDEF"/>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BDDEF"/>
                          </a:solidFill>
                          <a:effectLst/>
                          <a:uLnTx/>
                          <a:uFillTx/>
                          <a:latin typeface="Calibri"/>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No tokens have been scanned yet, so the stack and PE are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3309688"/>
                  </a:ext>
                </a:extLst>
              </a:tr>
              <a:tr h="370840">
                <a:tc>
                  <a:txBody>
                    <a:bodyPr/>
                    <a:lstStyle/>
                    <a:p>
                      <a:r>
                        <a:rPr lang="en-US" dirty="0">
                          <a:latin typeface="Open Sans" panose="020B0606030504020204"/>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mn-lt"/>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Append 4 to the 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6184312"/>
                  </a:ext>
                </a:extLst>
              </a:tr>
              <a:tr h="370840">
                <a:tc>
                  <a:txBody>
                    <a:bodyPr/>
                    <a:lstStyle/>
                    <a:p>
                      <a:r>
                        <a:rPr lang="en-US" dirty="0">
                          <a:latin typeface="Open Sans" panose="020B0606030504020204"/>
                        </a:rPr>
                        <a:t>4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 onto the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2088897"/>
                  </a:ext>
                </a:extLst>
              </a:tr>
              <a:tr h="370840">
                <a:tc>
                  <a:txBody>
                    <a:bodyPr/>
                    <a:lstStyle/>
                    <a:p>
                      <a:r>
                        <a:rPr lang="en-US" dirty="0">
                          <a:latin typeface="Open Sans" panose="020B0606030504020204"/>
                        </a:rPr>
                        <a:t>4</a:t>
                      </a:r>
                      <a:r>
                        <a:rPr lang="en-US" baseline="0" dirty="0">
                          <a:latin typeface="Open Sans" panose="020B0606030504020204"/>
                        </a:rPr>
                        <a:t> + 5</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Append 5 to the 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0839629"/>
                  </a:ext>
                </a:extLst>
              </a:tr>
              <a:tr h="370840">
                <a:tc>
                  <a:txBody>
                    <a:bodyPr/>
                    <a:lstStyle/>
                    <a:p>
                      <a:r>
                        <a:rPr lang="en-US" dirty="0">
                          <a:latin typeface="Open Sans" panose="020B0606030504020204"/>
                        </a:rPr>
                        <a:t>4</a:t>
                      </a:r>
                      <a:r>
                        <a:rPr lang="en-US" baseline="0" dirty="0">
                          <a:latin typeface="Open Sans" panose="020B0606030504020204"/>
                        </a:rPr>
                        <a:t> + 5 *</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t>
                      </a:r>
                      <a:r>
                        <a:rPr lang="en-US" baseline="0" dirty="0">
                          <a:latin typeface="Open Sans" panose="020B0606030504020204"/>
                        </a:rPr>
                        <a:t> *</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 onto the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3591091"/>
                  </a:ext>
                </a:extLst>
              </a:tr>
              <a:tr h="370840">
                <a:tc>
                  <a:txBody>
                    <a:bodyPr/>
                    <a:lstStyle/>
                    <a:p>
                      <a:r>
                        <a:rPr lang="en-US" dirty="0">
                          <a:latin typeface="Open Sans" panose="020B0606030504020204"/>
                        </a:rPr>
                        <a:t>4</a:t>
                      </a:r>
                      <a:r>
                        <a:rPr lang="en-US" baseline="0" dirty="0">
                          <a:latin typeface="Open Sans" panose="020B0606030504020204"/>
                        </a:rPr>
                        <a:t> + 5 * 6</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Append 6 to</a:t>
                      </a:r>
                      <a:r>
                        <a:rPr lang="en-US" baseline="0" dirty="0">
                          <a:latin typeface="Open Sans" panose="020B0606030504020204"/>
                        </a:rPr>
                        <a:t> the PE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283580"/>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07740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Converting Infix to Postfix </a:t>
            </a:r>
            <a:r>
              <a:rPr lang="en-US" sz="2000" dirty="0"/>
              <a:t>(3 of 3)</a:t>
            </a:r>
          </a:p>
        </p:txBody>
      </p:sp>
      <p:sp>
        <p:nvSpPr>
          <p:cNvPr id="3" name="Content Placeholder 2"/>
          <p:cNvSpPr>
            <a:spLocks noGrp="1"/>
          </p:cNvSpPr>
          <p:nvPr>
            <p:ph idx="1"/>
          </p:nvPr>
        </p:nvSpPr>
        <p:spPr>
          <a:xfrm>
            <a:off x="628650" y="1472983"/>
            <a:ext cx="7886700" cy="570362"/>
          </a:xfrm>
        </p:spPr>
        <p:txBody>
          <a:bodyPr>
            <a:normAutofit lnSpcReduction="10000"/>
          </a:bodyPr>
          <a:lstStyle/>
          <a:p>
            <a:pPr marL="291600" indent="-291600">
              <a:spcBef>
                <a:spcPts val="1000"/>
              </a:spcBef>
            </a:pPr>
            <a:r>
              <a:rPr lang="en-US" dirty="0"/>
              <a:t>Table 7.6 Tracing the Conversion of an Infix Expression to a Postfix Expression (continued)</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1699520513"/>
              </p:ext>
            </p:extLst>
          </p:nvPr>
        </p:nvGraphicFramePr>
        <p:xfrm>
          <a:off x="628650" y="2362200"/>
          <a:ext cx="7886700" cy="2702560"/>
        </p:xfrm>
        <a:graphic>
          <a:graphicData uri="http://schemas.openxmlformats.org/drawingml/2006/table">
            <a:tbl>
              <a:tblPr firstRow="1" bandRow="1">
                <a:tableStyleId>{5C22544A-7EE6-4342-B048-85BDC9FD1C3A}</a:tableStyleId>
              </a:tblPr>
              <a:tblGrid>
                <a:gridCol w="2800350">
                  <a:extLst>
                    <a:ext uri="{9D8B030D-6E8A-4147-A177-3AD203B41FA5}">
                      <a16:colId xmlns:a16="http://schemas.microsoft.com/office/drawing/2014/main" val="3676567938"/>
                    </a:ext>
                  </a:extLst>
                </a:gridCol>
                <a:gridCol w="1143000">
                  <a:extLst>
                    <a:ext uri="{9D8B030D-6E8A-4147-A177-3AD203B41FA5}">
                      <a16:colId xmlns:a16="http://schemas.microsoft.com/office/drawing/2014/main" val="2488774251"/>
                    </a:ext>
                  </a:extLst>
                </a:gridCol>
                <a:gridCol w="1905000">
                  <a:extLst>
                    <a:ext uri="{9D8B030D-6E8A-4147-A177-3AD203B41FA5}">
                      <a16:colId xmlns:a16="http://schemas.microsoft.com/office/drawing/2014/main" val="1984819268"/>
                    </a:ext>
                  </a:extLst>
                </a:gridCol>
                <a:gridCol w="2038350">
                  <a:extLst>
                    <a:ext uri="{9D8B030D-6E8A-4147-A177-3AD203B41FA5}">
                      <a16:colId xmlns:a16="http://schemas.microsoft.com/office/drawing/2014/main" val="485506454"/>
                    </a:ext>
                  </a:extLst>
                </a:gridCol>
              </a:tblGrid>
              <a:tr h="370840">
                <a:tc>
                  <a:txBody>
                    <a:bodyPr/>
                    <a:lstStyle/>
                    <a:p>
                      <a:r>
                        <a:rPr lang="en-US" dirty="0">
                          <a:solidFill>
                            <a:schemeClr val="bg2">
                              <a:lumMod val="10000"/>
                            </a:schemeClr>
                          </a:solidFill>
                          <a:latin typeface="Open Sans" panose="020B0606030504020204"/>
                        </a:rPr>
                        <a:t>Infix Expression: 4 + 5  * 6 </a:t>
                      </a:r>
                      <a:r>
                        <a:rPr lang="en-US" dirty="0">
                          <a:solidFill>
                            <a:schemeClr val="bg2">
                              <a:lumMod val="10000"/>
                            </a:schemeClr>
                          </a:solidFill>
                          <a:latin typeface="Arial" panose="020B0604020202020204" pitchFamily="34" charset="0"/>
                          <a:cs typeface="Arial" panose="020B0604020202020204" pitchFamily="34" charset="0"/>
                        </a:rPr>
                        <a:t>−</a:t>
                      </a:r>
                      <a:r>
                        <a:rPr lang="en-US" dirty="0">
                          <a:solidFill>
                            <a:schemeClr val="bg2">
                              <a:lumMod val="10000"/>
                            </a:schemeClr>
                          </a:solidFill>
                          <a:latin typeface="Open Sans" panose="020B0606030504020204"/>
                        </a:rPr>
                        <a:t> 3</a:t>
                      </a:r>
                    </a:p>
                    <a:p>
                      <a:r>
                        <a:rPr lang="en-US" dirty="0">
                          <a:solidFill>
                            <a:schemeClr val="bg2">
                              <a:lumMod val="10000"/>
                            </a:schemeClr>
                          </a:solidFill>
                          <a:latin typeface="Open Sans" panose="020B0606030504020204"/>
                        </a:rPr>
                        <a:t>Portion of Infix Expression Scanned So</a:t>
                      </a:r>
                      <a:r>
                        <a:rPr lang="en-US" baseline="0" dirty="0">
                          <a:solidFill>
                            <a:schemeClr val="bg2">
                              <a:lumMod val="10000"/>
                            </a:schemeClr>
                          </a:solidFill>
                          <a:latin typeface="Open Sans" panose="020B0606030504020204"/>
                        </a:rPr>
                        <a:t> Far </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Operator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Postfix Expression:</a:t>
                      </a:r>
                      <a:r>
                        <a:rPr lang="en-US" baseline="0" dirty="0">
                          <a:solidFill>
                            <a:schemeClr val="bg2">
                              <a:lumMod val="10000"/>
                            </a:schemeClr>
                          </a:solidFill>
                          <a:latin typeface="Open Sans" panose="020B0606030504020204"/>
                        </a:rPr>
                        <a:t> 4 5 6 * + 3 </a:t>
                      </a:r>
                      <a:r>
                        <a:rPr lang="en-US" dirty="0">
                          <a:solidFill>
                            <a:schemeClr val="bg2">
                              <a:lumMod val="10000"/>
                            </a:schemeClr>
                          </a:solidFill>
                          <a:latin typeface="Arial" panose="020B0604020202020204" pitchFamily="34" charset="0"/>
                          <a:cs typeface="Arial" panose="020B0604020202020204" pitchFamily="34" charset="0"/>
                        </a:rPr>
                        <a:t>−</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Open Sans" panose="020B0606030504020204"/>
                      </a:endParaRPr>
                    </a:p>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1850746"/>
                  </a:ext>
                </a:extLst>
              </a:tr>
              <a:tr h="370840">
                <a:tc>
                  <a:txBody>
                    <a:bodyPr/>
                    <a:lstStyle/>
                    <a:p>
                      <a:r>
                        <a:rPr lang="en-US" dirty="0">
                          <a:latin typeface="Open Sans" panose="020B0606030504020204"/>
                        </a:rPr>
                        <a:t>4 + 5 * 6 </a:t>
                      </a:r>
                      <a:r>
                        <a:rPr lang="en-US" dirty="0">
                          <a:solidFill>
                            <a:schemeClr val="bg2">
                              <a:lumMod val="10000"/>
                            </a:schemeClr>
                          </a:solidFill>
                          <a:latin typeface="Arial" panose="020B0604020202020204" pitchFamily="34" charset="0"/>
                          <a:cs typeface="Arial" panose="020B0604020202020204" pitchFamily="34" charset="0"/>
                        </a:rPr>
                        <a:t>−</a:t>
                      </a:r>
                      <a:r>
                        <a:rPr lang="en-US" dirty="0">
                          <a:latin typeface="Open Sans" panose="020B0606030504020204"/>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Arial" panose="020B0604020202020204" pitchFamily="34" charset="0"/>
                          <a:cs typeface="Arial" panose="020B0604020202020204" pitchFamily="34" charset="0"/>
                        </a:rPr>
                        <a:t>−</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 6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 Pop * and +, append them to the PE, and push – onto the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7297173"/>
                  </a:ext>
                </a:extLst>
              </a:tr>
              <a:tr h="370840">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dirty="0">
                          <a:latin typeface="Open Sans" panose="020B0606030504020204"/>
                        </a:rPr>
                        <a:t>4 + 5 * 6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Arial" panose="020B0604020202020204" pitchFamily="34" charset="0"/>
                          <a:cs typeface="Arial" panose="020B0604020202020204" pitchFamily="34" charset="0"/>
                        </a:rPr>
                        <a:t>−</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 6 *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Append 3 to the 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0918976"/>
                  </a:ext>
                </a:extLst>
              </a:tr>
              <a:tr h="370840">
                <a:tc>
                  <a:txBody>
                    <a:bodyPr/>
                    <a:lstStyle/>
                    <a:p>
                      <a:r>
                        <a:rPr lang="en-US" dirty="0">
                          <a:latin typeface="Open Sans" panose="020B0606030504020204"/>
                        </a:rPr>
                        <a:t>4 + 5 * 6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dirty="0">
                          <a:latin typeface="Open Sans" panose="020B0606030504020204"/>
                        </a:rPr>
                        <a:t>4 5 6 *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Pop</a:t>
                      </a:r>
                      <a:r>
                        <a:rPr lang="en-US" baseline="0" dirty="0">
                          <a:latin typeface="Open Sans" panose="020B0606030504020204"/>
                        </a:rPr>
                        <a:t> the remaining operators off the stack and append them to the PE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8680746"/>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94371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Backtracking</a:t>
            </a:r>
            <a:r>
              <a:rPr lang="en-US" dirty="0"/>
              <a:t> </a:t>
            </a:r>
            <a:r>
              <a:rPr lang="en-US" sz="2000" dirty="0"/>
              <a:t>(1 of 3)</a:t>
            </a:r>
          </a:p>
        </p:txBody>
      </p:sp>
      <p:sp>
        <p:nvSpPr>
          <p:cNvPr id="3" name="Content Placeholder 2"/>
          <p:cNvSpPr>
            <a:spLocks noGrp="1"/>
          </p:cNvSpPr>
          <p:nvPr>
            <p:ph idx="1"/>
          </p:nvPr>
        </p:nvSpPr>
        <p:spPr>
          <a:xfrm>
            <a:off x="628650" y="1345936"/>
            <a:ext cx="7886700" cy="3378464"/>
          </a:xfrm>
        </p:spPr>
        <p:txBody>
          <a:bodyPr/>
          <a:lstStyle/>
          <a:p>
            <a:pPr marL="291600" indent="-291600">
              <a:spcBef>
                <a:spcPts val="1000"/>
              </a:spcBef>
            </a:pPr>
            <a:r>
              <a:rPr lang="en-US" dirty="0"/>
              <a:t>Backtracking algorithm</a:t>
            </a:r>
          </a:p>
          <a:p>
            <a:pPr lvl="1">
              <a:spcBef>
                <a:spcPts val="1000"/>
              </a:spcBef>
            </a:pPr>
            <a:r>
              <a:rPr lang="en-US" dirty="0"/>
              <a:t>Begins in a predefined starting state and moves from state to state in search of a desired ending state</a:t>
            </a:r>
          </a:p>
          <a:p>
            <a:pPr lvl="1">
              <a:spcBef>
                <a:spcPts val="1000"/>
              </a:spcBef>
            </a:pPr>
            <a:r>
              <a:rPr lang="en-US" dirty="0"/>
              <a:t>If the algorithm reaches a state that represents an undesirable outcome, it backs up to the last point at which there was an unexplored alternative and tries it</a:t>
            </a:r>
          </a:p>
          <a:p>
            <a:pPr marL="291600" indent="-291600">
              <a:spcBef>
                <a:spcPts val="1000"/>
              </a:spcBef>
            </a:pPr>
            <a:r>
              <a:rPr lang="en-US" dirty="0"/>
              <a:t>Two principal techniques for implementing backtracking algorithms</a:t>
            </a:r>
          </a:p>
          <a:p>
            <a:pPr lvl="1">
              <a:spcBef>
                <a:spcPts val="1000"/>
              </a:spcBef>
            </a:pPr>
            <a:r>
              <a:rPr lang="en-US" dirty="0"/>
              <a:t>One uses stacks</a:t>
            </a:r>
          </a:p>
          <a:p>
            <a:pPr lvl="1">
              <a:spcBef>
                <a:spcPts val="1000"/>
              </a:spcBef>
            </a:pPr>
            <a:r>
              <a:rPr lang="en-US" dirty="0"/>
              <a:t>The other uses recursion</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27376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Backtracking</a:t>
            </a:r>
            <a:r>
              <a:rPr lang="en-US" dirty="0"/>
              <a:t> </a:t>
            </a:r>
            <a:r>
              <a:rPr lang="en-US" sz="2000" dirty="0"/>
              <a:t>(2 of 3)</a:t>
            </a:r>
          </a:p>
        </p:txBody>
      </p:sp>
      <p:sp>
        <p:nvSpPr>
          <p:cNvPr id="3" name="Content Placeholder 2"/>
          <p:cNvSpPr>
            <a:spLocks noGrp="1"/>
          </p:cNvSpPr>
          <p:nvPr>
            <p:ph idx="1"/>
          </p:nvPr>
        </p:nvSpPr>
        <p:spPr>
          <a:xfrm>
            <a:off x="628650" y="1676401"/>
            <a:ext cx="7886700" cy="985490"/>
          </a:xfrm>
        </p:spPr>
        <p:txBody>
          <a:bodyPr>
            <a:normAutofit/>
          </a:bodyPr>
          <a:lstStyle/>
          <a:p>
            <a:pPr marL="291600" indent="-291600">
              <a:spcBef>
                <a:spcPts val="1000"/>
              </a:spcBef>
            </a:pPr>
            <a:r>
              <a:rPr lang="en-US" dirty="0"/>
              <a:t>The role of a stack in the process is to remember the alternative states that occur at each juncture:</a:t>
            </a:r>
          </a:p>
          <a:p>
            <a:pPr lvl="1">
              <a:spcBef>
                <a:spcPts val="1000"/>
              </a:spcBef>
            </a:pPr>
            <a:r>
              <a:rPr lang="en-US" dirty="0"/>
              <a:t>Consider the problem of finding a path out of a maze</a:t>
            </a:r>
          </a:p>
        </p:txBody>
      </p:sp>
      <p:sp>
        <p:nvSpPr>
          <p:cNvPr id="6" name="Content Placeholder 4"/>
          <p:cNvSpPr>
            <a:spLocks noGrp="1"/>
          </p:cNvSpPr>
          <p:nvPr>
            <p:ph idx="12"/>
          </p:nvPr>
        </p:nvSpPr>
        <p:spPr>
          <a:xfrm>
            <a:off x="628650" y="2766754"/>
            <a:ext cx="3486150" cy="313797"/>
          </a:xfrm>
        </p:spPr>
        <p:txBody>
          <a:bodyPr/>
          <a:lstStyle/>
          <a:p>
            <a:pPr marL="0" indent="0">
              <a:buNone/>
            </a:pPr>
            <a:r>
              <a:rPr lang="it-IT" b="1" dirty="0"/>
              <a:t>Figure 7-2: </a:t>
            </a:r>
            <a:r>
              <a:rPr lang="it-IT" dirty="0"/>
              <a:t>A maze problem</a:t>
            </a:r>
            <a:endParaRPr lang="en-IN" dirty="0"/>
          </a:p>
        </p:txBody>
      </p:sp>
      <p:pic>
        <p:nvPicPr>
          <p:cNvPr id="7" name="Content Placeholder 6" descr="The figure shows a maze which is represented by the grid of asterisk."/>
          <p:cNvPicPr>
            <a:picLocks noGrp="1" noChangeAspect="1"/>
          </p:cNvPicPr>
          <p:nvPr>
            <p:ph idx="12"/>
          </p:nvPr>
        </p:nvPicPr>
        <p:blipFill>
          <a:blip r:embed="rId3" cstate="print">
            <a:extLst>
              <a:ext uri="{28A0092B-C50C-407E-A947-70E740481C1C}">
                <a14:useLocalDpi xmlns:a14="http://schemas.microsoft.com/office/drawing/2010/main" val="0"/>
              </a:ext>
            </a:extLst>
          </a:blip>
          <a:stretch>
            <a:fillRect/>
          </a:stretch>
        </p:blipFill>
        <p:spPr>
          <a:xfrm>
            <a:off x="2588986" y="3185414"/>
            <a:ext cx="3256471" cy="2872376"/>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03242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Backtracking</a:t>
            </a:r>
            <a:r>
              <a:rPr lang="en-US" dirty="0"/>
              <a:t> </a:t>
            </a:r>
            <a:r>
              <a:rPr lang="en-US" sz="2000" dirty="0"/>
              <a:t>(3 of 3)</a:t>
            </a:r>
          </a:p>
        </p:txBody>
      </p:sp>
      <p:sp>
        <p:nvSpPr>
          <p:cNvPr id="3" name="Content Placeholder 2"/>
          <p:cNvSpPr>
            <a:spLocks noGrp="1"/>
          </p:cNvSpPr>
          <p:nvPr>
            <p:ph idx="1"/>
          </p:nvPr>
        </p:nvSpPr>
        <p:spPr>
          <a:xfrm>
            <a:off x="628650" y="1656586"/>
            <a:ext cx="7886700" cy="307975"/>
          </a:xfrm>
        </p:spPr>
        <p:txBody>
          <a:bodyPr>
            <a:normAutofit/>
          </a:bodyPr>
          <a:lstStyle/>
          <a:p>
            <a:pPr marL="291600" indent="-291600">
              <a:spcBef>
                <a:spcPts val="1000"/>
              </a:spcBef>
            </a:pPr>
            <a:r>
              <a:rPr lang="en-US" dirty="0"/>
              <a:t>Sample backtracking algorithm:</a:t>
            </a:r>
          </a:p>
        </p:txBody>
      </p:sp>
      <p:sp>
        <p:nvSpPr>
          <p:cNvPr id="6" name="Content Placeholder 5"/>
          <p:cNvSpPr>
            <a:spLocks noGrp="1"/>
          </p:cNvSpPr>
          <p:nvPr>
            <p:ph idx="13"/>
          </p:nvPr>
        </p:nvSpPr>
        <p:spPr>
          <a:xfrm>
            <a:off x="762000" y="2209800"/>
            <a:ext cx="7753350" cy="3306428"/>
          </a:xfrm>
        </p:spPr>
        <p:txBody>
          <a:bodyPr>
            <a:normAutofit lnSpcReduction="10000"/>
          </a:bodyPr>
          <a:lstStyle/>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Create a new</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stack</a:t>
            </a:r>
            <a:endParaRPr lang="en-US" sz="1300" b="1"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Locate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character</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Bank Gothic Bold"/>
              </a:rPr>
              <a:t>'</a:t>
            </a:r>
            <a:r>
              <a:rPr lang="en-US" b="1" dirty="0">
                <a:latin typeface="Courier New Bold" panose="02070609020205020404" pitchFamily="49" charset="0"/>
                <a:ea typeface="MS Mincho"/>
                <a:cs typeface="Courier New" panose="02070309020205020404" pitchFamily="49" charset="0"/>
              </a:rPr>
              <a:t>P</a:t>
            </a:r>
            <a:r>
              <a:rPr lang="en-US" b="1" dirty="0">
                <a:latin typeface="Courier New Bold" panose="020706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grid</a:t>
            </a:r>
            <a:endParaRPr lang="en-US" sz="1300" b="1"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Push</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onto</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stack</a:t>
            </a:r>
            <a:endParaRPr lang="en-US" sz="1300" b="1"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While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stack</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empty</a:t>
            </a:r>
            <a:endParaRPr lang="en-US" sz="1300" b="1" dirty="0">
              <a:latin typeface="Bank Gothic Bold"/>
              <a:ea typeface="MS Mincho"/>
              <a:cs typeface="Bank Gothic Bold"/>
            </a:endParaRPr>
          </a:p>
          <a:p>
            <a:pPr marL="542925" lvl="1" indent="0">
              <a:spcBef>
                <a:spcPts val="0"/>
              </a:spcBef>
              <a:buNone/>
              <a:tabLst>
                <a:tab pos="2800350" algn="l"/>
              </a:tabLst>
            </a:pPr>
            <a:r>
              <a:rPr lang="en-US" b="1" dirty="0">
                <a:latin typeface="Courier New Bold" panose="02070609020205020404" pitchFamily="49" charset="0"/>
                <a:ea typeface="MS Mincho"/>
                <a:cs typeface="Courier New" panose="02070309020205020404" pitchFamily="49" charset="0"/>
              </a:rPr>
              <a:t>Pop</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(row,</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column),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off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stack</a:t>
            </a:r>
            <a:endParaRPr lang="en-US" sz="1300" b="1" dirty="0">
              <a:latin typeface="Bank Gothic Bold"/>
              <a:ea typeface="MS Mincho"/>
              <a:cs typeface="Bank Gothic Bold"/>
            </a:endParaRPr>
          </a:p>
          <a:p>
            <a:pPr marL="542925" lvl="1" indent="0">
              <a:spcBef>
                <a:spcPts val="0"/>
              </a:spcBef>
              <a:buNone/>
              <a:tabLst>
                <a:tab pos="2800350" algn="l"/>
              </a:tabLst>
            </a:pPr>
            <a:r>
              <a:rPr lang="en-US" b="1" dirty="0">
                <a:latin typeface="Courier New Bold" panose="02070609020205020404" pitchFamily="49" charset="0"/>
                <a:ea typeface="MS Mincho"/>
                <a:cs typeface="Courier New" panose="02070309020205020404" pitchFamily="49" charset="0"/>
              </a:rPr>
              <a:t>If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grid</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contains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Bank Gothic Bold"/>
              </a:rPr>
              <a:t>'</a:t>
            </a:r>
            <a:r>
              <a:rPr lang="en-US" b="1" dirty="0">
                <a:latin typeface="Courier New Bold" panose="02070609020205020404" pitchFamily="49" charset="0"/>
                <a:ea typeface="MS Mincho"/>
                <a:cs typeface="Courier New" panose="02070309020205020404" pitchFamily="49" charset="0"/>
              </a:rPr>
              <a:t>T</a:t>
            </a:r>
            <a:r>
              <a:rPr lang="en-US" b="1" dirty="0">
                <a:latin typeface="Courier New Bold" panose="020706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this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then</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A</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path</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has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been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found</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Return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True</a:t>
            </a:r>
            <a:endParaRPr lang="en-US" sz="1300" b="1" dirty="0">
              <a:latin typeface="Bank Gothic Bold"/>
              <a:ea typeface="MS Mincho"/>
              <a:cs typeface="Bank Gothic Bold"/>
            </a:endParaRPr>
          </a:p>
          <a:p>
            <a:pPr marL="542925" lvl="1" indent="0">
              <a:spcBef>
                <a:spcPts val="0"/>
              </a:spcBef>
              <a:buNone/>
              <a:tabLst>
                <a:tab pos="2800350" algn="l"/>
              </a:tabLst>
            </a:pPr>
            <a:r>
              <a:rPr lang="en-US" b="1" dirty="0">
                <a:latin typeface="Courier New Bold" panose="02070609020205020404" pitchFamily="49" charset="0"/>
                <a:ea typeface="MS Mincho"/>
                <a:cs typeface="Courier New" panose="02070309020205020404" pitchFamily="49" charset="0"/>
              </a:rPr>
              <a:t>Else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this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does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contain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dot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Place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dot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grid</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this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Examine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adjacent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cells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to</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this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one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and</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for</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each</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one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contains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space,</a:t>
            </a:r>
            <a:endParaRPr lang="en-US" sz="1300" b="1" dirty="0">
              <a:latin typeface="Bank Gothic Bold"/>
              <a:ea typeface="MS Mincho"/>
              <a:cs typeface="Bank Gothic Bold"/>
            </a:endParaRPr>
          </a:p>
          <a:p>
            <a:pPr marL="1251585" lvl="1" indent="0">
              <a:spcBef>
                <a:spcPts val="0"/>
              </a:spcBef>
              <a:buNone/>
              <a:tabLst>
                <a:tab pos="2743200" algn="l"/>
              </a:tabLst>
            </a:pPr>
            <a:r>
              <a:rPr lang="en-US" b="1" dirty="0">
                <a:latin typeface="Courier New Bold" panose="02070609020205020404" pitchFamily="49" charset="0"/>
                <a:ea typeface="MS Mincho"/>
                <a:cs typeface="Courier New" panose="02070309020205020404" pitchFamily="49" charset="0"/>
              </a:rPr>
              <a:t>push</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onto</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stack</a:t>
            </a:r>
            <a:endParaRPr lang="en-US" sz="1300" b="1"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Return</a:t>
            </a:r>
            <a:r>
              <a:rPr lang="en-US" b="1"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False</a:t>
            </a:r>
            <a:endParaRPr lang="en-US" b="1"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608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Memory Management </a:t>
            </a:r>
            <a:r>
              <a:rPr lang="en-US" sz="2000" dirty="0"/>
              <a:t>(1 of 6)</a:t>
            </a:r>
          </a:p>
        </p:txBody>
      </p:sp>
      <p:sp>
        <p:nvSpPr>
          <p:cNvPr id="3" name="Content Placeholder 2"/>
          <p:cNvSpPr>
            <a:spLocks noGrp="1"/>
          </p:cNvSpPr>
          <p:nvPr>
            <p:ph idx="1"/>
          </p:nvPr>
        </p:nvSpPr>
        <p:spPr>
          <a:xfrm>
            <a:off x="628650" y="1600200"/>
            <a:ext cx="7886700" cy="4267200"/>
          </a:xfrm>
        </p:spPr>
        <p:txBody>
          <a:bodyPr>
            <a:normAutofit/>
          </a:bodyPr>
          <a:lstStyle/>
          <a:p>
            <a:pPr marL="291600" indent="-291600">
              <a:spcBef>
                <a:spcPts val="1000"/>
              </a:spcBef>
            </a:pPr>
            <a:r>
              <a:rPr lang="en-US" dirty="0"/>
              <a:t>During a program’s execution, both its code and its data occupy computer memory</a:t>
            </a:r>
          </a:p>
          <a:p>
            <a:pPr marL="291600" indent="-291600">
              <a:spcBef>
                <a:spcPts val="1000"/>
              </a:spcBef>
            </a:pPr>
            <a:r>
              <a:rPr lang="en-US" dirty="0"/>
              <a:t>The computer’s run-time system must keep track of various details that are invisible to the program’s author, which include the following:</a:t>
            </a:r>
          </a:p>
          <a:p>
            <a:pPr lvl="1">
              <a:spcBef>
                <a:spcPts val="1000"/>
              </a:spcBef>
            </a:pPr>
            <a:r>
              <a:rPr lang="en-US" dirty="0"/>
              <a:t>Associating variables with data objects stored in memory so they can be located when these variables are referenced</a:t>
            </a:r>
          </a:p>
          <a:p>
            <a:pPr lvl="1">
              <a:spcBef>
                <a:spcPts val="1000"/>
              </a:spcBef>
            </a:pPr>
            <a:r>
              <a:rPr lang="en-US" dirty="0"/>
              <a:t>Remembering the address of the instruction in which a method or function is called, so control can return to the next instruction when that function or method finishes execution</a:t>
            </a:r>
          </a:p>
          <a:p>
            <a:pPr lvl="1">
              <a:spcBef>
                <a:spcPts val="1000"/>
              </a:spcBef>
            </a:pPr>
            <a:r>
              <a:rPr lang="en-US" dirty="0"/>
              <a:t>Allocating memory for a function’s or a method’s arguments and temporary variables, which exist only during the execution of that function or method</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598480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Memory Management </a:t>
            </a:r>
            <a:r>
              <a:rPr lang="en-US" sz="2000" dirty="0"/>
              <a:t>(2 of 6)</a:t>
            </a:r>
          </a:p>
        </p:txBody>
      </p:sp>
      <p:sp>
        <p:nvSpPr>
          <p:cNvPr id="3" name="Content Placeholder 2"/>
          <p:cNvSpPr>
            <a:spLocks noGrp="1"/>
          </p:cNvSpPr>
          <p:nvPr>
            <p:ph idx="1"/>
          </p:nvPr>
        </p:nvSpPr>
        <p:spPr>
          <a:xfrm>
            <a:off x="628650" y="1524000"/>
            <a:ext cx="7886700" cy="2043755"/>
          </a:xfrm>
        </p:spPr>
        <p:txBody>
          <a:bodyPr>
            <a:normAutofit fontScale="92500"/>
          </a:bodyPr>
          <a:lstStyle/>
          <a:p>
            <a:pPr marL="291600" indent="-291600">
              <a:spcBef>
                <a:spcPts val="1000"/>
              </a:spcBef>
            </a:pPr>
            <a:r>
              <a:rPr lang="en-US" dirty="0"/>
              <a:t>A Python compiler translates a Python program into bytecodes:</a:t>
            </a:r>
          </a:p>
          <a:p>
            <a:pPr lvl="1">
              <a:spcBef>
                <a:spcPts val="1000"/>
              </a:spcBef>
            </a:pPr>
            <a:r>
              <a:rPr lang="en-US" dirty="0"/>
              <a:t>A complex program called the Python Virtual Machine (PVM) then executes these</a:t>
            </a:r>
          </a:p>
          <a:p>
            <a:pPr marL="291600" indent="-291600">
              <a:spcBef>
                <a:spcPts val="1000"/>
              </a:spcBef>
            </a:pPr>
            <a:r>
              <a:rPr lang="en-US" dirty="0"/>
              <a:t>The memory, or </a:t>
            </a:r>
            <a:r>
              <a:rPr lang="en-US" i="1" dirty="0"/>
              <a:t>run-time environment</a:t>
            </a:r>
            <a:r>
              <a:rPr lang="en-US" dirty="0"/>
              <a:t>, controlled by the PVM is divided into six regions</a:t>
            </a:r>
          </a:p>
          <a:p>
            <a:pPr marL="291600" indent="-291600">
              <a:spcBef>
                <a:spcPts val="1000"/>
              </a:spcBef>
            </a:pPr>
            <a:r>
              <a:rPr lang="en-IN" b="1" dirty="0"/>
              <a:t>Figure 7-3: </a:t>
            </a:r>
            <a:r>
              <a:rPr lang="en-IN" dirty="0"/>
              <a:t>The architecture of a run-time environment</a:t>
            </a:r>
            <a:endParaRPr lang="en-US" dirty="0"/>
          </a:p>
        </p:txBody>
      </p:sp>
      <p:pic>
        <p:nvPicPr>
          <p:cNvPr id="7" name="Content Placeholder 6" descr="Illustration shows the architecture of a run-time environment. Figure shows 3 stacks of labeled boxes. The first stack is titled All Memory. It has the following labels. Object heap, unused memory, call stack, module and class variables, program which is bytecodes for all methods, and Python virtual machine. A box labeled location counter points to the first stack towards the box labeled program which is bytecodes for all methods. The second stack is titles call stack. It has the following labels. Method n activation record, series of dots, method 2 activation record, method 1 activation record. A box labeled base p t r points to the second stack toward the box labeled method n activation record. The third stack is titled activation record and has the following labels. Temporary variables, parameters, return address, prev base p t r, return value. The entire third stack points to the second stack toward the box lableled method 2 activation record."/>
          <p:cNvPicPr>
            <a:picLocks noGrp="1" noChangeAspect="1"/>
          </p:cNvPicPr>
          <p:nvPr>
            <p:ph idx="13"/>
          </p:nvPr>
        </p:nvPicPr>
        <p:blipFill>
          <a:blip r:embed="rId3" cstate="print">
            <a:extLst>
              <a:ext uri="{28A0092B-C50C-407E-A947-70E740481C1C}">
                <a14:useLocalDpi xmlns:a14="http://schemas.microsoft.com/office/drawing/2010/main" val="0"/>
              </a:ext>
            </a:extLst>
          </a:blip>
          <a:stretch>
            <a:fillRect/>
          </a:stretch>
        </p:blipFill>
        <p:spPr>
          <a:xfrm>
            <a:off x="2628599" y="3789738"/>
            <a:ext cx="2959189" cy="2220999"/>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42404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Memory Management </a:t>
            </a:r>
            <a:r>
              <a:rPr lang="en-US" sz="2000" dirty="0"/>
              <a:t>(3 of 6)</a:t>
            </a:r>
          </a:p>
        </p:txBody>
      </p:sp>
      <p:sp>
        <p:nvSpPr>
          <p:cNvPr id="3" name="Content Placeholder 2"/>
          <p:cNvSpPr>
            <a:spLocks noGrp="1"/>
          </p:cNvSpPr>
          <p:nvPr>
            <p:ph idx="1"/>
          </p:nvPr>
        </p:nvSpPr>
        <p:spPr>
          <a:xfrm>
            <a:off x="628650" y="1676400"/>
            <a:ext cx="7886700" cy="2971800"/>
          </a:xfrm>
        </p:spPr>
        <p:txBody>
          <a:bodyPr>
            <a:normAutofit/>
          </a:bodyPr>
          <a:lstStyle/>
          <a:p>
            <a:pPr marL="291600" indent="-291600">
              <a:spcBef>
                <a:spcPts val="1000"/>
              </a:spcBef>
            </a:pPr>
            <a:r>
              <a:rPr lang="en-US" dirty="0"/>
              <a:t>The activation records shown in the figure contain two types of information:</a:t>
            </a:r>
          </a:p>
          <a:p>
            <a:pPr lvl="1">
              <a:spcBef>
                <a:spcPts val="1000"/>
              </a:spcBef>
            </a:pPr>
            <a:r>
              <a:rPr lang="en-US" dirty="0"/>
              <a:t>The regions labeled Temporary Variables and Parameters hold data needed by the executing subroutine</a:t>
            </a:r>
          </a:p>
          <a:p>
            <a:pPr lvl="1">
              <a:spcBef>
                <a:spcPts val="1000"/>
              </a:spcBef>
            </a:pPr>
            <a:r>
              <a:rPr lang="en-US" dirty="0"/>
              <a:t>The remaining regions hold data that allow the PVM to pass control backward from the currently executing subroutine to the subroutine that called it</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75757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Memory Management </a:t>
            </a:r>
            <a:r>
              <a:rPr lang="en-US" sz="2000" dirty="0"/>
              <a:t>(4 of 6)</a:t>
            </a:r>
          </a:p>
        </p:txBody>
      </p:sp>
      <p:sp>
        <p:nvSpPr>
          <p:cNvPr id="3" name="Content Placeholder 2"/>
          <p:cNvSpPr>
            <a:spLocks noGrp="1"/>
          </p:cNvSpPr>
          <p:nvPr>
            <p:ph idx="1"/>
          </p:nvPr>
        </p:nvSpPr>
        <p:spPr>
          <a:xfrm>
            <a:off x="628650" y="1683577"/>
            <a:ext cx="7886700" cy="3736975"/>
          </a:xfrm>
        </p:spPr>
        <p:txBody>
          <a:bodyPr>
            <a:normAutofit fontScale="92500" lnSpcReduction="20000"/>
          </a:bodyPr>
          <a:lstStyle/>
          <a:p>
            <a:pPr marL="291600" indent="-291600">
              <a:lnSpc>
                <a:spcPct val="110000"/>
              </a:lnSpc>
              <a:spcBef>
                <a:spcPts val="1000"/>
              </a:spcBef>
            </a:pPr>
            <a:r>
              <a:rPr lang="en-US" sz="2300" dirty="0"/>
              <a:t>When a subroutine is called, the PVM performs the following steps:</a:t>
            </a:r>
          </a:p>
          <a:p>
            <a:pPr lvl="1">
              <a:lnSpc>
                <a:spcPct val="110000"/>
              </a:lnSpc>
              <a:spcBef>
                <a:spcPts val="1000"/>
              </a:spcBef>
            </a:pPr>
            <a:r>
              <a:rPr lang="en-US" sz="1900" dirty="0"/>
              <a:t>Creates the subroutine’s activation record and pushes it onto the call stack</a:t>
            </a:r>
          </a:p>
          <a:p>
            <a:pPr lvl="1">
              <a:lnSpc>
                <a:spcPct val="110000"/>
              </a:lnSpc>
              <a:spcBef>
                <a:spcPts val="1000"/>
              </a:spcBef>
            </a:pPr>
            <a:r>
              <a:rPr lang="en-US" sz="1900" dirty="0"/>
              <a:t>Saves the </a:t>
            </a:r>
            <a:r>
              <a:rPr lang="en-US" sz="1900" b="1" dirty="0">
                <a:latin typeface="Courier New" panose="02070309020205020404" pitchFamily="49" charset="0"/>
                <a:cs typeface="Courier New" panose="02070309020205020404" pitchFamily="49" charset="0"/>
              </a:rPr>
              <a:t>basePtr</a:t>
            </a:r>
            <a:r>
              <a:rPr lang="en-US" sz="1900" b="1" dirty="0"/>
              <a:t>’s</a:t>
            </a:r>
            <a:r>
              <a:rPr lang="en-US" sz="1900" dirty="0"/>
              <a:t> current value in the region labeled </a:t>
            </a:r>
            <a:r>
              <a:rPr lang="en-US" sz="1900" b="1" dirty="0">
                <a:latin typeface="Courier New" panose="02070309020205020404" pitchFamily="49" charset="0"/>
                <a:cs typeface="Courier New" panose="02070309020205020404" pitchFamily="49" charset="0"/>
              </a:rPr>
              <a:t>Prev basePtr </a:t>
            </a:r>
            <a:r>
              <a:rPr lang="en-US" sz="1900" dirty="0"/>
              <a:t>and sets the </a:t>
            </a:r>
            <a:r>
              <a:rPr lang="en-US" sz="1900" b="1" dirty="0">
                <a:latin typeface="Courier New" panose="02070309020205020404" pitchFamily="49" charset="0"/>
                <a:cs typeface="Courier New" panose="02070309020205020404" pitchFamily="49" charset="0"/>
              </a:rPr>
              <a:t>basePtr</a:t>
            </a:r>
            <a:r>
              <a:rPr lang="en-US" sz="1900" dirty="0"/>
              <a:t> to the new activation record’s base</a:t>
            </a:r>
          </a:p>
          <a:p>
            <a:pPr lvl="1">
              <a:lnSpc>
                <a:spcPct val="110000"/>
              </a:lnSpc>
              <a:spcBef>
                <a:spcPts val="1000"/>
              </a:spcBef>
            </a:pPr>
            <a:r>
              <a:rPr lang="en-US" sz="1900" dirty="0"/>
              <a:t>Saves the </a:t>
            </a:r>
            <a:r>
              <a:rPr lang="en-US" sz="1900" b="1" dirty="0">
                <a:latin typeface="Courier New" panose="02070309020205020404" pitchFamily="49" charset="0"/>
                <a:cs typeface="Courier New" panose="02070309020205020404" pitchFamily="49" charset="0"/>
              </a:rPr>
              <a:t>locationCounter</a:t>
            </a:r>
            <a:r>
              <a:rPr lang="en-US" sz="1900" b="1" dirty="0"/>
              <a:t>’s</a:t>
            </a:r>
            <a:r>
              <a:rPr lang="en-US" sz="1900" dirty="0"/>
              <a:t> current value in the region labeled </a:t>
            </a:r>
            <a:r>
              <a:rPr lang="en-US" sz="1900" b="1" dirty="0">
                <a:latin typeface="Courier New" panose="02070309020205020404" pitchFamily="49" charset="0"/>
                <a:cs typeface="Courier New" panose="02070309020205020404" pitchFamily="49" charset="0"/>
              </a:rPr>
              <a:t>Return Address </a:t>
            </a:r>
            <a:r>
              <a:rPr lang="en-US" sz="1900" dirty="0"/>
              <a:t>and sets the </a:t>
            </a:r>
            <a:r>
              <a:rPr lang="en-US" sz="1900" b="1" dirty="0">
                <a:latin typeface="Courier New" panose="02070309020205020404" pitchFamily="49" charset="0"/>
                <a:cs typeface="Courier New" panose="02070309020205020404" pitchFamily="49" charset="0"/>
              </a:rPr>
              <a:t>locationCounter</a:t>
            </a:r>
            <a:r>
              <a:rPr lang="en-US" sz="1900" dirty="0"/>
              <a:t> to the first instruction of the called subroutine</a:t>
            </a:r>
          </a:p>
          <a:p>
            <a:pPr lvl="1">
              <a:lnSpc>
                <a:spcPct val="110000"/>
              </a:lnSpc>
              <a:spcBef>
                <a:spcPts val="1000"/>
              </a:spcBef>
            </a:pPr>
            <a:r>
              <a:rPr lang="en-US" sz="1900" dirty="0"/>
              <a:t>Copies the calling parameters into the region labeled </a:t>
            </a:r>
            <a:r>
              <a:rPr lang="en-US" sz="1900" b="1" dirty="0">
                <a:latin typeface="Courier New" panose="02070309020205020404" pitchFamily="49" charset="0"/>
                <a:cs typeface="Courier New" panose="02070309020205020404" pitchFamily="49" charset="0"/>
              </a:rPr>
              <a:t>Parameters</a:t>
            </a:r>
          </a:p>
          <a:p>
            <a:pPr lvl="1">
              <a:lnSpc>
                <a:spcPct val="110000"/>
              </a:lnSpc>
              <a:spcBef>
                <a:spcPts val="1000"/>
              </a:spcBef>
            </a:pPr>
            <a:r>
              <a:rPr lang="en-US" sz="1900" dirty="0"/>
              <a:t>Starts executing the called subroutine at the location indicated by the </a:t>
            </a:r>
            <a:r>
              <a:rPr lang="en-US" sz="1900" b="1" dirty="0">
                <a:latin typeface="Courier New" panose="02070309020205020404" pitchFamily="49" charset="0"/>
                <a:cs typeface="Courier New" panose="02070309020205020404" pitchFamily="49" charset="0"/>
              </a:rPr>
              <a:t>locationCounter</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604385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Memory Management </a:t>
            </a:r>
            <a:r>
              <a:rPr lang="en-US" sz="2000" dirty="0"/>
              <a:t>(5 of 6)</a:t>
            </a:r>
          </a:p>
        </p:txBody>
      </p:sp>
      <p:sp>
        <p:nvSpPr>
          <p:cNvPr id="3" name="Content Placeholder 2"/>
          <p:cNvSpPr>
            <a:spLocks noGrp="1"/>
          </p:cNvSpPr>
          <p:nvPr>
            <p:ph idx="1"/>
          </p:nvPr>
        </p:nvSpPr>
        <p:spPr>
          <a:xfrm>
            <a:off x="628650" y="1600200"/>
            <a:ext cx="7886700" cy="2898775"/>
          </a:xfrm>
        </p:spPr>
        <p:txBody>
          <a:bodyPr>
            <a:normAutofit/>
          </a:bodyPr>
          <a:lstStyle/>
          <a:p>
            <a:pPr marL="291600" indent="-291600">
              <a:spcBef>
                <a:spcPts val="1000"/>
              </a:spcBef>
            </a:pPr>
            <a:r>
              <a:rPr lang="en-US" dirty="0"/>
              <a:t>When a subroutine has finished executing, the PVM performs the following steps:</a:t>
            </a:r>
          </a:p>
          <a:p>
            <a:pPr lvl="1">
              <a:spcBef>
                <a:spcPts val="1000"/>
              </a:spcBef>
            </a:pPr>
            <a:r>
              <a:rPr lang="en-US" dirty="0"/>
              <a:t>Reestablishes the settings needed by the calling subroutine by restoring the values of the </a:t>
            </a:r>
            <a:r>
              <a:rPr lang="en-US" b="1" dirty="0">
                <a:latin typeface="Courier New" panose="02070309020205020404" pitchFamily="49" charset="0"/>
                <a:cs typeface="Courier New" panose="02070309020205020404" pitchFamily="49" charset="0"/>
              </a:rPr>
              <a:t>locationCounter</a:t>
            </a:r>
            <a:r>
              <a:rPr lang="en-US" dirty="0"/>
              <a:t> and the </a:t>
            </a:r>
            <a:r>
              <a:rPr lang="en-US" b="1" dirty="0">
                <a:latin typeface="Courier New" panose="02070309020205020404" pitchFamily="49" charset="0"/>
                <a:cs typeface="Courier New" panose="02070309020205020404" pitchFamily="49" charset="0"/>
              </a:rPr>
              <a:t>basePtr</a:t>
            </a:r>
            <a:r>
              <a:rPr lang="en-US" dirty="0"/>
              <a:t> from values stored in the activation record</a:t>
            </a:r>
          </a:p>
          <a:p>
            <a:pPr lvl="1">
              <a:spcBef>
                <a:spcPts val="1000"/>
              </a:spcBef>
            </a:pPr>
            <a:r>
              <a:rPr lang="en-US" dirty="0"/>
              <a:t>Pops the activation record from the call stack</a:t>
            </a:r>
          </a:p>
          <a:p>
            <a:pPr lvl="1">
              <a:spcBef>
                <a:spcPts val="1000"/>
              </a:spcBef>
            </a:pPr>
            <a:r>
              <a:rPr lang="en-US" dirty="0"/>
              <a:t>Resumes execution of the calling subroutine at the location indicated by the </a:t>
            </a:r>
            <a:r>
              <a:rPr lang="en-US" b="1" dirty="0">
                <a:latin typeface="Courier New" panose="02070309020205020404" pitchFamily="49" charset="0"/>
                <a:cs typeface="Courier New" panose="02070309020205020404" pitchFamily="49" charset="0"/>
              </a:rPr>
              <a:t>locationCounter</a:t>
            </a:r>
            <a:endParaRPr lang="en-US" sz="1600" b="1"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168669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Memory Management </a:t>
            </a:r>
            <a:r>
              <a:rPr lang="en-US" sz="2000" dirty="0"/>
              <a:t>(6 of 6)</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7-4: </a:t>
            </a:r>
            <a:r>
              <a:rPr lang="en-IN" dirty="0"/>
              <a:t>The call stack needed to execute factorial(4)</a:t>
            </a:r>
            <a:endParaRPr lang="en-US" sz="1600" dirty="0">
              <a:latin typeface="Courier New" panose="02070309020205020404" pitchFamily="49" charset="0"/>
              <a:cs typeface="Courier New" panose="02070309020205020404" pitchFamily="49" charset="0"/>
            </a:endParaRPr>
          </a:p>
        </p:txBody>
      </p:sp>
      <p:pic>
        <p:nvPicPr>
          <p:cNvPr id="7" name="Content Placeholder 6" descr="Illustration shows the call stack needed to execute factorial of 4. Figure shows a stack of 4 boxes, each containing the return value and the value of n. The boxes are connected pointing bottom to top. In the activation record for factorial of 4, n is 4. In the activation record for factorial of 3, n is 3. In the activation record for factorial of 2, n is 2. In the activation record for factorial of 1, n is 1."/>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1964210" y="2426361"/>
            <a:ext cx="4977044" cy="3463602"/>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49618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Implementations of Stacks</a:t>
            </a:r>
          </a:p>
        </p:txBody>
      </p:sp>
      <p:sp>
        <p:nvSpPr>
          <p:cNvPr id="3" name="Content Placeholder 2"/>
          <p:cNvSpPr>
            <a:spLocks noGrp="1"/>
          </p:cNvSpPr>
          <p:nvPr>
            <p:ph idx="1"/>
          </p:nvPr>
        </p:nvSpPr>
        <p:spPr>
          <a:xfrm>
            <a:off x="628650" y="1752600"/>
            <a:ext cx="7886700" cy="1374775"/>
          </a:xfrm>
        </p:spPr>
        <p:txBody>
          <a:bodyPr/>
          <a:lstStyle/>
          <a:p>
            <a:pPr marL="291600" indent="-291600">
              <a:spcBef>
                <a:spcPts val="1000"/>
              </a:spcBef>
            </a:pPr>
            <a:r>
              <a:rPr lang="en-US" dirty="0"/>
              <a:t>Stacks are implemented easily using arrays or linked structures</a:t>
            </a:r>
          </a:p>
          <a:p>
            <a:pPr marL="291600" indent="-291600">
              <a:spcBef>
                <a:spcPts val="1000"/>
              </a:spcBef>
            </a:pPr>
            <a:r>
              <a:rPr lang="en-US" dirty="0"/>
              <a:t>The following sections show that there are trade-offs involved in using these two recurring approaches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509859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Test Driver</a:t>
            </a:r>
          </a:p>
        </p:txBody>
      </p:sp>
      <p:sp>
        <p:nvSpPr>
          <p:cNvPr id="3" name="Content Placeholder 2"/>
          <p:cNvSpPr>
            <a:spLocks noGrp="1"/>
          </p:cNvSpPr>
          <p:nvPr>
            <p:ph idx="1"/>
          </p:nvPr>
        </p:nvSpPr>
        <p:spPr>
          <a:xfrm>
            <a:off x="628650" y="1676400"/>
            <a:ext cx="7886700" cy="3279775"/>
          </a:xfrm>
        </p:spPr>
        <p:txBody>
          <a:bodyPr>
            <a:normAutofit/>
          </a:bodyPr>
          <a:lstStyle/>
          <a:p>
            <a:pPr marL="291600" indent="-291600">
              <a:spcBef>
                <a:spcPts val="1000"/>
              </a:spcBef>
            </a:pPr>
            <a:r>
              <a:rPr lang="en-US" dirty="0"/>
              <a:t>Two stack implementations are the classes </a:t>
            </a:r>
            <a:r>
              <a:rPr lang="en-US" b="1" dirty="0">
                <a:latin typeface="Courier New" panose="02070309020205020404" pitchFamily="49" charset="0"/>
                <a:cs typeface="Courier New" panose="02070309020205020404" pitchFamily="49" charset="0"/>
              </a:rPr>
              <a:t>ArrayStack</a:t>
            </a:r>
            <a:r>
              <a:rPr lang="en-US" dirty="0"/>
              <a:t> and </a:t>
            </a:r>
            <a:r>
              <a:rPr lang="en-US" b="1" dirty="0">
                <a:latin typeface="Courier New" panose="02070309020205020404" pitchFamily="49" charset="0"/>
                <a:cs typeface="Courier New" panose="02070309020205020404" pitchFamily="49" charset="0"/>
              </a:rPr>
              <a:t>LinkedStack</a:t>
            </a:r>
          </a:p>
          <a:p>
            <a:pPr marL="291600" indent="-291600">
              <a:spcBef>
                <a:spcPts val="1000"/>
              </a:spcBef>
            </a:pPr>
            <a:r>
              <a:rPr lang="en-US" dirty="0"/>
              <a:t>Before you develop these, write a short tester program that shows how you can test them immediately</a:t>
            </a:r>
          </a:p>
          <a:p>
            <a:pPr marL="291600" indent="-291600">
              <a:spcBef>
                <a:spcPts val="1000"/>
              </a:spcBef>
            </a:pPr>
            <a:r>
              <a:rPr lang="en-US" dirty="0"/>
              <a:t>The code in this program exercises all the methods in any stack implementation and gives you an initial sense that they are working as expected:</a:t>
            </a:r>
          </a:p>
          <a:p>
            <a:pPr lvl="1">
              <a:spcBef>
                <a:spcPts val="1000"/>
              </a:spcBef>
            </a:pPr>
            <a:r>
              <a:rPr lang="en-US" dirty="0"/>
              <a:t>See the text for the code along with the output</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56992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Adding Stacks to the Collection Hierarchy </a:t>
            </a:r>
            <a:r>
              <a:rPr lang="en-US" sz="2000" dirty="0"/>
              <a:t>(1 of 2)</a:t>
            </a:r>
          </a:p>
        </p:txBody>
      </p:sp>
      <p:sp>
        <p:nvSpPr>
          <p:cNvPr id="3" name="Content Placeholder 2"/>
          <p:cNvSpPr>
            <a:spLocks noGrp="1"/>
          </p:cNvSpPr>
          <p:nvPr>
            <p:ph idx="1"/>
          </p:nvPr>
        </p:nvSpPr>
        <p:spPr>
          <a:xfrm>
            <a:off x="628650" y="1447800"/>
            <a:ext cx="7886700" cy="4114800"/>
          </a:xfrm>
        </p:spPr>
        <p:txBody>
          <a:bodyPr>
            <a:normAutofit/>
          </a:bodyPr>
          <a:lstStyle/>
          <a:p>
            <a:pPr marL="291600" indent="-291600">
              <a:spcBef>
                <a:spcPts val="1000"/>
              </a:spcBef>
            </a:pPr>
            <a:r>
              <a:rPr lang="en-US" b="1" dirty="0">
                <a:latin typeface="Courier New Bold" panose="02070609020205020404" pitchFamily="49" charset="0"/>
                <a:ea typeface="MS Mincho"/>
                <a:cs typeface="Courier New" panose="02070309020205020404" pitchFamily="49" charset="0"/>
              </a:rPr>
              <a:t>ArrayStack</a:t>
            </a:r>
            <a:r>
              <a:rPr lang="en-US" dirty="0">
                <a:latin typeface="Courier New Bold" panose="02070609020205020404" pitchFamily="49" charset="0"/>
                <a:ea typeface="MS Mincho"/>
                <a:cs typeface="Courier New" panose="02070309020205020404" pitchFamily="49" charset="0"/>
              </a:rPr>
              <a:t> </a:t>
            </a:r>
            <a:r>
              <a:rPr lang="en-US" dirty="0">
                <a:latin typeface="Open Sans"/>
                <a:ea typeface="MS Mincho"/>
                <a:cs typeface="Courier New" panose="02070309020205020404" pitchFamily="49" charset="0"/>
              </a:rPr>
              <a:t>and</a:t>
            </a:r>
            <a:r>
              <a:rPr lang="en-US" dirty="0">
                <a:latin typeface="Courier New Bold" panose="02070609020205020404" pitchFamily="49" charset="0"/>
                <a:ea typeface="MS Mincho"/>
                <a:cs typeface="Courier New" panose="02070309020205020404" pitchFamily="49" charset="0"/>
              </a:rPr>
              <a:t> </a:t>
            </a:r>
            <a:r>
              <a:rPr lang="en-US" b="1" dirty="0">
                <a:latin typeface="Courier New Bold" panose="02070609020205020404" pitchFamily="49" charset="0"/>
                <a:ea typeface="MS Mincho"/>
                <a:cs typeface="Courier New" panose="02070309020205020404" pitchFamily="49" charset="0"/>
              </a:rPr>
              <a:t>LinkedStack</a:t>
            </a:r>
          </a:p>
          <a:p>
            <a:pPr lvl="1">
              <a:spcBef>
                <a:spcPts val="1000"/>
              </a:spcBef>
            </a:pPr>
            <a:r>
              <a:rPr lang="en-US" dirty="0"/>
              <a:t>Implement the same interface, called </a:t>
            </a:r>
            <a:r>
              <a:rPr lang="en-US" b="1" dirty="0">
                <a:latin typeface="Courier New" panose="02070309020205020404" pitchFamily="49" charset="0"/>
                <a:cs typeface="Courier New" panose="02070309020205020404" pitchFamily="49" charset="0"/>
              </a:rPr>
              <a:t>StackInterface</a:t>
            </a:r>
          </a:p>
          <a:p>
            <a:pPr lvl="1">
              <a:spcBef>
                <a:spcPts val="1000"/>
              </a:spcBef>
            </a:pPr>
            <a:r>
              <a:rPr lang="en-US" dirty="0"/>
              <a:t>Are subclasses of the </a:t>
            </a:r>
            <a:r>
              <a:rPr lang="en-US" b="1" dirty="0">
                <a:latin typeface="Courier New" panose="02070309020205020404" pitchFamily="49" charset="0"/>
                <a:cs typeface="Courier New" panose="02070309020205020404" pitchFamily="49" charset="0"/>
              </a:rPr>
              <a:t>AbstractStack</a:t>
            </a:r>
            <a:r>
              <a:rPr lang="en-US" dirty="0"/>
              <a:t> class, which in turn is a subclass of </a:t>
            </a:r>
            <a:r>
              <a:rPr lang="en-US" b="1" dirty="0">
                <a:latin typeface="Courier New" panose="02070309020205020404" pitchFamily="49" charset="0"/>
                <a:cs typeface="Courier New" panose="02070309020205020404" pitchFamily="49" charset="0"/>
              </a:rPr>
              <a:t>AbstractCollection</a:t>
            </a:r>
          </a:p>
          <a:p>
            <a:pPr lvl="1">
              <a:spcBef>
                <a:spcPts val="1000"/>
              </a:spcBef>
            </a:pPr>
            <a:r>
              <a:rPr lang="en-US" dirty="0"/>
              <a:t>Inherit the </a:t>
            </a:r>
            <a:r>
              <a:rPr lang="en-US" b="1" dirty="0">
                <a:latin typeface="Courier New" panose="02070309020205020404" pitchFamily="49" charset="0"/>
                <a:cs typeface="Courier New" panose="02070309020205020404" pitchFamily="49" charset="0"/>
              </a:rPr>
              <a:t>add</a:t>
            </a:r>
            <a:r>
              <a:rPr lang="en-US" dirty="0"/>
              <a:t> method from the </a:t>
            </a:r>
            <a:r>
              <a:rPr lang="en-US" b="1" dirty="0">
                <a:latin typeface="Courier New" panose="02070309020205020404" pitchFamily="49" charset="0"/>
                <a:cs typeface="Courier New" panose="02070309020205020404" pitchFamily="49" charset="0"/>
              </a:rPr>
              <a:t>AbstractStack</a:t>
            </a:r>
            <a:r>
              <a:rPr lang="en-US" dirty="0"/>
              <a:t> class, the </a:t>
            </a:r>
            <a:r>
              <a:rPr lang="en-US" b="1" dirty="0">
                <a:latin typeface="Courier New" panose="02070309020205020404" pitchFamily="49" charset="0"/>
                <a:cs typeface="Courier New" panose="02070309020205020404" pitchFamily="49" charset="0"/>
              </a:rPr>
              <a:t>size</a:t>
            </a:r>
            <a:r>
              <a:rPr lang="en-US" dirty="0"/>
              <a:t> variable, and the methods </a:t>
            </a:r>
            <a:r>
              <a:rPr lang="en-US" b="1" dirty="0">
                <a:latin typeface="Courier New" panose="02070309020205020404" pitchFamily="49" charset="0"/>
                <a:cs typeface="Courier New" panose="02070309020205020404" pitchFamily="49" charset="0"/>
              </a:rPr>
              <a:t>isEmpty</a:t>
            </a:r>
            <a:r>
              <a:rPr lang="en-US" dirty="0"/>
              <a:t>, </a:t>
            </a:r>
            <a:r>
              <a:rPr lang="en-US" b="1" dirty="0">
                <a:latin typeface="Courier New" panose="02070309020205020404" pitchFamily="49" charset="0"/>
                <a:cs typeface="Courier New" panose="02070309020205020404" pitchFamily="49" charset="0"/>
              </a:rPr>
              <a:t>__len__</a:t>
            </a:r>
            <a:r>
              <a:rPr lang="en-US" dirty="0"/>
              <a:t>, </a:t>
            </a:r>
            <a:r>
              <a:rPr lang="en-US" b="1" dirty="0">
                <a:latin typeface="Courier New" panose="02070309020205020404" pitchFamily="49" charset="0"/>
                <a:cs typeface="Courier New" panose="02070309020205020404" pitchFamily="49" charset="0"/>
              </a:rPr>
              <a:t>__str__, __add__, </a:t>
            </a:r>
            <a:r>
              <a:rPr lang="en-US" dirty="0"/>
              <a:t>and </a:t>
            </a:r>
            <a:r>
              <a:rPr lang="en-US" b="1" dirty="0">
                <a:latin typeface="Courier New" panose="02070309020205020404" pitchFamily="49" charset="0"/>
                <a:cs typeface="Courier New" panose="02070309020205020404" pitchFamily="49" charset="0"/>
              </a:rPr>
              <a:t>__eq__ </a:t>
            </a:r>
            <a:r>
              <a:rPr lang="en-US" dirty="0"/>
              <a:t>from </a:t>
            </a:r>
            <a:r>
              <a:rPr lang="en-US" b="1" dirty="0">
                <a:latin typeface="Courier New" panose="02070309020205020404" pitchFamily="49" charset="0"/>
                <a:cs typeface="Courier New" panose="02070309020205020404" pitchFamily="49" charset="0"/>
              </a:rPr>
              <a:t>AbstractCollection</a:t>
            </a:r>
            <a:r>
              <a:rPr lang="en-US" dirty="0"/>
              <a:t>	</a:t>
            </a:r>
          </a:p>
          <a:p>
            <a:pPr marL="291600" indent="-291600">
              <a:spcBef>
                <a:spcPts val="1000"/>
              </a:spcBef>
            </a:pPr>
            <a:r>
              <a:rPr lang="en-US" dirty="0">
                <a:latin typeface="Open Sans Regular"/>
              </a:rPr>
              <a:t>The only methods that need to be implemented in </a:t>
            </a:r>
            <a:r>
              <a:rPr lang="en-US" b="1" dirty="0">
                <a:latin typeface="Courier New" panose="02070309020205020404" pitchFamily="49" charset="0"/>
                <a:cs typeface="Courier New" panose="02070309020205020404" pitchFamily="49" charset="0"/>
              </a:rPr>
              <a:t>ArrayStack</a:t>
            </a:r>
            <a:r>
              <a:rPr lang="en-US" dirty="0">
                <a:latin typeface="Open Sans Regular"/>
              </a:rPr>
              <a:t> and </a:t>
            </a:r>
            <a:r>
              <a:rPr lang="en-US" b="1" dirty="0">
                <a:latin typeface="Courier New" panose="02070309020205020404" pitchFamily="49" charset="0"/>
                <a:cs typeface="Courier New" panose="02070309020205020404" pitchFamily="49" charset="0"/>
              </a:rPr>
              <a:t>LinkedStack</a:t>
            </a:r>
            <a:r>
              <a:rPr lang="en-US" dirty="0">
                <a:latin typeface="Open Sans Regular"/>
              </a:rPr>
              <a:t> are </a:t>
            </a:r>
            <a:r>
              <a:rPr lang="en-US" b="1" dirty="0">
                <a:latin typeface="Courier New" panose="02070309020205020404" pitchFamily="49" charset="0"/>
                <a:cs typeface="Courier New" panose="02070309020205020404" pitchFamily="49" charset="0"/>
              </a:rPr>
              <a:t>_init_, peek, push, pop, clear,</a:t>
            </a:r>
            <a:r>
              <a:rPr lang="en-US" dirty="0">
                <a:latin typeface="Open Sans Regular"/>
              </a:rPr>
              <a:t> and </a:t>
            </a:r>
            <a:r>
              <a:rPr lang="en-US" b="1" dirty="0">
                <a:latin typeface="Courier New" panose="02070309020205020404" pitchFamily="49" charset="0"/>
                <a:cs typeface="Courier New" panose="02070309020205020404" pitchFamily="49" charset="0"/>
              </a:rPr>
              <a:t>_iter_</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17084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Adding Stacks to the Collection Hierarchy </a:t>
            </a:r>
            <a:r>
              <a:rPr lang="en-US" sz="2000" dirty="0"/>
              <a:t>(2 of 2)</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7-5: </a:t>
            </a:r>
            <a:r>
              <a:rPr lang="en-IN" dirty="0"/>
              <a:t>The stack resources in the collection hierarchy</a:t>
            </a:r>
            <a:endParaRPr lang="en-US" b="1" dirty="0">
              <a:latin typeface="Courier New" panose="02070309020205020404" pitchFamily="49" charset="0"/>
              <a:cs typeface="Courier New" panose="02070309020205020404" pitchFamily="49" charset="0"/>
            </a:endParaRPr>
          </a:p>
        </p:txBody>
      </p:sp>
      <p:pic>
        <p:nvPicPr>
          <p:cNvPr id="7" name="Content Placeholder 6" descr="Illustration shows the stack resources in the collection hierarchy. Figure shows labeled boxes that are connected with arrows from bottom to top. Linked Stack and Array Stack point to Stack Interface with dashed arrows. Linked Stack and Array Stack point to Abstract Stack. Abstract Stack points to Abstract Collection."/>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2918618" y="2529778"/>
            <a:ext cx="3306763" cy="3306763"/>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868488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Array Implementation</a:t>
            </a:r>
          </a:p>
        </p:txBody>
      </p:sp>
      <p:sp>
        <p:nvSpPr>
          <p:cNvPr id="3" name="Content Placeholder 2"/>
          <p:cNvSpPr>
            <a:spLocks noGrp="1"/>
          </p:cNvSpPr>
          <p:nvPr>
            <p:ph idx="1"/>
          </p:nvPr>
        </p:nvSpPr>
        <p:spPr>
          <a:xfrm>
            <a:off x="628650" y="1447800"/>
            <a:ext cx="7886700" cy="1828800"/>
          </a:xfrm>
        </p:spPr>
        <p:txBody>
          <a:bodyPr>
            <a:normAutofit/>
          </a:bodyPr>
          <a:lstStyle/>
          <a:p>
            <a:pPr marL="291600" indent="-291600">
              <a:spcBef>
                <a:spcPts val="1000"/>
              </a:spcBef>
            </a:pPr>
            <a:r>
              <a:rPr lang="en-US" dirty="0"/>
              <a:t>The first implementation is built around an array called </a:t>
            </a:r>
            <a:r>
              <a:rPr lang="en-US" b="1" dirty="0">
                <a:latin typeface="Courier New" panose="02070309020205020404" pitchFamily="49" charset="0"/>
                <a:cs typeface="Courier New" panose="02070309020205020404" pitchFamily="49" charset="0"/>
              </a:rPr>
              <a:t>self.items</a:t>
            </a:r>
            <a:r>
              <a:rPr lang="en-US" dirty="0"/>
              <a:t> and an integer called </a:t>
            </a:r>
            <a:r>
              <a:rPr lang="en-US" b="1" dirty="0">
                <a:latin typeface="Courier New" panose="02070309020205020404" pitchFamily="49" charset="0"/>
                <a:cs typeface="Courier New" panose="02070309020205020404" pitchFamily="49" charset="0"/>
              </a:rPr>
              <a:t>self.size</a:t>
            </a:r>
          </a:p>
          <a:p>
            <a:pPr marL="291600" indent="-291600">
              <a:spcBef>
                <a:spcPts val="1000"/>
              </a:spcBef>
            </a:pPr>
            <a:r>
              <a:rPr lang="en-US" dirty="0"/>
              <a:t>Figure 7.6 shows how </a:t>
            </a:r>
            <a:r>
              <a:rPr lang="en-US" b="1" dirty="0">
                <a:latin typeface="Courier New" panose="02070309020205020404" pitchFamily="49" charset="0"/>
                <a:cs typeface="Courier New" panose="02070309020205020404" pitchFamily="49" charset="0"/>
              </a:rPr>
              <a:t>self.items</a:t>
            </a:r>
            <a:r>
              <a:rPr lang="en-US" dirty="0"/>
              <a:t> and </a:t>
            </a:r>
            <a:r>
              <a:rPr lang="en-US" b="1" dirty="0">
                <a:latin typeface="Courier New" panose="02070309020205020404" pitchFamily="49" charset="0"/>
                <a:cs typeface="Courier New" panose="02070309020205020404" pitchFamily="49" charset="0"/>
              </a:rPr>
              <a:t>self.size</a:t>
            </a:r>
            <a:r>
              <a:rPr lang="en-US" dirty="0"/>
              <a:t> appear when four items are on the stacks</a:t>
            </a:r>
          </a:p>
          <a:p>
            <a:pPr marL="291600" indent="-291600">
              <a:spcBef>
                <a:spcPts val="1000"/>
              </a:spcBef>
            </a:pPr>
            <a:r>
              <a:rPr lang="en-IN" b="1" dirty="0"/>
              <a:t>Figure 7-6: </a:t>
            </a:r>
            <a:r>
              <a:rPr lang="en-IN" dirty="0"/>
              <a:t>An array representation of a stack with four items</a:t>
            </a:r>
            <a:endParaRPr lang="en-US" dirty="0"/>
          </a:p>
        </p:txBody>
      </p:sp>
      <p:pic>
        <p:nvPicPr>
          <p:cNvPr id="7" name="Content Placeholder 6" descr="Illustration shows an array representation of a stack with four items. The stack is shown a series of boxes stacked horizontally. Each box is numbered from 0 to 9. The first 4 boxes contain the letters, a, b, c, and d. The stack itself is labeled, self, dot, items. The size of the stack is shown in a separate box with the number 4 in it and this box is labeled self, dot, size."/>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1502983" y="3573661"/>
            <a:ext cx="6138032" cy="2204641"/>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208012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Linked Implementation </a:t>
            </a:r>
            <a:r>
              <a:rPr lang="en-US" sz="2000" dirty="0"/>
              <a:t>(1 of 4)</a:t>
            </a:r>
          </a:p>
        </p:txBody>
      </p:sp>
      <p:sp>
        <p:nvSpPr>
          <p:cNvPr id="3" name="Content Placeholder 2"/>
          <p:cNvSpPr>
            <a:spLocks noGrp="1"/>
          </p:cNvSpPr>
          <p:nvPr>
            <p:ph idx="1"/>
          </p:nvPr>
        </p:nvSpPr>
        <p:spPr>
          <a:xfrm>
            <a:off x="628650" y="1359791"/>
            <a:ext cx="7886700" cy="3974209"/>
          </a:xfrm>
        </p:spPr>
        <p:txBody>
          <a:bodyPr/>
          <a:lstStyle/>
          <a:p>
            <a:pPr marL="291600" indent="-291600">
              <a:spcBef>
                <a:spcPts val="1000"/>
              </a:spcBef>
            </a:pPr>
            <a:r>
              <a:rPr lang="en-US" dirty="0"/>
              <a:t>The linked implementation requires two classes: </a:t>
            </a:r>
          </a:p>
          <a:p>
            <a:pPr lvl="1">
              <a:spcBef>
                <a:spcPts val="1000"/>
              </a:spcBef>
            </a:pPr>
            <a:r>
              <a:rPr lang="en-US" b="1" dirty="0">
                <a:latin typeface="Courier New" panose="02070309020205020404" pitchFamily="49" charset="0"/>
                <a:cs typeface="Courier New" panose="02070309020205020404" pitchFamily="49" charset="0"/>
              </a:rPr>
              <a:t>LinkedStack </a:t>
            </a:r>
            <a:r>
              <a:rPr lang="en-US" dirty="0"/>
              <a:t>and </a:t>
            </a:r>
            <a:r>
              <a:rPr lang="en-US" b="1" dirty="0">
                <a:latin typeface="Courier New" panose="02070309020205020404" pitchFamily="49" charset="0"/>
                <a:cs typeface="Courier New" panose="02070309020205020404" pitchFamily="49" charset="0"/>
              </a:rPr>
              <a:t>Node</a:t>
            </a:r>
          </a:p>
          <a:p>
            <a:pPr marL="291600" indent="-291600">
              <a:spcBef>
                <a:spcPts val="1000"/>
              </a:spcBef>
            </a:pPr>
            <a:r>
              <a:rPr lang="en-US" dirty="0"/>
              <a:t>The Node class contains two fields:</a:t>
            </a:r>
          </a:p>
          <a:p>
            <a:pPr lvl="1">
              <a:spcBef>
                <a:spcPts val="1000"/>
              </a:spcBef>
            </a:pPr>
            <a:r>
              <a:rPr lang="en-US" b="1" dirty="0">
                <a:latin typeface="Courier New" panose="02070309020205020404" pitchFamily="49" charset="0"/>
                <a:cs typeface="Courier New" panose="02070309020205020404" pitchFamily="49" charset="0"/>
              </a:rPr>
              <a:t>data</a:t>
            </a:r>
            <a:r>
              <a:rPr lang="en-US" dirty="0"/>
              <a:t> — An item on the stack</a:t>
            </a:r>
          </a:p>
          <a:p>
            <a:pPr lvl="1">
              <a:spcBef>
                <a:spcPts val="1000"/>
              </a:spcBef>
            </a:pPr>
            <a:r>
              <a:rPr lang="en-US" b="1" dirty="0">
                <a:latin typeface="Courier New" panose="02070309020205020404" pitchFamily="49" charset="0"/>
                <a:cs typeface="Courier New" panose="02070309020205020404" pitchFamily="49" charset="0"/>
              </a:rPr>
              <a:t>next</a:t>
            </a:r>
            <a:r>
              <a:rPr lang="en-US" dirty="0"/>
              <a:t> — A pointer to the next node</a:t>
            </a:r>
          </a:p>
          <a:p>
            <a:pPr marL="291600" indent="-291600">
              <a:spcBef>
                <a:spcPts val="1000"/>
              </a:spcBef>
            </a:pPr>
            <a:r>
              <a:rPr lang="en-US" dirty="0"/>
              <a:t>Because new items are added to and removed from just one end of the linked structure, the methods pop and push are easy to implement, as shown in Figures 7.8 and 7.9</a:t>
            </a:r>
            <a:endParaRPr lang="en-US" b="1"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89315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86580"/>
          </a:xfrm>
        </p:spPr>
        <p:txBody>
          <a:bodyPr/>
          <a:lstStyle/>
          <a:p>
            <a:r>
              <a:rPr lang="en-US" b="1" dirty="0"/>
              <a:t>Linked Implementation </a:t>
            </a:r>
            <a:r>
              <a:rPr lang="en-US" sz="2000" dirty="0"/>
              <a:t>(2 of 4)</a:t>
            </a:r>
          </a:p>
        </p:txBody>
      </p:sp>
      <p:sp>
        <p:nvSpPr>
          <p:cNvPr id="3" name="Content Placeholder 2"/>
          <p:cNvSpPr>
            <a:spLocks noGrp="1"/>
          </p:cNvSpPr>
          <p:nvPr>
            <p:ph idx="1"/>
          </p:nvPr>
        </p:nvSpPr>
        <p:spPr>
          <a:xfrm>
            <a:off x="603250" y="1447801"/>
            <a:ext cx="2978150" cy="685800"/>
          </a:xfrm>
        </p:spPr>
        <p:txBody>
          <a:bodyPr>
            <a:noAutofit/>
          </a:bodyPr>
          <a:lstStyle/>
          <a:p>
            <a:pPr marL="0" indent="0">
              <a:lnSpc>
                <a:spcPct val="100000"/>
              </a:lnSpc>
              <a:spcBef>
                <a:spcPts val="1000"/>
              </a:spcBef>
              <a:buNone/>
            </a:pPr>
            <a:r>
              <a:rPr lang="en-IN" b="1" dirty="0"/>
              <a:t>Figure 7-8: </a:t>
            </a:r>
            <a:r>
              <a:rPr lang="en-IN" dirty="0"/>
              <a:t>Pushing an item onto a linked stack</a:t>
            </a:r>
            <a:endParaRPr lang="en-US" b="1" dirty="0"/>
          </a:p>
        </p:txBody>
      </p:sp>
      <p:pic>
        <p:nvPicPr>
          <p:cNvPr id="10" name="Content Placeholder 9" descr="The figure shows the steps to push an item onto a linked stack. Step 1: set new node to node, left parenthesis, d, self, dot, items, right parenthesis. The stack consists of three items namely, a, b and c. The item a is at the top and the item c is at the bottom of the stack. The variable self, dot, items points to the item a and the new node d is pushed onto the top of the stack. Step 2: set self, dot, items to new node. The variable self, dot, items points to the new item d which occupies the top position in stack. "/>
          <p:cNvPicPr>
            <a:picLocks noGrp="1" noChangeAspect="1"/>
          </p:cNvPicPr>
          <p:nvPr>
            <p:ph idx="14"/>
          </p:nvPr>
        </p:nvPicPr>
        <p:blipFill>
          <a:blip r:embed="rId3" cstate="print">
            <a:extLst>
              <a:ext uri="{28A0092B-C50C-407E-A947-70E740481C1C}">
                <a14:useLocalDpi xmlns:a14="http://schemas.microsoft.com/office/drawing/2010/main" val="0"/>
              </a:ext>
            </a:extLst>
          </a:blip>
          <a:stretch>
            <a:fillRect/>
          </a:stretch>
        </p:blipFill>
        <p:spPr>
          <a:xfrm>
            <a:off x="5201392" y="1097814"/>
            <a:ext cx="3604190" cy="3252706"/>
          </a:xfrm>
        </p:spPr>
      </p:pic>
      <p:sp>
        <p:nvSpPr>
          <p:cNvPr id="8" name="Content Placeholder 7"/>
          <p:cNvSpPr>
            <a:spLocks noGrp="1"/>
          </p:cNvSpPr>
          <p:nvPr>
            <p:ph idx="13"/>
          </p:nvPr>
        </p:nvSpPr>
        <p:spPr>
          <a:xfrm>
            <a:off x="603250" y="4428478"/>
            <a:ext cx="2749550" cy="905522"/>
          </a:xfrm>
        </p:spPr>
        <p:txBody>
          <a:bodyPr>
            <a:normAutofit/>
          </a:bodyPr>
          <a:lstStyle/>
          <a:p>
            <a:pPr marL="0" indent="0">
              <a:spcBef>
                <a:spcPts val="1000"/>
              </a:spcBef>
              <a:buClr>
                <a:schemeClr val="tx1"/>
              </a:buClr>
              <a:buNone/>
            </a:pPr>
            <a:r>
              <a:rPr lang="en-IN" b="1" dirty="0"/>
              <a:t>Figure 7-9: </a:t>
            </a:r>
            <a:r>
              <a:rPr lang="en-IN" dirty="0"/>
              <a:t>Popping an item from a linked stack</a:t>
            </a:r>
          </a:p>
        </p:txBody>
      </p:sp>
      <p:pic>
        <p:nvPicPr>
          <p:cNvPr id="11" name="Content Placeholder 10" descr="The figure shows the step to pop an item from the stack. To pop an item from stack, the variable self, dot, items, dot, next points to the item b. "/>
          <p:cNvPicPr>
            <a:picLocks noGrp="1" noChangeAspect="1"/>
          </p:cNvPicPr>
          <p:nvPr>
            <p:ph idx="12"/>
          </p:nvPr>
        </p:nvPicPr>
        <p:blipFill>
          <a:blip r:embed="rId4">
            <a:extLst>
              <a:ext uri="{28A0092B-C50C-407E-A947-70E740481C1C}">
                <a14:useLocalDpi xmlns:a14="http://schemas.microsoft.com/office/drawing/2010/main" val="0"/>
              </a:ext>
            </a:extLst>
          </a:blip>
          <a:stretch>
            <a:fillRect/>
          </a:stretch>
        </p:blipFill>
        <p:spPr>
          <a:xfrm>
            <a:off x="4829146" y="4629951"/>
            <a:ext cx="4121196" cy="1224415"/>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433376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18585"/>
          </a:xfrm>
        </p:spPr>
        <p:txBody>
          <a:bodyPr/>
          <a:lstStyle/>
          <a:p>
            <a:r>
              <a:rPr lang="en-US" b="1" dirty="0"/>
              <a:t>Linked Implementation </a:t>
            </a:r>
            <a:r>
              <a:rPr lang="en-US" sz="2000" dirty="0"/>
              <a:t>(3 of 4)</a:t>
            </a:r>
          </a:p>
        </p:txBody>
      </p:sp>
      <p:sp>
        <p:nvSpPr>
          <p:cNvPr id="3" name="Content Placeholder 2"/>
          <p:cNvSpPr>
            <a:spLocks noGrp="1"/>
          </p:cNvSpPr>
          <p:nvPr>
            <p:ph idx="1"/>
          </p:nvPr>
        </p:nvSpPr>
        <p:spPr>
          <a:xfrm>
            <a:off x="628650" y="1447801"/>
            <a:ext cx="7886700" cy="304799"/>
          </a:xfrm>
        </p:spPr>
        <p:txBody>
          <a:bodyPr>
            <a:normAutofit/>
          </a:bodyPr>
          <a:lstStyle/>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LinkedStack</a:t>
            </a:r>
            <a:r>
              <a:rPr lang="en-US" dirty="0"/>
              <a:t>:</a:t>
            </a:r>
          </a:p>
        </p:txBody>
      </p:sp>
      <p:sp>
        <p:nvSpPr>
          <p:cNvPr id="6" name="Content Placeholder 5"/>
          <p:cNvSpPr>
            <a:spLocks noGrp="1"/>
          </p:cNvSpPr>
          <p:nvPr>
            <p:ph idx="13"/>
          </p:nvPr>
        </p:nvSpPr>
        <p:spPr>
          <a:xfrm>
            <a:off x="779570" y="1843215"/>
            <a:ext cx="7886700" cy="4007169"/>
          </a:xfrm>
        </p:spPr>
        <p:txBody>
          <a:bodyPr>
            <a:normAutofit fontScale="70000" lnSpcReduction="2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endParaRPr lang="en-US" sz="1300" b="1"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abstractstack</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AbstractStack</a:t>
            </a:r>
            <a:endParaRPr lang="en-US" sz="1300" b="1"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endParaRPr lang="en-US" sz="1300" b="1"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LinkedStack</a:t>
            </a:r>
            <a:r>
              <a:rPr lang="en-US" b="1" dirty="0">
                <a:latin typeface="Courier New Bold" panose="02070609020205020404" pitchFamily="49" charset="0"/>
                <a:ea typeface="MS Mincho"/>
                <a:cs typeface="Courier New" panose="02070309020205020404" pitchFamily="49" charset="0"/>
              </a:rPr>
              <a:t>(AbstractStack):</a:t>
            </a:r>
            <a:endParaRPr lang="en-US" sz="1300" b="1" dirty="0">
              <a:latin typeface="Bank Gothic Bold"/>
              <a:ea typeface="MS Mincho"/>
              <a:cs typeface="Bank Gothic Bold"/>
            </a:endParaRPr>
          </a:p>
          <a:p>
            <a:pPr marL="491490" lvl="1" indent="0">
              <a:spcBef>
                <a:spcPts val="0"/>
              </a:spcBef>
              <a:buNone/>
              <a:tabLst>
                <a:tab pos="2800350" algn="l"/>
              </a:tabLst>
            </a:pP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Link-based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implementation."""</a:t>
            </a:r>
            <a:endParaRPr lang="en-US" sz="1300" b="1" dirty="0">
              <a:solidFill>
                <a:srgbClr val="006800"/>
              </a:solidFill>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__init__(self,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self.items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b="1" dirty="0">
              <a:solidFill>
                <a:srgbClr val="8A3800"/>
              </a:solidFill>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AbstractStack.__init__(self,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Accessors</a:t>
            </a:r>
            <a:endParaRPr lang="en-US" sz="1300" b="1" dirty="0">
              <a:solidFill>
                <a:srgbClr val="C00000"/>
              </a:solidFill>
              <a:latin typeface="Bank Gothic Bold"/>
              <a:ea typeface="MS Mincho"/>
              <a:cs typeface="Bank Gothic Bold"/>
            </a:endParaRP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__iter__</a:t>
            </a:r>
            <a:r>
              <a:rPr lang="en-US" b="1" dirty="0">
                <a:latin typeface="Courier New Bold" panose="02070609020205020404" pitchFamily="49" charset="0"/>
                <a:ea typeface="MS Mincho"/>
                <a:cs typeface="Courier New" panose="02070309020205020404" pitchFamily="49" charset="0"/>
              </a:rPr>
              <a:t>(self):</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"""Supports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iteration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over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view</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Visits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from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bottom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top</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visitNodes</a:t>
            </a:r>
            <a:r>
              <a:rPr lang="en-US" b="1" dirty="0">
                <a:latin typeface="Courier New Bold" panose="02070609020205020404" pitchFamily="49" charset="0"/>
                <a:ea typeface="MS Mincho"/>
                <a:cs typeface="Courier New" panose="02070309020205020404" pitchFamily="49" charset="0"/>
              </a:rPr>
              <a:t>(node):</a:t>
            </a:r>
            <a:endParaRPr lang="en-US" sz="1300" b="1" dirty="0">
              <a:latin typeface="Bank Gothic Bold"/>
              <a:ea typeface="MS Mincho"/>
              <a:cs typeface="Bank Gothic Bold"/>
            </a:endParaRPr>
          </a:p>
          <a:p>
            <a:pPr marL="1251585" lvl="1" indent="0">
              <a:spcBef>
                <a:spcPts val="0"/>
              </a:spcBef>
              <a:buNone/>
              <a:tabLst>
                <a:tab pos="2743200" algn="l"/>
              </a:tabLst>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FF66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r>
              <a:rPr lang="en-US" b="1" dirty="0">
                <a:latin typeface="Times" panose="02020603050405020304" pitchFamily="18" charset="0"/>
                <a:ea typeface="MS Mincho"/>
                <a:cs typeface="Bank Gothic Bold"/>
              </a:rPr>
              <a:t> </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a:solidFill>
                  <a:srgbClr val="0000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b="1" dirty="0">
              <a:latin typeface="Bank Gothic Bold"/>
              <a:ea typeface="MS Mincho"/>
              <a:cs typeface="Bank Gothic Bold"/>
            </a:endParaRPr>
          </a:p>
          <a:p>
            <a:pPr marL="1640205" lvl="1" indent="0">
              <a:spcBef>
                <a:spcPts val="0"/>
              </a:spcBef>
              <a:buNone/>
              <a:tabLst>
                <a:tab pos="2743200" algn="l"/>
              </a:tabLst>
            </a:pPr>
            <a:r>
              <a:rPr lang="en-US" b="1" dirty="0">
                <a:latin typeface="Courier New Bold" panose="02070609020205020404" pitchFamily="49" charset="0"/>
                <a:ea typeface="MS Mincho"/>
                <a:cs typeface="Courier New" panose="02070309020205020404" pitchFamily="49" charset="0"/>
              </a:rPr>
              <a:t>visitNodes(node.next)</a:t>
            </a:r>
            <a:endParaRPr lang="en-US" sz="1300" b="1" dirty="0">
              <a:latin typeface="Bank Gothic Bold"/>
              <a:ea typeface="MS Mincho"/>
              <a:cs typeface="Bank Gothic Bold"/>
            </a:endParaRPr>
          </a:p>
          <a:p>
            <a:pPr marL="1640205" lvl="1" indent="0">
              <a:spcBef>
                <a:spcPts val="0"/>
              </a:spcBef>
              <a:buNone/>
              <a:tabLst>
                <a:tab pos="2743200" algn="l"/>
              </a:tabLst>
            </a:pPr>
            <a:r>
              <a:rPr lang="en-US" b="1" dirty="0">
                <a:latin typeface="Courier New Bold" panose="02070609020205020404" pitchFamily="49" charset="0"/>
                <a:ea typeface="MS Mincho"/>
                <a:cs typeface="Courier New" panose="02070309020205020404" pitchFamily="49" charset="0"/>
              </a:rPr>
              <a:t>tempList.append(node.data)</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tempList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list</a:t>
            </a:r>
            <a:r>
              <a:rPr lang="en-US" b="1" dirty="0">
                <a:latin typeface="Courier New Bold" panose="02070609020205020404" pitchFamily="49" charset="0"/>
                <a:ea typeface="MS Mincho"/>
                <a:cs typeface="Courier New" panose="02070309020205020404" pitchFamily="49" charset="0"/>
              </a:rPr>
              <a: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visitNodes(self.items)</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iter</a:t>
            </a:r>
            <a:r>
              <a:rPr lang="en-US" b="1" dirty="0">
                <a:latin typeface="Courier New Bold" panose="02070609020205020404" pitchFamily="49" charset="0"/>
                <a:ea typeface="MS Mincho"/>
                <a:cs typeface="Courier New" panose="02070309020205020404" pitchFamily="49" charset="0"/>
              </a:rPr>
              <a:t>(tempList)</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peek</a:t>
            </a:r>
            <a:r>
              <a:rPr lang="en-US" b="1" dirty="0">
                <a:latin typeface="Courier New Bold" panose="02070609020205020404" pitchFamily="49" charset="0"/>
                <a:ea typeface="MS Mincho"/>
                <a:cs typeface="Courier New" panose="02070309020205020404" pitchFamily="49" charset="0"/>
              </a:rPr>
              <a:t>(self):</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top</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Precondition: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not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self.isEmpty():</a:t>
            </a:r>
            <a:endParaRPr lang="en-US" sz="1300" b="1" dirty="0">
              <a:latin typeface="Bank Gothic Bold"/>
              <a:ea typeface="MS Mincho"/>
              <a:cs typeface="Bank Gothic Bold"/>
            </a:endParaRPr>
          </a:p>
          <a:p>
            <a:pPr marL="1251585" lvl="1" indent="0">
              <a:spcBef>
                <a:spcPts val="0"/>
              </a:spcBef>
              <a:buNone/>
              <a:tabLst>
                <a:tab pos="2743200" algn="l"/>
              </a:tabLst>
            </a:pP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b="1"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KeyError</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r>
              <a:rPr lang="en-US" b="1" dirty="0">
                <a:latin typeface="Courier New Bold" panose="02070609020205020404" pitchFamily="49" charset="0"/>
                <a:ea typeface="MS Mincho"/>
                <a:cs typeface="Courier New" panose="02070309020205020404" pitchFamily="49" charset="0"/>
              </a:rPr>
              <a: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self.items.data</a:t>
            </a:r>
            <a:endParaRPr lang="en-US" sz="1300" b="1" dirty="0">
              <a:latin typeface="Bank Gothic Bold"/>
              <a:ea typeface="MS Mincho"/>
              <a:cs typeface="Bank Gothic Bold"/>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1894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Linked Implementation </a:t>
            </a:r>
            <a:r>
              <a:rPr lang="en-US" sz="2000" dirty="0"/>
              <a:t>(4 of 4)</a:t>
            </a:r>
          </a:p>
        </p:txBody>
      </p:sp>
      <p:sp>
        <p:nvSpPr>
          <p:cNvPr id="3" name="Content Placeholder 2"/>
          <p:cNvSpPr>
            <a:spLocks noGrp="1"/>
          </p:cNvSpPr>
          <p:nvPr>
            <p:ph idx="1"/>
          </p:nvPr>
        </p:nvSpPr>
        <p:spPr>
          <a:xfrm>
            <a:off x="628650" y="1448293"/>
            <a:ext cx="7886700" cy="380999"/>
          </a:xfrm>
        </p:spPr>
        <p:txBody>
          <a:bodyPr>
            <a:normAutofit/>
          </a:bodyPr>
          <a:lstStyle/>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LinkedStack</a:t>
            </a:r>
            <a:r>
              <a:rPr lang="en-US" dirty="0"/>
              <a:t> (continued):</a:t>
            </a:r>
          </a:p>
        </p:txBody>
      </p:sp>
      <p:sp>
        <p:nvSpPr>
          <p:cNvPr id="5" name="Content Placeholder 4"/>
          <p:cNvSpPr>
            <a:spLocks noGrp="1"/>
          </p:cNvSpPr>
          <p:nvPr>
            <p:ph idx="12"/>
          </p:nvPr>
        </p:nvSpPr>
        <p:spPr>
          <a:xfrm>
            <a:off x="486606" y="1902255"/>
            <a:ext cx="7886700" cy="3796468"/>
          </a:xfrm>
        </p:spPr>
        <p:txBody>
          <a:bodyPr>
            <a:normAutofit fontScale="92500" lnSpcReduction="20000"/>
          </a:bodyPr>
          <a:lstStyle/>
          <a:p>
            <a:pPr marL="491490" lvl="1" indent="0">
              <a:spcBef>
                <a:spcPts val="0"/>
              </a:spcBef>
              <a:buNone/>
              <a:tabLst>
                <a:tab pos="2800350" algn="l"/>
              </a:tabLst>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Mutators</a:t>
            </a:r>
            <a:endParaRPr lang="en-US" sz="1300" b="1" dirty="0">
              <a:solidFill>
                <a:srgbClr val="C00000"/>
              </a:solidFill>
              <a:latin typeface="Bank Gothic Bold"/>
              <a:ea typeface="MS Mincho"/>
              <a:cs typeface="Bank Gothic Bold"/>
            </a:endParaRP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clear</a:t>
            </a:r>
            <a:r>
              <a:rPr lang="en-US" b="1" dirty="0">
                <a:latin typeface="Courier New Bold" panose="02070609020205020404" pitchFamily="49" charset="0"/>
                <a:ea typeface="MS Mincho"/>
                <a:cs typeface="Courier New" panose="02070309020205020404" pitchFamily="49" charset="0"/>
              </a:rPr>
              <a:t>(self):</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"""Makes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become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self.size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self.items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b="1" dirty="0">
              <a:solidFill>
                <a:srgbClr val="8A3800"/>
              </a:solidFill>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push</a:t>
            </a:r>
            <a:r>
              <a:rPr lang="en-US" b="1" dirty="0">
                <a:latin typeface="Courier New Bold" panose="02070609020205020404" pitchFamily="49" charset="0"/>
                <a:ea typeface="MS Mincho"/>
                <a:cs typeface="Courier New" panose="02070309020205020404" pitchFamily="49" charset="0"/>
              </a:rPr>
              <a:t>(self,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"""Inserts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top</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self.items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Node(item,</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self.size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pop</a:t>
            </a:r>
            <a:r>
              <a:rPr lang="en-US" b="1" dirty="0">
                <a:latin typeface="Courier New Bold" panose="02070609020205020404" pitchFamily="49" charset="0"/>
                <a:ea typeface="MS Mincho"/>
                <a:cs typeface="Courier New" panose="02070309020205020404" pitchFamily="49" charset="0"/>
              </a:rPr>
              <a:t>(self):</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"""Removes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and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top</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Precondition: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not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self.isEmpty():</a:t>
            </a:r>
            <a:endParaRPr lang="en-US" sz="1300" b="1" dirty="0">
              <a:latin typeface="Bank Gothic Bold"/>
              <a:ea typeface="MS Mincho"/>
              <a:cs typeface="Bank Gothic Bold"/>
            </a:endParaRPr>
          </a:p>
          <a:p>
            <a:pPr marL="1251585" lvl="1" indent="0">
              <a:spcBef>
                <a:spcPts val="0"/>
              </a:spcBef>
              <a:buNone/>
              <a:tabLst>
                <a:tab pos="2743200" algn="l"/>
              </a:tabLst>
            </a:pP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b="1"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KeyError</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r>
              <a:rPr lang="en-US" b="1" dirty="0">
                <a:latin typeface="Courier New Bold" panose="02070609020205020404" pitchFamily="49" charset="0"/>
                <a:ea typeface="MS Mincho"/>
                <a:cs typeface="Courier New" panose="02070309020205020404" pitchFamily="49" charset="0"/>
              </a:rPr>
              <a: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oldItem</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self.items.data</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self.items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self.items.next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self.size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b="1" dirty="0">
              <a:latin typeface="Bank Gothic Bold"/>
              <a:ea typeface="MS Mincho"/>
              <a:cs typeface="Bank Gothic Bold"/>
            </a:endParaRPr>
          </a:p>
          <a:p>
            <a:pPr marL="342900" lvl="1" indent="0">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oldItem</a:t>
            </a:r>
            <a:endParaRPr lang="en-US" b="1"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03604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Role of the Abstract Stack Class </a:t>
            </a:r>
            <a:r>
              <a:rPr lang="en-US" sz="2000" dirty="0"/>
              <a:t>(1 of 2)</a:t>
            </a:r>
          </a:p>
        </p:txBody>
      </p:sp>
      <p:sp>
        <p:nvSpPr>
          <p:cNvPr id="3" name="Content Placeholder 2"/>
          <p:cNvSpPr>
            <a:spLocks noGrp="1"/>
          </p:cNvSpPr>
          <p:nvPr>
            <p:ph idx="1"/>
          </p:nvPr>
        </p:nvSpPr>
        <p:spPr>
          <a:xfrm>
            <a:off x="628650" y="1524000"/>
            <a:ext cx="7886700" cy="3508375"/>
          </a:xfrm>
        </p:spPr>
        <p:txBody>
          <a:bodyPr>
            <a:normAutofit/>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__init__  </a:t>
            </a:r>
            <a:r>
              <a:rPr lang="en-US" dirty="0"/>
              <a:t>method in  </a:t>
            </a:r>
            <a:r>
              <a:rPr lang="en-US" b="1" dirty="0">
                <a:latin typeface="Courier New" panose="02070309020205020404" pitchFamily="49" charset="0"/>
                <a:cs typeface="Courier New" panose="02070309020205020404" pitchFamily="49" charset="0"/>
              </a:rPr>
              <a:t>AbstractCollection</a:t>
            </a:r>
            <a:r>
              <a:rPr lang="en-US" dirty="0"/>
              <a:t>  uses the  </a:t>
            </a:r>
            <a:r>
              <a:rPr lang="en-US" b="1" dirty="0">
                <a:latin typeface="Courier New" panose="02070309020205020404" pitchFamily="49" charset="0"/>
                <a:cs typeface="Courier New" panose="02070309020205020404" pitchFamily="49" charset="0"/>
              </a:rPr>
              <a:t>add</a:t>
            </a:r>
            <a:r>
              <a:rPr lang="en-US" dirty="0"/>
              <a:t>  method to add items in a source collection to </a:t>
            </a:r>
            <a:r>
              <a:rPr lang="en-US" b="1" dirty="0">
                <a:latin typeface="Courier New" panose="02070309020205020404" pitchFamily="49" charset="0"/>
                <a:cs typeface="Courier New" panose="02070309020205020404" pitchFamily="49" charset="0"/>
              </a:rPr>
              <a:t>self</a:t>
            </a:r>
            <a:r>
              <a:rPr lang="en-US" dirty="0"/>
              <a:t>:</a:t>
            </a:r>
            <a:r>
              <a:rPr lang="en-US" b="1" dirty="0">
                <a:latin typeface="Courier New" panose="02070309020205020404" pitchFamily="49" charset="0"/>
                <a:cs typeface="Courier New" panose="02070309020205020404" pitchFamily="49" charset="0"/>
              </a:rPr>
              <a:t> </a:t>
            </a:r>
          </a:p>
          <a:p>
            <a:pPr lvl="1">
              <a:spcBef>
                <a:spcPts val="1000"/>
              </a:spcBef>
            </a:pPr>
            <a:r>
              <a:rPr lang="en-US" dirty="0"/>
              <a:t>If  </a:t>
            </a:r>
            <a:r>
              <a:rPr lang="en-US" b="1" dirty="0">
                <a:latin typeface="Courier New" panose="02070309020205020404" pitchFamily="49" charset="0"/>
                <a:cs typeface="Courier New" panose="02070309020205020404" pitchFamily="49" charset="0"/>
              </a:rPr>
              <a:t>self</a:t>
            </a:r>
            <a:r>
              <a:rPr lang="en-US" dirty="0"/>
              <a:t> is a stack, Python raises an exception, stating that the  </a:t>
            </a:r>
            <a:r>
              <a:rPr lang="en-US" b="1" dirty="0">
                <a:latin typeface="Courier New" panose="02070309020205020404" pitchFamily="49" charset="0"/>
                <a:cs typeface="Courier New" panose="02070309020205020404" pitchFamily="49" charset="0"/>
              </a:rPr>
              <a:t>add</a:t>
            </a:r>
            <a:r>
              <a:rPr lang="en-US" dirty="0"/>
              <a:t>  method is undefined for stacks</a:t>
            </a:r>
          </a:p>
          <a:p>
            <a:pPr marL="291600" indent="-291600">
              <a:spcBef>
                <a:spcPts val="1000"/>
              </a:spcBef>
            </a:pPr>
            <a:r>
              <a:rPr lang="en-US" dirty="0"/>
              <a:t>To remedy this problem and maintain consistency with the interfaces of other collections,</a:t>
            </a:r>
          </a:p>
          <a:p>
            <a:pPr lvl="1">
              <a:spcBef>
                <a:spcPts val="1000"/>
              </a:spcBef>
            </a:pPr>
            <a:r>
              <a:rPr lang="en-US" dirty="0"/>
              <a:t>You need to include an  </a:t>
            </a:r>
            <a:r>
              <a:rPr lang="en-US" b="1" dirty="0">
                <a:latin typeface="Courier New" panose="02070309020205020404" pitchFamily="49" charset="0"/>
                <a:cs typeface="Courier New" panose="02070309020205020404" pitchFamily="49" charset="0"/>
              </a:rPr>
              <a:t>add</a:t>
            </a:r>
            <a:r>
              <a:rPr lang="en-US" dirty="0"/>
              <a:t>  method with your stack types</a:t>
            </a:r>
          </a:p>
          <a:p>
            <a:pPr lvl="1">
              <a:spcBef>
                <a:spcPts val="1000"/>
              </a:spcBef>
            </a:pPr>
            <a:r>
              <a:rPr lang="en-US" dirty="0"/>
              <a:t>The logical place to put this method, so that all stack types can use it, is in the  </a:t>
            </a:r>
            <a:r>
              <a:rPr lang="en-US" b="1" dirty="0">
                <a:latin typeface="Courier New" panose="02070309020205020404" pitchFamily="49" charset="0"/>
                <a:cs typeface="Courier New" panose="02070309020205020404" pitchFamily="49" charset="0"/>
              </a:rPr>
              <a:t>AbstractStack</a:t>
            </a:r>
            <a:r>
              <a:rPr lang="en-US" dirty="0"/>
              <a:t>  class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22705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Role of the Abstract Stack Class </a:t>
            </a:r>
            <a:r>
              <a:rPr lang="en-US" sz="2000" dirty="0"/>
              <a:t>(2 of 2)</a:t>
            </a:r>
          </a:p>
        </p:txBody>
      </p:sp>
      <p:sp>
        <p:nvSpPr>
          <p:cNvPr id="3" name="Content Placeholder 2"/>
          <p:cNvSpPr>
            <a:spLocks noGrp="1"/>
          </p:cNvSpPr>
          <p:nvPr>
            <p:ph idx="1"/>
          </p:nvPr>
        </p:nvSpPr>
        <p:spPr>
          <a:xfrm>
            <a:off x="628650" y="1648164"/>
            <a:ext cx="7886700" cy="384175"/>
          </a:xfrm>
        </p:spPr>
        <p:txBody>
          <a:bodyPr>
            <a:normAutofit/>
          </a:bodyPr>
          <a:lstStyle/>
          <a:p>
            <a:r>
              <a:rPr lang="en-US" dirty="0"/>
              <a:t>Code for AbstractStack:</a:t>
            </a:r>
          </a:p>
        </p:txBody>
      </p:sp>
      <p:sp>
        <p:nvSpPr>
          <p:cNvPr id="6" name="Content Placeholder 5"/>
          <p:cNvSpPr>
            <a:spLocks noGrp="1"/>
          </p:cNvSpPr>
          <p:nvPr>
            <p:ph idx="13"/>
          </p:nvPr>
        </p:nvSpPr>
        <p:spPr>
          <a:xfrm>
            <a:off x="628650" y="2085512"/>
            <a:ext cx="7886700" cy="3733800"/>
          </a:xfrm>
        </p:spPr>
        <p:txBody>
          <a:bodyPr>
            <a:normAutofit fontScale="925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b="1" dirty="0">
              <a:solidFill>
                <a:srgbClr val="006800"/>
              </a:solidFill>
              <a:latin typeface="Bank Gothic Bold"/>
              <a:ea typeface="MS Mincho"/>
              <a:cs typeface="Bank Gothic Bold"/>
            </a:endParaRPr>
          </a:p>
          <a:p>
            <a:pPr marL="171450" marR="154940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abstractstack.py</a:t>
            </a:r>
            <a:endParaRPr lang="en-US" sz="1300" b="1" dirty="0">
              <a:solidFill>
                <a:srgbClr val="006800"/>
              </a:solidFill>
              <a:latin typeface="Bank Gothic Bold"/>
              <a:ea typeface="MS Mincho"/>
              <a:cs typeface="Bank Gothic Bold"/>
            </a:endParaRPr>
          </a:p>
          <a:p>
            <a:pPr marL="171450" marR="154940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Ken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Lambert</a:t>
            </a:r>
            <a:endParaRPr lang="en-US" sz="1300" b="1"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b="1" dirty="0">
              <a:solidFill>
                <a:srgbClr val="006800"/>
              </a:solidFill>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abstractcollection</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AbstractCollection</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171450" marR="154940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AbstractStack</a:t>
            </a:r>
            <a:r>
              <a:rPr lang="en-US" b="1" dirty="0">
                <a:latin typeface="Courier New Bold" panose="02070609020205020404" pitchFamily="49" charset="0"/>
                <a:ea typeface="MS Mincho"/>
                <a:cs typeface="Courier New" panose="02070309020205020404" pitchFamily="49" charset="0"/>
              </a:rPr>
              <a:t>(AbstractCollection):</a:t>
            </a:r>
            <a:endParaRPr lang="en-US" sz="1300" b="1" dirty="0">
              <a:latin typeface="Bank Gothic Bold"/>
              <a:ea typeface="MS Mincho"/>
              <a:cs typeface="Bank Gothic Bold"/>
            </a:endParaRPr>
          </a:p>
          <a:p>
            <a:pPr marL="491490" lvl="1" indent="0">
              <a:spcBef>
                <a:spcPts val="0"/>
              </a:spcBef>
              <a:buNone/>
              <a:tabLst>
                <a:tab pos="2800350" algn="l"/>
              </a:tabLst>
            </a:pPr>
            <a:r>
              <a:rPr lang="en-US" b="1" dirty="0">
                <a:solidFill>
                  <a:srgbClr val="008000"/>
                </a:solidFill>
                <a:latin typeface="Courier New Bold" panose="02070609020205020404" pitchFamily="49" charset="0"/>
                <a:ea typeface="MS Mincho"/>
                <a:cs typeface="Courier New" panose="02070309020205020404" pitchFamily="49" charset="0"/>
              </a:rPr>
              <a:t>"""An</a:t>
            </a:r>
            <a:r>
              <a:rPr lang="en-US" b="1"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abstract</a:t>
            </a:r>
            <a:r>
              <a:rPr lang="en-US" b="1"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stack</a:t>
            </a:r>
            <a:r>
              <a:rPr lang="en-US" b="1"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implementation."""</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Constructor</a:t>
            </a:r>
            <a:endParaRPr lang="en-US" sz="1300" b="1" dirty="0">
              <a:solidFill>
                <a:srgbClr val="C00000"/>
              </a:solidFill>
              <a:latin typeface="Bank Gothic Bold"/>
              <a:ea typeface="MS Mincho"/>
              <a:cs typeface="Bank Gothic Bold"/>
            </a:endParaRP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Bold" panose="02070609020205020404" pitchFamily="49" charset="0"/>
                <a:ea typeface="MS Mincho"/>
                <a:cs typeface="Courier New" panose="02070309020205020404" pitchFamily="49" charset="0"/>
              </a:rPr>
              <a:t>(self,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"""Sets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initial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state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which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includes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contents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sourceCollection,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present."""</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AbstractCollection.__init__(self,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Mutator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methods</a:t>
            </a:r>
            <a:endParaRPr lang="en-US" sz="1300" b="1" dirty="0">
              <a:solidFill>
                <a:srgbClr val="C00000"/>
              </a:solidFill>
              <a:latin typeface="Bank Gothic Bold"/>
              <a:ea typeface="MS Mincho"/>
              <a:cs typeface="Bank Gothic Bold"/>
            </a:endParaRP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"""Adds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b="1" dirty="0">
              <a:solidFill>
                <a:srgbClr val="006800"/>
              </a:solidFill>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self.push(item)</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295712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Time and Space Analysis of the Two Implementations</a:t>
            </a:r>
            <a:r>
              <a:rPr lang="en-US" dirty="0"/>
              <a:t> </a:t>
            </a:r>
            <a:r>
              <a:rPr lang="en-US" sz="2000" dirty="0"/>
              <a:t>(1 of 2)</a:t>
            </a:r>
          </a:p>
        </p:txBody>
      </p:sp>
      <p:sp>
        <p:nvSpPr>
          <p:cNvPr id="3" name="Content Placeholder 2"/>
          <p:cNvSpPr>
            <a:spLocks noGrp="1"/>
          </p:cNvSpPr>
          <p:nvPr>
            <p:ph idx="1"/>
          </p:nvPr>
        </p:nvSpPr>
        <p:spPr>
          <a:xfrm>
            <a:off x="628650" y="1676400"/>
            <a:ext cx="7886700" cy="4343400"/>
          </a:xfrm>
        </p:spPr>
        <p:txBody>
          <a:bodyPr>
            <a:normAutofit fontScale="92500"/>
          </a:bodyPr>
          <a:lstStyle/>
          <a:p>
            <a:pPr marL="291600" indent="-291600">
              <a:lnSpc>
                <a:spcPct val="100000"/>
              </a:lnSpc>
              <a:spcBef>
                <a:spcPts val="1000"/>
              </a:spcBef>
            </a:pPr>
            <a:r>
              <a:rPr lang="en-US" dirty="0"/>
              <a:t>With the exception of the  </a:t>
            </a:r>
            <a:r>
              <a:rPr lang="en-US" b="1" dirty="0">
                <a:latin typeface="Courier New" panose="02070309020205020404" pitchFamily="49" charset="0"/>
                <a:cs typeface="Courier New" panose="02070309020205020404" pitchFamily="49" charset="0"/>
              </a:rPr>
              <a:t>__iter__  </a:t>
            </a:r>
            <a:r>
              <a:rPr lang="en-US" dirty="0"/>
              <a:t>method,</a:t>
            </a:r>
          </a:p>
          <a:p>
            <a:pPr lvl="1">
              <a:lnSpc>
                <a:spcPct val="100000"/>
              </a:lnSpc>
              <a:spcBef>
                <a:spcPts val="1000"/>
              </a:spcBef>
            </a:pPr>
            <a:r>
              <a:rPr lang="en-US" dirty="0"/>
              <a:t>All the stack methods are simple and have a maximum running time of O(1), or constant</a:t>
            </a:r>
          </a:p>
          <a:p>
            <a:pPr marL="291600" indent="-291600">
              <a:lnSpc>
                <a:spcPct val="100000"/>
              </a:lnSpc>
              <a:spcBef>
                <a:spcPts val="1000"/>
              </a:spcBef>
            </a:pPr>
            <a:r>
              <a:rPr lang="en-US" dirty="0"/>
              <a:t>In the array implementation, the analysis becomes more complex:</a:t>
            </a:r>
          </a:p>
          <a:p>
            <a:pPr lvl="1">
              <a:lnSpc>
                <a:spcPct val="100000"/>
              </a:lnSpc>
              <a:spcBef>
                <a:spcPts val="1000"/>
              </a:spcBef>
            </a:pPr>
            <a:r>
              <a:rPr lang="en-US" dirty="0"/>
              <a:t>At the moment of doubling, the  push  method’s running time jumps to O(</a:t>
            </a:r>
            <a:r>
              <a:rPr lang="en-US" i="1" dirty="0"/>
              <a:t>n</a:t>
            </a:r>
            <a:r>
              <a:rPr lang="en-US" dirty="0"/>
              <a:t>), or linear, but the rest of the time it remains at O(1)</a:t>
            </a:r>
          </a:p>
          <a:p>
            <a:pPr lvl="1">
              <a:lnSpc>
                <a:spcPct val="100000"/>
              </a:lnSpc>
              <a:spcBef>
                <a:spcPts val="1000"/>
              </a:spcBef>
            </a:pPr>
            <a:r>
              <a:rPr lang="en-US" dirty="0"/>
              <a:t>Similar remarks can be made about the pop method</a:t>
            </a:r>
          </a:p>
          <a:p>
            <a:pPr lvl="1">
              <a:lnSpc>
                <a:spcPct val="100000"/>
              </a:lnSpc>
              <a:spcBef>
                <a:spcPts val="1000"/>
              </a:spcBef>
            </a:pPr>
            <a:r>
              <a:rPr lang="en-US" dirty="0"/>
              <a:t>On average, both are still O(1)</a:t>
            </a:r>
          </a:p>
          <a:p>
            <a:pPr marL="291600" indent="-291600">
              <a:lnSpc>
                <a:spcPct val="100000"/>
              </a:lnSpc>
              <a:spcBef>
                <a:spcPts val="1000"/>
              </a:spcBef>
            </a:pPr>
            <a:r>
              <a:rPr lang="en-US" dirty="0"/>
              <a:t>The recursive function used in the linked implementation causes a linear growth of memory because of its use of the system call stack:</a:t>
            </a:r>
          </a:p>
          <a:p>
            <a:pPr lvl="1">
              <a:lnSpc>
                <a:spcPct val="100000"/>
              </a:lnSpc>
              <a:spcBef>
                <a:spcPts val="1000"/>
              </a:spcBef>
            </a:pPr>
            <a:r>
              <a:rPr lang="en-US" dirty="0"/>
              <a:t>Avoid this problem by using a doubly linked structure; the iterator can begin at the last node and follow links to previous nodes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510452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Time and Space Analysis of the Two Implementations</a:t>
            </a:r>
            <a:r>
              <a:rPr lang="en-US" dirty="0"/>
              <a:t> </a:t>
            </a:r>
            <a:r>
              <a:rPr lang="en-US" sz="2000" dirty="0"/>
              <a:t>(2 of 2)</a:t>
            </a:r>
          </a:p>
        </p:txBody>
      </p:sp>
      <p:sp>
        <p:nvSpPr>
          <p:cNvPr id="3" name="Content Placeholder 2"/>
          <p:cNvSpPr>
            <a:spLocks noGrp="1"/>
          </p:cNvSpPr>
          <p:nvPr>
            <p:ph idx="1"/>
          </p:nvPr>
        </p:nvSpPr>
        <p:spPr>
          <a:xfrm>
            <a:off x="628650" y="1828800"/>
            <a:ext cx="7886700" cy="3886200"/>
          </a:xfrm>
        </p:spPr>
        <p:txBody>
          <a:bodyPr>
            <a:normAutofit fontScale="92500"/>
          </a:bodyPr>
          <a:lstStyle/>
          <a:p>
            <a:pPr marL="291600" indent="-291600">
              <a:lnSpc>
                <a:spcPct val="100000"/>
              </a:lnSpc>
              <a:spcBef>
                <a:spcPts val="1000"/>
              </a:spcBef>
            </a:pPr>
            <a:r>
              <a:rPr lang="en-US" dirty="0"/>
              <a:t>A linked stack of </a:t>
            </a:r>
            <a:r>
              <a:rPr lang="en-US" i="1" dirty="0"/>
              <a:t>n </a:t>
            </a:r>
            <a:r>
              <a:rPr lang="en-US" dirty="0"/>
              <a:t>items requires </a:t>
            </a:r>
            <a:r>
              <a:rPr lang="en-US" i="1" dirty="0"/>
              <a:t>n </a:t>
            </a:r>
            <a:r>
              <a:rPr lang="en-US" dirty="0"/>
              <a:t>nodes, each containing two references:</a:t>
            </a:r>
          </a:p>
          <a:p>
            <a:pPr lvl="1">
              <a:lnSpc>
                <a:spcPct val="100000"/>
              </a:lnSpc>
              <a:spcBef>
                <a:spcPts val="1000"/>
              </a:spcBef>
            </a:pPr>
            <a:r>
              <a:rPr lang="en-US" dirty="0"/>
              <a:t>One to an item and the other to the next node</a:t>
            </a:r>
          </a:p>
          <a:p>
            <a:pPr lvl="1">
              <a:lnSpc>
                <a:spcPct val="100000"/>
              </a:lnSpc>
              <a:spcBef>
                <a:spcPts val="1000"/>
              </a:spcBef>
            </a:pPr>
            <a:r>
              <a:rPr lang="en-US" dirty="0"/>
              <a:t>In addition, there must be a variable that points to the top node and a variable for the size, yielding a total space requirement of 2</a:t>
            </a:r>
            <a:r>
              <a:rPr lang="en-US" i="1" dirty="0"/>
              <a:t>n </a:t>
            </a:r>
            <a:r>
              <a:rPr lang="en-US" dirty="0"/>
              <a:t>+ 2</a:t>
            </a:r>
          </a:p>
          <a:p>
            <a:pPr marL="291600" indent="-291600">
              <a:lnSpc>
                <a:spcPct val="100000"/>
              </a:lnSpc>
              <a:spcBef>
                <a:spcPts val="1000"/>
              </a:spcBef>
            </a:pPr>
            <a:r>
              <a:rPr lang="en-US" dirty="0"/>
              <a:t>For an array implementation,</a:t>
            </a:r>
          </a:p>
          <a:p>
            <a:pPr lvl="1">
              <a:lnSpc>
                <a:spcPct val="100000"/>
              </a:lnSpc>
              <a:spcBef>
                <a:spcPts val="1000"/>
              </a:spcBef>
            </a:pPr>
            <a:r>
              <a:rPr lang="en-US" dirty="0"/>
              <a:t>Assuming that an integer and a reference occupy the same amount of space, the total space requirement is the array’s capacity + 2</a:t>
            </a:r>
          </a:p>
          <a:p>
            <a:pPr marL="291600" indent="-291600">
              <a:lnSpc>
                <a:spcPct val="150000"/>
              </a:lnSpc>
              <a:spcBef>
                <a:spcPts val="1000"/>
              </a:spcBef>
            </a:pPr>
            <a:r>
              <a:rPr lang="en-US" dirty="0"/>
              <a:t>An array implementation is more space-efficient than a linked implementation whenever the load factor is greater than </a:t>
            </a:r>
          </a:p>
        </p:txBody>
      </p:sp>
      <p:graphicFrame>
        <p:nvGraphicFramePr>
          <p:cNvPr id="7" name="Content Placeholder 6" descr="i over 2"/>
          <p:cNvGraphicFramePr>
            <a:graphicFrameLocks noGrp="1" noChangeAspect="1"/>
          </p:cNvGraphicFramePr>
          <p:nvPr>
            <p:ph idx="12"/>
            <p:extLst>
              <p:ext uri="{D42A27DB-BD31-4B8C-83A1-F6EECF244321}">
                <p14:modId xmlns:p14="http://schemas.microsoft.com/office/powerpoint/2010/main" val="1084286288"/>
              </p:ext>
            </p:extLst>
          </p:nvPr>
        </p:nvGraphicFramePr>
        <p:xfrm>
          <a:off x="7537839" y="4925427"/>
          <a:ext cx="250755" cy="648578"/>
        </p:xfrm>
        <a:graphic>
          <a:graphicData uri="http://schemas.openxmlformats.org/presentationml/2006/ole">
            <mc:AlternateContent xmlns:mc="http://schemas.openxmlformats.org/markup-compatibility/2006">
              <mc:Choice xmlns:v="urn:schemas-microsoft-com:vml" Requires="v">
                <p:oleObj spid="_x0000_s1079" name="Equation" r:id="rId4" imgW="152280" imgH="393480" progId="Equation.DSMT4">
                  <p:embed/>
                </p:oleObj>
              </mc:Choice>
              <mc:Fallback>
                <p:oleObj name="Equation" r:id="rId4" imgW="152280" imgH="393480" progId="Equation.DSMT4">
                  <p:embed/>
                  <p:pic>
                    <p:nvPicPr>
                      <p:cNvPr id="0" name=""/>
                      <p:cNvPicPr/>
                      <p:nvPr/>
                    </p:nvPicPr>
                    <p:blipFill>
                      <a:blip r:embed="rId5"/>
                      <a:stretch>
                        <a:fillRect/>
                      </a:stretch>
                    </p:blipFill>
                    <p:spPr>
                      <a:xfrm>
                        <a:off x="7537839" y="4925427"/>
                        <a:ext cx="250755" cy="648578"/>
                      </a:xfrm>
                      <a:prstGeom prst="rect">
                        <a:avLst/>
                      </a:prstGeom>
                    </p:spPr>
                  </p:pic>
                </p:oleObj>
              </mc:Fallback>
            </mc:AlternateContent>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967048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447800"/>
            <a:ext cx="7886700" cy="4114800"/>
          </a:xfrm>
        </p:spPr>
        <p:txBody>
          <a:bodyPr>
            <a:normAutofit fontScale="92500"/>
          </a:bodyPr>
          <a:lstStyle/>
          <a:p>
            <a:pPr marL="291600" lvl="0" indent="-291600">
              <a:lnSpc>
                <a:spcPct val="100000"/>
              </a:lnSpc>
              <a:spcBef>
                <a:spcPts val="1000"/>
              </a:spcBef>
            </a:pPr>
            <a:r>
              <a:rPr lang="en-US" dirty="0"/>
              <a:t>A stack is a linear collection that allows access to one end only, called the top:</a:t>
            </a:r>
          </a:p>
          <a:p>
            <a:pPr lvl="1">
              <a:lnSpc>
                <a:spcPct val="100000"/>
              </a:lnSpc>
              <a:spcBef>
                <a:spcPts val="1000"/>
              </a:spcBef>
            </a:pPr>
            <a:r>
              <a:rPr lang="en-US" dirty="0"/>
              <a:t>Elements are pushed onto the top or popped from it</a:t>
            </a:r>
          </a:p>
          <a:p>
            <a:pPr marL="291600" indent="-291600">
              <a:lnSpc>
                <a:spcPct val="100000"/>
              </a:lnSpc>
              <a:spcBef>
                <a:spcPts val="1000"/>
              </a:spcBef>
            </a:pPr>
            <a:r>
              <a:rPr lang="en-US" dirty="0"/>
              <a:t>Other operations on stacks include peeking at the top element, determining the number of elements, determining whether the stack is empty, and returning a string representation</a:t>
            </a:r>
          </a:p>
          <a:p>
            <a:pPr marL="291600" indent="-291600">
              <a:lnSpc>
                <a:spcPct val="100000"/>
              </a:lnSpc>
              <a:spcBef>
                <a:spcPts val="1000"/>
              </a:spcBef>
            </a:pPr>
            <a:r>
              <a:rPr lang="en-US" dirty="0"/>
              <a:t>Stacks are used in applications that manage data items in a last-in-first-out manner</a:t>
            </a:r>
          </a:p>
          <a:p>
            <a:pPr marL="291600" indent="-291600">
              <a:lnSpc>
                <a:spcPct val="100000"/>
              </a:lnSpc>
              <a:spcBef>
                <a:spcPts val="1000"/>
              </a:spcBef>
            </a:pPr>
            <a:r>
              <a:rPr lang="en-US" dirty="0"/>
              <a:t>These applications include the following:</a:t>
            </a:r>
          </a:p>
          <a:p>
            <a:pPr lvl="1">
              <a:lnSpc>
                <a:spcPct val="100000"/>
              </a:lnSpc>
              <a:spcBef>
                <a:spcPts val="1000"/>
              </a:spcBef>
            </a:pPr>
            <a:r>
              <a:rPr lang="en-US" dirty="0"/>
              <a:t>Matching bracket symbols in expressions, evaluating postfix expressions, backtracking algorithms, and managing memory for subroutine calls on a virtual machine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Summary </a:t>
            </a:r>
            <a:r>
              <a:rPr lang="en-US" sz="2000" dirty="0"/>
              <a:t>(2 of 2)</a:t>
            </a:r>
          </a:p>
        </p:txBody>
      </p:sp>
      <p:sp>
        <p:nvSpPr>
          <p:cNvPr id="3" name="Content Placeholder 2"/>
          <p:cNvSpPr>
            <a:spLocks noGrp="1"/>
          </p:cNvSpPr>
          <p:nvPr>
            <p:ph idx="1"/>
          </p:nvPr>
        </p:nvSpPr>
        <p:spPr/>
        <p:txBody>
          <a:bodyPr/>
          <a:lstStyle/>
          <a:p>
            <a:pPr marL="291600" indent="-291600">
              <a:spcBef>
                <a:spcPts val="1000"/>
              </a:spcBef>
            </a:pPr>
            <a:r>
              <a:rPr lang="en-US" dirty="0"/>
              <a:t>Arrays and singly linked structures support simple implementations of stacks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62b0eefb9cd19f82c68f751a363f63926eaff3"/>
  <p:tag name="ISPRING_ULTRA_SCORM_COURSE_ID" val="AFC920DF-0236-4129-B09B-4654F7066265"/>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GtOyEwVDq0oZAQAAAcRAAAmAAAAdW5pdmVyc2FsLW5vLXZpZGVv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BrTshM8lxpzfQDAAASEQAAMAAAAHVuaXZlcnNhbC1uby12aWRlby9mbGFzaF9wdWJsaXNoaW5nX3NldHRpbmdzLnhtbNVY727aSBD/zlOsfOrH4qSXXFJkiKLEKKgEOOxcW1WnaLEHvJf1rs+7htJP9zT3YH2SznqBQCGtaY9TKxSBd2d+O/9+M954F+9TTqaQKyZF0zmuHzkERCRjJiZN5y5sPz93iNJUxJRLAU1HSIdctGpeVow4U0kAWqOoIggjVCPTTSfROmu47mw2qzOV5WZX8kIjvqpHMnWzHBQIDbmbcTrHLz3PQDkLhAoA+JdKsVBr1WqEeBbpVsYFB8JitFww4xTlbU5V4rhWbESjh0kuCxFfSS5zkk9GTeeX80vzWcpYqGuWgjAxUS1cNMu6QeOYGSsoD9gHIAmwSYLmnp04ZMZinTSdFycGBaXdbZQS27pODcqVxBgIvYBPQdOYamof7Xka3mu1XLBL8VzQlEUh7hDjf9O5Du+Dbufav+/1Qz+4vwlvu9aGPZRC/024h1LYCbv+PvJV4W/eDvxht9N7dR/2+92wM3jUwohuBMRzNyPmYWRlkUewCpinkyIdCco41uhnYVSgsco5zScQyjbDJI4pV+CQvzKY/F5QzvQcyXCEZHgAyC5VBpEemrQ1HZ0X4DzCWUA0DHO5KonTl6uSODvfcN21pz+6tdNKj2pNowSLB9dK0zx3fWkpNpZiwzXzTEaSxyuHIB1B3KMprFEieGCijZLHDhljEji62s9AkIAKpCHT6H60AlDFSGmmS/q1F9KXOaOcIB72CSC3wVY4ooTmaiPqq8ib4o9a73pSg/rThsMuPSX6WhY8JnNZEM4egGhJMNVFir8SIOuEIuNcpuUqUl4TxRkaN2Uwg/iiykFv8Yi0QE3sLxkHbU/4u2AfyAjGMkdcoFPsRrjOlMWv7wWcUaUeQenSxmeWJp3etf/mmXGQxlMqoj3BsT4gzfRB8OmcCKmXehiOiBYKyqTELC73qvhW//Y0KJYW3Kb5v07GGvQBU3KYU/ZJzFctqHxsQqclEQ25SmikIMOUWEzciLC7MFFAVcCICiIFnxMaYQdXhtZTJguFK5bAFlp9u4VWnzBRPk2wE+KJeQx5Jcij4xe/npz+dnb+slF3P/7z7/MvKi1m24BTc5wdbldPDs9qWp+N0K8ofWGQbum2ZZ6aQo23Dt39crAYYtst3nPN+Nk9jcqh+aMOo8C/HF7dkKEf3HXDoFGlIHoSuaejBEtqbF4nq+j070JMiV9FdDD0/6hkBuamEiX8oBJcv5Ifr6pIDe2QHqwN6EomYFOf2CaFbZ2zlGFl/hQUfYot38/u/4Wh3/2+aCl+IIYCzaMEs3qwSvgpuuAhQ/wjRc0+rW56G1c7z915iTY7KRMsxViaUb+6ebdOT47wsrhzq1ZDtM3/Y7RqnwBQSwMEFAACAAgAa07ITDoqP066AgAAWAoAACoAAAB1bml2ZXJzYWwtbm8tdmlkZW8vZmxhc2hfc2tpbl9zZXR0aW5ncy54bWyVVttO4zAQfecrqu57w17LSqYSlK6E1F0QIN6dZJpYdezInpTt36/tOMRuG5rtCKmeOcdz9RSit0wsLiYTkkku1TMgMlFoq+l0E5ZfT9MGUYpZJgWCwJmQqqJ8uvj0y31I4pDnWHIHaixnQzPo3czdZwzF+/g+tzJEyGRVU7Ffy0LOUpptCyUbkZ8NrdzXoDgTW4O8/DlfrgYdcKbxHqGKYlpdWRlHqRVoDTakHysrZ1mcpsA7T5fuM5LTu/o4+wPajmmGjnbz2coQraYFxEW+urEyjBfm9rgrcysfExD+ooF+/WJlEMrpHlR8+d03K4MMWTf1/8xIrWRhCxpzPm7iO4dLmpvnZ6O6tHKWYBOyjs52wZfH5XoXgPzX8N0T+1yV5I+2rgcLwTY95bBA1QBJulNr06V8e2jQvI/OHmp6zKOJ+ZE2GhYbyrWH9coe+ARvTOQhymt6yKvkTQXLNuAQGRt6wnJ565ZFiH3XBTEq2Hlln0qg7JF/TGGPkIGyRz5zlsOD4PvjCA5NLanr8i31/Qwa4MlRB4wZBDXH3IfSnTqrdbW2j1cHsXpFh6lkDgtt43lhFdjWkcTp2piSo6CIoDtWUGRS/La4dO+y0SQ5MPhpOz1bBBlyODVyLkazqMN6ufPF2YKQ9oehT649T9Ds8espRaRZWZkfJj2deJ55KKYw0+Q0w25KAwd1LzYy4DjfQ6SKqi2oFyn5WDdCIuix18v2fQ3BSRLUgCSnq0z8JafKL5oqBbUyXWOguyrHyhZYsqLk5g9fGbxBfsAYsLZULM19grL3uQwUfgiAqqzsprY9tJaq4cg47IB7a6BwKQ/lRrSZ0qGBu8E1bDAcOa8ZNZN+WfSzEi+RQH8C/2rCii4+sIwYe6SpdplFL7/bxMHV0XLuFpqdvnCXubMfpuhmYz8uoVHa/yj/AVBLAwQUAAIACABrTshMdO22Qt8DAACjEAAALwAAAHVuaXZlcnNhbC1uby12aWRlby9odG1sX3B1Ymxpc2hpbmdfc2V0dGluZ3MueG1s1VjvbtpIEP/OU6x86sfitJdeUmSIosQoqAQ47Ny1qqpo8Q54L+td17uG0k/3NH2wPsmNvUBCIKlpy+VOKAKPZ347/34zdryTT4kgU8g0V7LpvKgfOARkpBiXk6ZzFbafHztEGyoZFUpC05HKISetmpfmI8F1HIAxqKoJwkjdSE3TiY1JG647m83qXKdZcVeJ3CC+rkcqcdMMNEgDmZsKOscvM09BOwuECgD4lyi5MGvVaoR4FulSsVwA4Qw9l7wIiooLkwjHtVojGt1MMpVLdqaEykg2GTWdX45Pi89SxyKd8wRkkRLdQmEhNg3KGC+coCLgn4HEwCcxent06JAZZyZuOi8PCxTUdjdRSmwbOS1QzhSmQJoFfAKGMmqovbTnGfhk9FJgRWwuacKjEO+QIvymcx5eB93OuX/d64d+cH0RXnatDzsYhf7bcAejsBN2/V30q8JfvBv4w26n9+Y67Pe7YWdwa4UZXUuI565nzMPMqjyLYJUwz8R5MpKUC2zRe2nUYLDJBc0mEKo2xyKOqdDgkL9SmPyeU8HNHLlwgFy4AUhPdQqRGRZlazomy8G5hbOA6BjWctUSr16vWuLoeC10155+G9ZWLz1qDI1ibB6Ula557l3RUm2s5FpoxTUZKcFWAUEyAtajCSZ40JYOGWPWBcbWT0GSgEqkHTcYb7Sy0PlIG25KurUX2qcZp4IgpXAuALkMNuKPYprptTSvUl10e9R631MG9AcbvxU9pPqnygUjc5UTwW+AGEWwtnmCv2IgdxlExplKSqmg2hAtODo35TADdlLloHd4RJKjJc6TVICxJ3zM+WcygrHKEBfoFKcPyrm2+PWdgFOq9S0oXfr4zPKi0zv33z4rAqRsSmW0Izg2BCSp2Qs+nROpzNIO0xHRXENZFMZZea9KbPXvL4PmSS5smX92Me5A77Ek+zlll8J804PKx8Z0WhKxIFcJjRTkWBKLiTciHDxc5lAVMKKSKCnmhEY4snVB6ylXuUaJJbCF1t/vobUnXJZXE3wYwBMzBlklyIMXL389fPXb0fHrRt39+veX548aLZbZQNDiOLvNzh7cltWs7u3Mbxg9sjk3bNsqS4pGZRuHbn8aWGytzRHvucW+2b5+yi15b/uMnm79BP7p8OyCDP3gqhsGjSot0FPINhPF2ETj4omxik3/KsQi+FVUB0P/j0puYDUqkcAPKsH1K8XxporW0K7lwZ2VXMkFHOMTO5ZwkAuecOzF/wUpH+LHj/P5X+Hk1kdC/igpLY33xEmgWRRjHfdW+6ebdE+X1f9SouzV6o1t7RXNc7e+DNdQvv6PhVbtH1BLAwQUAAIACABrTshMghPHdJYBAAAiBgAAKAAAAHVuaXZlcnNhbC1uby12aWRlby9odG1sX3NraW5fc2V0dGluZ3MuanONlMtuwjAQRfd8BXK3FaJPaHeoUKkSi0plV3VhwhAiHNuyTQpF/Hsz5hU7k1LPJr46uvOIPNtWuzwsYe3n9tZ/+/t7ePcaoObMCq5DXTToOerMimwGkywHkUlgEVIgMufCwknfnRHKmUnvOt18oK+tGDJF0PqUoCIaArQUWBDgNwWuKfEnbO7Q2L6pyqinK+eU7CRKOpCuI5XJuWfY1as/1R4jWBVgLqBznkBg2vOniTw7PvQwqlyics3lZqxS1ZnyZJkatZKzpvyLjQZT/vTlHug+9V5GgZ3IrHtzkMeJR32MZlIbsBYOeR9HGCQs+BRExbfrzx9oYFxvKKKLzGbuSA9uMKq05inUptQfYISYLL1q0+xh1DkHa7cn7m4xAkLwDZia1fAeIwCVXul//EBtVIoTqaH1mZ9Qofgsk+khdReD5LBYtG2a3rlRX/6QBU9IRU9oQT2/vGl5xKAlQHfUgrw2yjum7AQlSiKHokBNgAW9SFy8SPD+2WbcOZ4s8nI/lOuxnAM3SzATpURZ/telQuNcrd0vUEsDBBQAAgAIAGtOyEw9PC/RwQAAAOUBAAAjAAAAdW5pdmVyc2FsLW5vLXZpZGVv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GtOyEyewaynaAAAAGwAAAAlAAAAdW5pdmVyc2FsLW5vLXZpZGVvL2xvY2FsX3NldHRpbmdzLnhtbA3KuwrDMAxG4T1PIbT3tmWIk6HQMUvSBxDJTzHIUrGd0r59vZ0D3zB9k9IHuUS3wLfzlQm2+R7tFfi5Pk49U6liu6gbApszTWM3qG+iC2ptsNBb5Ye8IrWomCU1ucR2oLsfuYAvY/cHUEsDBBQAAgAIAEqMlUdYuREx+gIAAKoIAAAdAAAAdW5pdmVyc2FsLW5vLXZpZGVvL3BsYXllci54bWytVU1v2zAMPWfA/oOhe6Qkbdc2sFN0BYIdtqFA1m23QLUZW4steZLcNP31k+RvwylaYAcHMcX3SJGPtH/znKXeE0jFBA/QHM+QBzwUEeNxgB5+rKdX6Gbl5yk9gvQiUKFkuTa+91QnAeoYsCFCHosCVHBmCWk65WL6xCIQyMslE5LpowlxYUI0ARfnyDNArgKUaJ0vCTkcDpgp489jJdLCUisciozkEhRwDZKU2VTAZa7fjyX6mIOqGd5AYJ5M8D7sWbEe8HCGhYzJYjabk9/fvm7CBDI6ZVxpykNAq48fJq6QjzTcfxNRkYKytolfkm9AaxvX2Sa+XrL5FfeUDANUOmwzUIrGoHDKY0RKLBkB+7uUqqTiUT1ay6v2rOJ1flv7vq3dXBtJ65wXjylTiTnqQlrrKNAn/ah+5q7r1PFQq2NtmZAn4W/BJETu9WcjxNkceTaxNQ21kMc7c2o0UvUGN/3EZT+xdcWN8HATZNNSoPICjZO7N1aHENW33QHVhYS6VBPfifc7lZJaJay0LMAnA2OFJX2wT8orV01qG+InOksv3tAb6zdozR/1Wmcc4H805oshamrCeATPa2Z8NGSm2BpMF6wN6zzFNmabkyoes46ue6Yyx6pb5iKepjIGM3kR1ZS0dnIKCpIq4xIWcoDtHJwEJyxOUvPoUYbh6UmajMr9KEPn4CQ4FeF+BNqYmzKSYR0HYmoU5JORdeKHhdIiYy9Onr09o5dOh83I3easGbjL2euj2B+dXox6kHZoZHXZf519VR/e2wHWqvXZ5qWlp1YzD6CLvPSqZ6HIBz4R7GiR6rtuTvU+7EAHOY9NxzjXL6N3cdiwF/ASsDIJ0KerM+QdWGS/gfMzU7uWwfTTrJ1eeGc6FXEneF0HjIl7K39dRestX7Wu7PqpDvumhk8MDiWmnKnPRh2xFAWPBj3EefsRUanZabcSaHPBy/k18lLYmb/zhVGsyAN0vmjufH1xXWNdXvdl4DKXd+ioSrhVEKl03VzEr3bD6h9QSwMEFAACAAgAa07ITFvYtdtvAQAA+AIAADIAAAB1bml2ZXJzYWwtbm8tdmlkZW8vc2tpbl9jdXN0b21pemF0aW9uX3NldHRpbmdzLnhtbI1S22rcMBB9z1eI/MBKGt0M7oJuLgsNDd2WPgazVotJIgdLoSHo4yunWTbbbEg0TzPnzBlmdNp0PUZ7n/J0Oz72eZziNuQ8xt9pfYZQu5tupvlyDinktDpUfo5xmP5s4q9pqdVqyn0c+nmwC5rWGHVPDymplVM1Y4ZRJJmnXiHnua1YA64BWzFHiW1X/0n8053DLsR8WrVdHaGvGzYxhTlv4hAe1nDMfgkdb/B57oex8tJasCXKfmpxbAnECJfcF6oBQCDLHXG4SNlITZDHjGMoRlGggAjnpBGFSMqhZl0jqgrzjUBMMkZdoZ7WbqS1cdQWCQ0huk7zqrGl64zEGBFCgLnCBXQGo8qGqqFBLQcEBwZE0UYTBaiznelY8c4Ly5GiXmBcmDGA8eG4h+1enutQ/fA6+3O+I3jyC06ii7dWJ8zV7u7nuZK/h9u7mz4HNA6fzrebi8sv/sp+/fFt68+fjflk4j1tcWtd+01z/wVQSwMEFAACAAgAbE7ITA5/2u9kCQAAexgAACAAAAB1bml2ZXJzYWwtbm8tdmlkZW8vdW5pdmVyc2FsLnBuZ+1Ya1RTVxa+1rZUGaVqCzUloHam1A6FUgULY6AUFbFAUMtDeVUzyoIUAw0RSLjgVFt0sUw6S2fQBEGtEiAkaaokkBBil0LGKq8mJECaBEklJJckjeQBCUnmBtpO1/yaX/MrP+663z7nnr322d+53z7nXMhIT163FrEWAIB1Kfv3HAKA1Q0A8NzUSy/CLajs6XT4tQp/KPlDgDUUrION54sS0xIBgEPxXzr2AmyvKdt/BA8AgX/yPqtSDv3xZwB47eWUPYkfVxUYlEJcXubdgSdL8suXb/jn7/mibdvoltFb169f33/28psbb57Z+QH/lv+5gEXVieKnRpLq6bhm8+v4pU91G+bLh6qGmhMnRU2bnd9NvKfqA0m2R5GiJtfS/LC2oLdqFQDcSyc4M/2yAlgaMNxtU+A0Q3A4PwaMfYEawpitkFzzpdeOHKvXchaMSkH5atg00vUP/KwTUl36r0aCe0FTFQZb9sOE6bO69d72XZyXAOCDlxu80/VBH/RBH/RBH/RBH/RBH/RBH/RBH/w/w6qfnSZRi/fkeyD8OQB4+cE2uCvxf4OsVxtwqt5YksOim9CIKcMh8TVVttHk0PIz1DtUAfU+9VExeRUwFdOJdRYbiI1j+IhC0DqWCOknuTadiy52R7Zpay+llZeF9xGt+jkNJSGkJbye0dMZe20GAQCnfnjUGFmJf0aXjRF2S8pZJTShNVX4ZXasLQkZ3IBu3r25ZYs8Gx83GA0fyS/HHePw0Gtq3YtaDQf+tFjt4RPfQYMb9VM5FVlmS0k6vedF4AwtIzS3xjI72h3jYtPIldGGO0FWavOzN9r9xNOWW++rdsoBoGyTnnRKQq0IaNXkpznnUoRcSXlhfU7vG61eD4cZJm4aNCq8Qq6GR4dlu4wzmef7/3KcigWA9287zk+r+ujd0Uh7yWQRTq9pk3BCD4SrNkjyVgP3thusjYLOVk0B7PWgq/gr3ULA1kDT+WIWnKSPm1GkGFaS/WScbezucAGqzl3TdJaxsaHywXJIa+063G20WES1TTCIg5RFPMJzILzWoaMXtYC2CVKQUgQmsRW4UEym8x/8PAWTMspN0FxCx1eLPKcVBo3lNMOAR0lXXJFcOzZf0i1kS+JJpx/bg3CowEJRLchF4tR9KOd0Q6QKNy9BJ1xTF2zgGhUY5UkEsiy6RGCNmrQV1cwP7tLKsTWLTxs9OAUC0qRinHkB0V4Gghl9ghhmArsElbLj2pbFkZRGmZ3t+Cl94pSacsSjVFVeLV6fJYlv1MWON5/XY2a1PSGSDmNuJNthI4TwuAn2DLnLPc0cOO43wRa5ibU9NR6XXcvLfNd2OvtCf+13fW4HNK/QR5Hec+7tKL+W03k935PcFtV/3NPrvgp6CKn4dQAgXnhSHzrQpd1KVPaSj963u6A4fjJzUD5C28e8gRUgFK8RzdP9iwZozW0GdeZYtAF/lbBepunAtB3Ef1OgJvPZgiJUVGYjtuJR3s6IEmqSlHSMSgno6crpvKLngDssP9lpN9jyc0yFNQcHpSjTp/byeIbh2V3ValVkVTsnPp3SV7t2meyodLMCTQLzwopLLv7Y8srcrI5Q0Z+RbzT8ecERRZROCjJDLRdaTH1Oo4urXAc9vJWUOv8N1daTGnr4orWbH8tHOhzEbQwpSMgjpN6OsFsRY8kEIc90nrXYDombj4RbC67MaJJOvRMIbcFK/4YzQbty0J+JXkNxmGJiboIRgQ/lC0vr9iXU196X+cs9JRkYsCmEkAs5WdjltTpw17hbuheaKRDg2PI11xESRw+bt/7+2pE+5jCXuar6fHGIl692TDtZ1w31zM7MYkSdiY7xtzudqRiTYHJosT113ryVF9IgeVCq/iQoLZ1i5TaE2L8NKnHucMRKrUSMbFYCRcvEV/epK/NXktJK0N7gQjPkpriHh+QkZD5PHgOCF4Uh1hymCaI02S5Qa5eg5jTaCjfNZ+M50rB7cDIwDuLeE6HaGKKTU5Ia9oOslDiEPuFlZlNR4F+GjAfCWfRzdLFuVI4+tjK5+/UB4pV1gERWCskFyczFSOfQcbW8SBEXj0X2NRfvlu4MYBS3PLIES5/GcRHWXsGrXE43uZRSUSabxagmud9v/4X9scKyO6hShQM/DJI80Id16/lSGnMfap86y/HCRN9LQUoVN/IeooEAokCVxwCSLNbDV7wCRjYbeGoydjjJQuze1h4hvyqyBg1b4vhGmsx8GyYJotyUuYUviozJGY9+F4vmyNf8Wy2mmECsk+CRhd3OIihOC9zVyjfpGaYviuPjf8rCcNT7o7cTeiyvlzianvHz0eO2i/hR/x94cowUZKq7XVWu5yz43MKvVK378o0KkgXzT4yoYlkogyGzRqxxzHcQ02oOdsPBuHOfHIYcR8+iiwLlrizl8y41RiaTBHe2ghES/IjceenvIAlJUtYepN1VsYfesm0eiJsxnG4cXLyhR7072H/iVHTgR6KrsoOeAxwwybKH9bUoqZs/+4JOwfu68F8G/5FhLJjo+PTkRauZXj7nH7sSwyBtl2aCweCH5xGRSmguwPU5jc9kQh4VfcDS1ZWUil/+E4YTC007zqEc44JEblinzCnTQJS7pxLIkwmm8YG3rHnQSgCowI+EUfp7irtp7TlQKbn6rCdoWQzoZY/Vub3heVxOjuMPx5JHdnIpcjNh1L7AKolzwyJ7grhepnBIvoqGaUcSCuufIB4SegZsqXPbMebFea1md16/aGPDrV/kOR6M+508Vz/76+/l+QAlBIWQ3yS9t6z7FD2vpcCuoaf9JvxCuL6p6oRYuK+gryY2xLP1wTQyypuLpqNgfelRirG/4jG8AITVtrmJqrn63xxv0gs+/U8peshRH86Dax8podSFa/ulSn7PqaszR3SYdGlifkdpK2if4tehzdvggtbseXVa/dn3Dj/gDGNcYw9if8tSYYel2CNsXcVjOaEsXFUf2a9qpVUdhGf4tr7x+tyJ0roxgjWE1ErWviIaOQlN5YRb99iqJh3csWDVg4a1AJDdVd/lugHpUdbHaTH9Xcc3AMAZcNN/bS3O+dUtmcVVfr/egCd4lvC9m+Avne1x5u9ga4dqDbzjcH18bWFqrq7+jnfMZf19hJaTo4HFH7HreQCYqm2LmDPHB2KXXHZ1kUklfL0S3nN80tKxmuHnwTVdcwX0pnZUs27SvDfyQMre9D2sDz/5/N9QSwMEFAACAAgAbE7ITGH/pqRJAAAAagAAACQAAAB1bml2ZXJzYWwtbm8tdmlkZW8vdW5pdmVyc2FsLnBuZy54bWyzsa/IzVEoSy0qzszPs1Uy1DNQsrfj5bIpKEoty0wtV6gAihnpGUCAkkIlKrc8M6Ukw1bJwsIYIZaRmpmeUWKrZGaGUKgPNBIAUEsBAgAAFAACAAgAa07ITBUOrShkBAAABxEAACYAAAAAAAAAAQAAAAAAAAAAAHVuaXZlcnNhbC1uby12aWRlby9jb21tb25fbWVzc2FnZXMubG5nUEsBAgAAFAACAAgAa07ITPJcac30AwAAEhEAADAAAAAAAAAAAQAAAAAAqAQAAHVuaXZlcnNhbC1uby12aWRlby9mbGFzaF9wdWJsaXNoaW5nX3NldHRpbmdzLnhtbFBLAQIAABQAAgAIAGtOyEw6Kj9OugIAAFgKAAAqAAAAAAAAAAEAAAAAAOoIAAB1bml2ZXJzYWwtbm8tdmlkZW8vZmxhc2hfc2tpbl9zZXR0aW5ncy54bWxQSwECAAAUAAIACABrTshMdO22Qt8DAACjEAAALwAAAAAAAAABAAAAAADsCwAAdW5pdmVyc2FsLW5vLXZpZGVvL2h0bWxfcHVibGlzaGluZ19zZXR0aW5ncy54bWxQSwECAAAUAAIACABrTshMghPHdJYBAAAiBgAAKAAAAAAAAAABAAAAAAAYEAAAdW5pdmVyc2FsLW5vLXZpZGVvL2h0bWxfc2tpbl9zZXR0aW5ncy5qc1BLAQIAABQAAgAIAGtOyEw9PC/RwQAAAOUBAAAjAAAAAAAAAAEAAAAAAPQRAAB1bml2ZXJzYWwtbm8tdmlkZW8vaTE4bl9wcmVzZXRzLnhtbFBLAQIAABQAAgAIAGtOyEyewaynaAAAAGwAAAAlAAAAAAAAAAEAAAAAAPYSAAB1bml2ZXJzYWwtbm8tdmlkZW8vbG9jYWxfc2V0dGluZ3MueG1sUEsBAgAAFAACAAgASoyVR1i5ETH6AgAAqggAAB0AAAAAAAAAAQAAAAAAoRMAAHVuaXZlcnNhbC1uby12aWRlby9wbGF5ZXIueG1sUEsBAgAAFAACAAgAa07ITFvYtdtvAQAA+AIAADIAAAAAAAAAAQAAAAAA1hYAAHVuaXZlcnNhbC1uby12aWRlby9za2luX2N1c3RvbWl6YXRpb25fc2V0dGluZ3MueG1sUEsBAgAAFAACAAgAbE7ITA5/2u9kCQAAexgAACAAAAAAAAAAAAAAAAAAlRgAAHVuaXZlcnNhbC1uby12aWRlby91bml2ZXJzYWwucG5nUEsBAgAAFAACAAgAbE7ITGH/pqRJAAAAagAAACQAAAAAAAAAAQAAAAAANyIAAHVuaXZlcnNhbC1uby12aWRlby91bml2ZXJzYWwucG5nLnhtbFBLBQYAAAAACwALAKwDAADCIgAAAAA="/>
  <p:tag name="ISPRING_PRESENTATION_TITLE" val="9780357122754_ch07_CE"/>
  <p:tag name="ISPRING_OUTPUT_FOLDER" val="C:\Users\Jvaughey\Downloads"/>
</p:tagLst>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56066</TotalTime>
  <Words>6339</Words>
  <Application>Microsoft Office PowerPoint</Application>
  <PresentationFormat>On-screen Show (4:3)</PresentationFormat>
  <Paragraphs>607</Paragraphs>
  <Slides>49</Slides>
  <Notes>49</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62" baseType="lpstr">
      <vt:lpstr>MS Mincho</vt:lpstr>
      <vt:lpstr>Arial</vt:lpstr>
      <vt:lpstr>Bank Gothic Bold</vt:lpstr>
      <vt:lpstr>Calibri</vt:lpstr>
      <vt:lpstr>Courier New</vt:lpstr>
      <vt:lpstr>Courier New Bold</vt:lpstr>
      <vt:lpstr>Open Sans</vt:lpstr>
      <vt:lpstr>Open Sans Regular</vt:lpstr>
      <vt:lpstr>Summer Font</vt:lpstr>
      <vt:lpstr>Times</vt:lpstr>
      <vt:lpstr>Times New Roman</vt:lpstr>
      <vt:lpstr>Brand_PPT_Template_SIMPLIFIED_SD</vt:lpstr>
      <vt:lpstr>Equation</vt:lpstr>
      <vt:lpstr>Chapter 7: Stacks</vt:lpstr>
      <vt:lpstr>Learning Objectives</vt:lpstr>
      <vt:lpstr>Overview of Stacks (1 of 3)</vt:lpstr>
      <vt:lpstr>Overview of Stacks (2 of 3)</vt:lpstr>
      <vt:lpstr>Overview of Stacks (3 of 3)</vt:lpstr>
      <vt:lpstr>Using a Stack</vt:lpstr>
      <vt:lpstr>The Stack Interface (1 of 5)</vt:lpstr>
      <vt:lpstr>The Stack Interface (2 of 5)</vt:lpstr>
      <vt:lpstr>The Stack Interface (3 of 5)</vt:lpstr>
      <vt:lpstr>The Stack Interface (4 of 5)</vt:lpstr>
      <vt:lpstr>The Stack Interface (5 of 5)</vt:lpstr>
      <vt:lpstr>Instantiating a Stack</vt:lpstr>
      <vt:lpstr>Example Application: Matching Parentheses (1 of 3)</vt:lpstr>
      <vt:lpstr>Example Application: Matching Parentheses (2 of 3)</vt:lpstr>
      <vt:lpstr>Example Application: Matching Parentheses (3 of 3)</vt:lpstr>
      <vt:lpstr>Three Applications of Stacks</vt:lpstr>
      <vt:lpstr>Evaluating Arithmetic Expressions (1 of 3)</vt:lpstr>
      <vt:lpstr>Evaluating Arithmetic Expressions (2 of 3)</vt:lpstr>
      <vt:lpstr>Evaluating Arithmetic Expressions (3 of 3)</vt:lpstr>
      <vt:lpstr>Evaluating Postfix Expressions (1 of 3)</vt:lpstr>
      <vt:lpstr>Evaluating Postfix Expressions (2 of 3)</vt:lpstr>
      <vt:lpstr>Evaluating Postfix Expressions (3 of 3)</vt:lpstr>
      <vt:lpstr>Converting Infix to Postfix (1 of 3)</vt:lpstr>
      <vt:lpstr>Converting Infix to Postfix (2 of 3)</vt:lpstr>
      <vt:lpstr>Converting Infix to Postfix (3 of 3)</vt:lpstr>
      <vt:lpstr>Backtracking (1 of 3)</vt:lpstr>
      <vt:lpstr>Backtracking (2 of 3)</vt:lpstr>
      <vt:lpstr>Backtracking (3 of 3)</vt:lpstr>
      <vt:lpstr>Memory Management (1 of 6)</vt:lpstr>
      <vt:lpstr>Memory Management (2 of 6)</vt:lpstr>
      <vt:lpstr>Memory Management (3 of 6)</vt:lpstr>
      <vt:lpstr>Memory Management (4 of 6)</vt:lpstr>
      <vt:lpstr>Memory Management (5 of 6)</vt:lpstr>
      <vt:lpstr>Memory Management (6 of 6)</vt:lpstr>
      <vt:lpstr>Implementations of Stacks</vt:lpstr>
      <vt:lpstr>Test Driver</vt:lpstr>
      <vt:lpstr>Adding Stacks to the Collection Hierarchy (1 of 2)</vt:lpstr>
      <vt:lpstr>Adding Stacks to the Collection Hierarchy (2 of 2)</vt:lpstr>
      <vt:lpstr>Array Implementation</vt:lpstr>
      <vt:lpstr>Linked Implementation (1 of 4)</vt:lpstr>
      <vt:lpstr>Linked Implementation (2 of 4)</vt:lpstr>
      <vt:lpstr>Linked Implementation (3 of 4)</vt:lpstr>
      <vt:lpstr>Linked Implementation (4 of 4)</vt:lpstr>
      <vt:lpstr>The Role of the Abstract Stack Class (1 of 2)</vt:lpstr>
      <vt:lpstr>The Role of the Abstract Stack Class (2 of 2)</vt:lpstr>
      <vt:lpstr>Time and Space Analysis of the Two Implementations (1 of 2)</vt:lpstr>
      <vt:lpstr>Time and Space Analysis of the Two Implementations (2 of 2)</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9780357122754_ch07_CE</dc:title>
  <dc:creator>Stulga, Michele L</dc:creator>
  <cp:lastModifiedBy>Vaughey, Jim</cp:lastModifiedBy>
  <cp:revision>726</cp:revision>
  <dcterms:created xsi:type="dcterms:W3CDTF">2001-07-05T23:10:12Z</dcterms:created>
  <dcterms:modified xsi:type="dcterms:W3CDTF">2018-12-21T19:03:10Z</dcterms:modified>
</cp:coreProperties>
</file>