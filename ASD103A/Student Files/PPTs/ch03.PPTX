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8" r:id="rId1"/>
  </p:sldMasterIdLst>
  <p:notesMasterIdLst>
    <p:notesMasterId r:id="rId67"/>
  </p:notesMasterIdLst>
  <p:handoutMasterIdLst>
    <p:handoutMasterId r:id="rId68"/>
  </p:handoutMasterIdLst>
  <p:sldIdLst>
    <p:sldId id="399" r:id="rId2"/>
    <p:sldId id="333" r:id="rId3"/>
    <p:sldId id="337" r:id="rId4"/>
    <p:sldId id="338" r:id="rId5"/>
    <p:sldId id="339" r:id="rId6"/>
    <p:sldId id="340" r:id="rId7"/>
    <p:sldId id="341" r:id="rId8"/>
    <p:sldId id="342" r:id="rId9"/>
    <p:sldId id="343" r:id="rId10"/>
    <p:sldId id="344" r:id="rId11"/>
    <p:sldId id="345" r:id="rId12"/>
    <p:sldId id="346" r:id="rId13"/>
    <p:sldId id="347" r:id="rId14"/>
    <p:sldId id="348" r:id="rId15"/>
    <p:sldId id="349" r:id="rId16"/>
    <p:sldId id="350" r:id="rId17"/>
    <p:sldId id="351" r:id="rId18"/>
    <p:sldId id="352" r:id="rId19"/>
    <p:sldId id="401" r:id="rId20"/>
    <p:sldId id="354" r:id="rId21"/>
    <p:sldId id="355" r:id="rId22"/>
    <p:sldId id="356" r:id="rId23"/>
    <p:sldId id="357" r:id="rId24"/>
    <p:sldId id="358" r:id="rId25"/>
    <p:sldId id="359" r:id="rId26"/>
    <p:sldId id="360" r:id="rId27"/>
    <p:sldId id="361" r:id="rId28"/>
    <p:sldId id="362" r:id="rId29"/>
    <p:sldId id="363" r:id="rId30"/>
    <p:sldId id="364" r:id="rId31"/>
    <p:sldId id="365" r:id="rId32"/>
    <p:sldId id="366" r:id="rId33"/>
    <p:sldId id="367" r:id="rId34"/>
    <p:sldId id="368" r:id="rId35"/>
    <p:sldId id="369" r:id="rId36"/>
    <p:sldId id="370" r:id="rId37"/>
    <p:sldId id="371" r:id="rId38"/>
    <p:sldId id="372" r:id="rId39"/>
    <p:sldId id="373" r:id="rId40"/>
    <p:sldId id="374" r:id="rId41"/>
    <p:sldId id="398" r:id="rId42"/>
    <p:sldId id="375" r:id="rId43"/>
    <p:sldId id="376" r:id="rId44"/>
    <p:sldId id="377" r:id="rId45"/>
    <p:sldId id="378" r:id="rId46"/>
    <p:sldId id="379" r:id="rId47"/>
    <p:sldId id="396" r:id="rId48"/>
    <p:sldId id="380" r:id="rId49"/>
    <p:sldId id="381" r:id="rId50"/>
    <p:sldId id="382" r:id="rId51"/>
    <p:sldId id="383" r:id="rId52"/>
    <p:sldId id="384" r:id="rId53"/>
    <p:sldId id="385" r:id="rId54"/>
    <p:sldId id="386" r:id="rId55"/>
    <p:sldId id="387" r:id="rId56"/>
    <p:sldId id="397" r:id="rId57"/>
    <p:sldId id="388" r:id="rId58"/>
    <p:sldId id="389" r:id="rId59"/>
    <p:sldId id="390" r:id="rId60"/>
    <p:sldId id="391" r:id="rId61"/>
    <p:sldId id="392" r:id="rId62"/>
    <p:sldId id="393" r:id="rId63"/>
    <p:sldId id="394" r:id="rId64"/>
    <p:sldId id="335" r:id="rId65"/>
    <p:sldId id="336" r:id="rId66"/>
  </p:sldIdLst>
  <p:sldSz cx="9144000" cy="6858000" type="screen4x3"/>
  <p:notesSz cx="6858000" cy="9144000"/>
  <p:custDataLst>
    <p:tags r:id="rId69"/>
  </p:custDataLst>
  <p:defaultTextStyle>
    <a:defPPr>
      <a:defRPr lang="en-US"/>
    </a:defPPr>
    <a:lvl1pPr algn="l" rtl="0" fontAlgn="base">
      <a:spcBef>
        <a:spcPct val="0"/>
      </a:spcBef>
      <a:spcAft>
        <a:spcPct val="0"/>
      </a:spcAft>
      <a:defRPr sz="2200" kern="1200">
        <a:solidFill>
          <a:schemeClr val="tx1"/>
        </a:solidFill>
        <a:latin typeface="Times New Roman" pitchFamily="18" charset="0"/>
        <a:ea typeface="+mn-ea"/>
        <a:cs typeface="+mn-cs"/>
      </a:defRPr>
    </a:lvl1pPr>
    <a:lvl2pPr marL="457200" algn="l" rtl="0" fontAlgn="base">
      <a:spcBef>
        <a:spcPct val="0"/>
      </a:spcBef>
      <a:spcAft>
        <a:spcPct val="0"/>
      </a:spcAft>
      <a:defRPr sz="2200" kern="1200">
        <a:solidFill>
          <a:schemeClr val="tx1"/>
        </a:solidFill>
        <a:latin typeface="Times New Roman" pitchFamily="18" charset="0"/>
        <a:ea typeface="+mn-ea"/>
        <a:cs typeface="+mn-cs"/>
      </a:defRPr>
    </a:lvl2pPr>
    <a:lvl3pPr marL="914400" algn="l" rtl="0" fontAlgn="base">
      <a:spcBef>
        <a:spcPct val="0"/>
      </a:spcBef>
      <a:spcAft>
        <a:spcPct val="0"/>
      </a:spcAft>
      <a:defRPr sz="2200" kern="1200">
        <a:solidFill>
          <a:schemeClr val="tx1"/>
        </a:solidFill>
        <a:latin typeface="Times New Roman" pitchFamily="18" charset="0"/>
        <a:ea typeface="+mn-ea"/>
        <a:cs typeface="+mn-cs"/>
      </a:defRPr>
    </a:lvl3pPr>
    <a:lvl4pPr marL="1371600" algn="l" rtl="0" fontAlgn="base">
      <a:spcBef>
        <a:spcPct val="0"/>
      </a:spcBef>
      <a:spcAft>
        <a:spcPct val="0"/>
      </a:spcAft>
      <a:defRPr sz="2200" kern="1200">
        <a:solidFill>
          <a:schemeClr val="tx1"/>
        </a:solidFill>
        <a:latin typeface="Times New Roman" pitchFamily="18" charset="0"/>
        <a:ea typeface="+mn-ea"/>
        <a:cs typeface="+mn-cs"/>
      </a:defRPr>
    </a:lvl4pPr>
    <a:lvl5pPr marL="1828800" algn="l" rtl="0" fontAlgn="base">
      <a:spcBef>
        <a:spcPct val="0"/>
      </a:spcBef>
      <a:spcAft>
        <a:spcPct val="0"/>
      </a:spcAft>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2" clrIdx="0"/>
  <p:cmAuthor id="1" name="Rafael Ignacio Bonilla Armijos" initials="RIBA" lastIdx="2" clrIdx="1">
    <p:extLst/>
  </p:cmAuthor>
  <p:cmAuthor id="2" name="Stulga, Michele L" initials="SML" lastIdx="19" clrIdx="2">
    <p:extLst/>
  </p:cmAuthor>
  <p:cmAuthor id="3" name="S.A.Bennett" initials="SB" lastIdx="8" clrIdx="3"/>
  <p:cmAuthor id="4" name="Julie Tomsho" initials="JRT" lastIdx="4" clrIdx="4">
    <p:extLst>
      <p:ext uri="{19B8F6BF-5375-455C-9EA6-DF929625EA0E}">
        <p15:presenceInfo xmlns:p15="http://schemas.microsoft.com/office/powerpoint/2012/main" userId="Julie Tomsh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8D4"/>
    <a:srgbClr val="004978"/>
    <a:srgbClr val="006800"/>
    <a:srgbClr val="8A3800"/>
    <a:srgbClr val="C00000"/>
    <a:srgbClr val="5B53FF"/>
    <a:srgbClr val="6666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34" autoAdjust="0"/>
    <p:restoredTop sz="96408" autoAdjust="0"/>
  </p:normalViewPr>
  <p:slideViewPr>
    <p:cSldViewPr>
      <p:cViewPr varScale="1">
        <p:scale>
          <a:sx n="64" d="100"/>
          <a:sy n="64" d="100"/>
        </p:scale>
        <p:origin x="1108" y="36"/>
      </p:cViewPr>
      <p:guideLst>
        <p:guide orient="horz" pos="2160"/>
        <p:guide pos="2880"/>
      </p:guideLst>
    </p:cSldViewPr>
  </p:slideViewPr>
  <p:outlineViewPr>
    <p:cViewPr>
      <p:scale>
        <a:sx n="33" d="100"/>
        <a:sy n="33" d="100"/>
      </p:scale>
      <p:origin x="0" y="-64380"/>
    </p:cViewPr>
  </p:outlineViewPr>
  <p:notesTextViewPr>
    <p:cViewPr>
      <p:scale>
        <a:sx n="100" d="100"/>
        <a:sy n="100" d="100"/>
      </p:scale>
      <p:origin x="0" y="0"/>
    </p:cViewPr>
  </p:notesTextViewPr>
  <p:sorterViewPr>
    <p:cViewPr>
      <p:scale>
        <a:sx n="66" d="100"/>
        <a:sy n="66" d="100"/>
      </p:scale>
      <p:origin x="0" y="-3945"/>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6" Type="http://schemas.openxmlformats.org/officeDocument/2006/relationships/image" Target="../media/image19.wmf"/><Relationship Id="rId5" Type="http://schemas.openxmlformats.org/officeDocument/2006/relationships/image" Target="../media/image18.wmf"/><Relationship Id="rId4"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4C7AC561-FEF4-4564-B1BB-B4891A40ACD7}" type="slidenum">
              <a:rPr lang="en-US"/>
              <a:pPr>
                <a:defRPr/>
              </a:pPr>
              <a:t>‹#›</a:t>
            </a:fld>
            <a:endParaRPr lang="en-US" dirty="0"/>
          </a:p>
        </p:txBody>
      </p:sp>
    </p:spTree>
    <p:extLst>
      <p:ext uri="{BB962C8B-B14F-4D97-AF65-F5344CB8AC3E}">
        <p14:creationId xmlns:p14="http://schemas.microsoft.com/office/powerpoint/2010/main" val="2562974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D4FD6BFF-8DB4-463C-8B03-99A14BC43E25}" type="slidenum">
              <a:rPr lang="en-US"/>
              <a:pPr>
                <a:defRPr/>
              </a:pPr>
              <a:t>‹#›</a:t>
            </a:fld>
            <a:endParaRPr lang="en-US" dirty="0"/>
          </a:p>
        </p:txBody>
      </p:sp>
    </p:spTree>
    <p:extLst>
      <p:ext uri="{BB962C8B-B14F-4D97-AF65-F5344CB8AC3E}">
        <p14:creationId xmlns:p14="http://schemas.microsoft.com/office/powerpoint/2010/main" val="1374656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dirty="0"/>
          </a:p>
        </p:txBody>
      </p:sp>
      <p:sp>
        <p:nvSpPr>
          <p:cNvPr id="59396" name="Slide Number Placeholder 3"/>
          <p:cNvSpPr>
            <a:spLocks noGrp="1"/>
          </p:cNvSpPr>
          <p:nvPr>
            <p:ph type="sldNum" sz="quarter" idx="5"/>
          </p:nvPr>
        </p:nvSpPr>
        <p:spPr>
          <a:noFill/>
        </p:spPr>
        <p:txBody>
          <a:bodyPr/>
          <a:lstStyle/>
          <a:p>
            <a:fld id="{86EC327F-7E80-4D08-B8B0-0F574A3B94BC}" type="slidenum">
              <a:rPr lang="en-US" smtClean="0"/>
              <a:pPr/>
              <a:t>1</a:t>
            </a:fld>
            <a:endParaRPr lang="en-US" dirty="0"/>
          </a:p>
        </p:txBody>
      </p:sp>
    </p:spTree>
    <p:extLst>
      <p:ext uri="{BB962C8B-B14F-4D97-AF65-F5344CB8AC3E}">
        <p14:creationId xmlns:p14="http://schemas.microsoft.com/office/powerpoint/2010/main" val="3996258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a:t>
            </a:fld>
            <a:endParaRPr lang="en-US" dirty="0"/>
          </a:p>
        </p:txBody>
      </p:sp>
    </p:spTree>
    <p:extLst>
      <p:ext uri="{BB962C8B-B14F-4D97-AF65-F5344CB8AC3E}">
        <p14:creationId xmlns:p14="http://schemas.microsoft.com/office/powerpoint/2010/main" val="1277704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a:t>
            </a:fld>
            <a:endParaRPr lang="en-US" dirty="0"/>
          </a:p>
        </p:txBody>
      </p:sp>
    </p:spTree>
    <p:extLst>
      <p:ext uri="{BB962C8B-B14F-4D97-AF65-F5344CB8AC3E}">
        <p14:creationId xmlns:p14="http://schemas.microsoft.com/office/powerpoint/2010/main" val="22624689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a:t>
            </a:fld>
            <a:endParaRPr lang="en-US" dirty="0"/>
          </a:p>
        </p:txBody>
      </p:sp>
    </p:spTree>
    <p:extLst>
      <p:ext uri="{BB962C8B-B14F-4D97-AF65-F5344CB8AC3E}">
        <p14:creationId xmlns:p14="http://schemas.microsoft.com/office/powerpoint/2010/main" val="3020882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a:t>
            </a:fld>
            <a:endParaRPr lang="en-US" dirty="0"/>
          </a:p>
        </p:txBody>
      </p:sp>
    </p:spTree>
    <p:extLst>
      <p:ext uri="{BB962C8B-B14F-4D97-AF65-F5344CB8AC3E}">
        <p14:creationId xmlns:p14="http://schemas.microsoft.com/office/powerpoint/2010/main" val="42625307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6</a:t>
            </a:fld>
            <a:endParaRPr lang="en-US" dirty="0"/>
          </a:p>
        </p:txBody>
      </p:sp>
    </p:spTree>
    <p:extLst>
      <p:ext uri="{BB962C8B-B14F-4D97-AF65-F5344CB8AC3E}">
        <p14:creationId xmlns:p14="http://schemas.microsoft.com/office/powerpoint/2010/main" val="672472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7</a:t>
            </a:fld>
            <a:endParaRPr lang="en-US" dirty="0"/>
          </a:p>
        </p:txBody>
      </p:sp>
    </p:spTree>
    <p:extLst>
      <p:ext uri="{BB962C8B-B14F-4D97-AF65-F5344CB8AC3E}">
        <p14:creationId xmlns:p14="http://schemas.microsoft.com/office/powerpoint/2010/main" val="25736995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8</a:t>
            </a:fld>
            <a:endParaRPr lang="en-US" dirty="0"/>
          </a:p>
        </p:txBody>
      </p:sp>
    </p:spTree>
    <p:extLst>
      <p:ext uri="{BB962C8B-B14F-4D97-AF65-F5344CB8AC3E}">
        <p14:creationId xmlns:p14="http://schemas.microsoft.com/office/powerpoint/2010/main" val="31319947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9</a:t>
            </a:fld>
            <a:endParaRPr lang="en-US" dirty="0"/>
          </a:p>
        </p:txBody>
      </p:sp>
    </p:spTree>
    <p:extLst>
      <p:ext uri="{BB962C8B-B14F-4D97-AF65-F5344CB8AC3E}">
        <p14:creationId xmlns:p14="http://schemas.microsoft.com/office/powerpoint/2010/main" val="15790866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10</a:t>
            </a:fld>
            <a:endParaRPr lang="en-US" dirty="0"/>
          </a:p>
        </p:txBody>
      </p:sp>
    </p:spTree>
    <p:extLst>
      <p:ext uri="{BB962C8B-B14F-4D97-AF65-F5344CB8AC3E}">
        <p14:creationId xmlns:p14="http://schemas.microsoft.com/office/powerpoint/2010/main" val="3757642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11</a:t>
            </a:fld>
            <a:endParaRPr lang="en-US" dirty="0"/>
          </a:p>
        </p:txBody>
      </p:sp>
    </p:spTree>
    <p:extLst>
      <p:ext uri="{BB962C8B-B14F-4D97-AF65-F5344CB8AC3E}">
        <p14:creationId xmlns:p14="http://schemas.microsoft.com/office/powerpoint/2010/main" val="15453876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12</a:t>
            </a:fld>
            <a:endParaRPr lang="en-US" dirty="0"/>
          </a:p>
        </p:txBody>
      </p:sp>
    </p:spTree>
    <p:extLst>
      <p:ext uri="{BB962C8B-B14F-4D97-AF65-F5344CB8AC3E}">
        <p14:creationId xmlns:p14="http://schemas.microsoft.com/office/powerpoint/2010/main" val="21910957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13</a:t>
            </a:fld>
            <a:endParaRPr lang="en-US" dirty="0"/>
          </a:p>
        </p:txBody>
      </p:sp>
    </p:spTree>
    <p:extLst>
      <p:ext uri="{BB962C8B-B14F-4D97-AF65-F5344CB8AC3E}">
        <p14:creationId xmlns:p14="http://schemas.microsoft.com/office/powerpoint/2010/main" val="30812327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14</a:t>
            </a:fld>
            <a:endParaRPr lang="en-US" dirty="0"/>
          </a:p>
        </p:txBody>
      </p:sp>
    </p:spTree>
    <p:extLst>
      <p:ext uri="{BB962C8B-B14F-4D97-AF65-F5344CB8AC3E}">
        <p14:creationId xmlns:p14="http://schemas.microsoft.com/office/powerpoint/2010/main" val="29777168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15</a:t>
            </a:fld>
            <a:endParaRPr lang="en-US" dirty="0"/>
          </a:p>
        </p:txBody>
      </p:sp>
    </p:spTree>
    <p:extLst>
      <p:ext uri="{BB962C8B-B14F-4D97-AF65-F5344CB8AC3E}">
        <p14:creationId xmlns:p14="http://schemas.microsoft.com/office/powerpoint/2010/main" val="35583934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16</a:t>
            </a:fld>
            <a:endParaRPr lang="en-US" dirty="0"/>
          </a:p>
        </p:txBody>
      </p:sp>
    </p:spTree>
    <p:extLst>
      <p:ext uri="{BB962C8B-B14F-4D97-AF65-F5344CB8AC3E}">
        <p14:creationId xmlns:p14="http://schemas.microsoft.com/office/powerpoint/2010/main" val="19130312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17</a:t>
            </a:fld>
            <a:endParaRPr lang="en-US" dirty="0"/>
          </a:p>
        </p:txBody>
      </p:sp>
    </p:spTree>
    <p:extLst>
      <p:ext uri="{BB962C8B-B14F-4D97-AF65-F5344CB8AC3E}">
        <p14:creationId xmlns:p14="http://schemas.microsoft.com/office/powerpoint/2010/main" val="5976112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18</a:t>
            </a:fld>
            <a:endParaRPr lang="en-US" dirty="0"/>
          </a:p>
        </p:txBody>
      </p:sp>
    </p:spTree>
    <p:extLst>
      <p:ext uri="{BB962C8B-B14F-4D97-AF65-F5344CB8AC3E}">
        <p14:creationId xmlns:p14="http://schemas.microsoft.com/office/powerpoint/2010/main" val="22645238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19</a:t>
            </a:fld>
            <a:endParaRPr lang="en-US" dirty="0"/>
          </a:p>
        </p:txBody>
      </p:sp>
    </p:spTree>
    <p:extLst>
      <p:ext uri="{BB962C8B-B14F-4D97-AF65-F5344CB8AC3E}">
        <p14:creationId xmlns:p14="http://schemas.microsoft.com/office/powerpoint/2010/main" val="29162658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20</a:t>
            </a:fld>
            <a:endParaRPr lang="en-US" dirty="0"/>
          </a:p>
        </p:txBody>
      </p:sp>
    </p:spTree>
    <p:extLst>
      <p:ext uri="{BB962C8B-B14F-4D97-AF65-F5344CB8AC3E}">
        <p14:creationId xmlns:p14="http://schemas.microsoft.com/office/powerpoint/2010/main" val="28917020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21</a:t>
            </a:fld>
            <a:endParaRPr lang="en-US" dirty="0"/>
          </a:p>
        </p:txBody>
      </p:sp>
    </p:spTree>
    <p:extLst>
      <p:ext uri="{BB962C8B-B14F-4D97-AF65-F5344CB8AC3E}">
        <p14:creationId xmlns:p14="http://schemas.microsoft.com/office/powerpoint/2010/main" val="23085392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22</a:t>
            </a:fld>
            <a:endParaRPr lang="en-US" dirty="0"/>
          </a:p>
        </p:txBody>
      </p:sp>
    </p:spTree>
    <p:extLst>
      <p:ext uri="{BB962C8B-B14F-4D97-AF65-F5344CB8AC3E}">
        <p14:creationId xmlns:p14="http://schemas.microsoft.com/office/powerpoint/2010/main" val="11885146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23</a:t>
            </a:fld>
            <a:endParaRPr lang="en-US" dirty="0"/>
          </a:p>
        </p:txBody>
      </p:sp>
    </p:spTree>
    <p:extLst>
      <p:ext uri="{BB962C8B-B14F-4D97-AF65-F5344CB8AC3E}">
        <p14:creationId xmlns:p14="http://schemas.microsoft.com/office/powerpoint/2010/main" val="29534564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24</a:t>
            </a:fld>
            <a:endParaRPr lang="en-US" dirty="0"/>
          </a:p>
        </p:txBody>
      </p:sp>
    </p:spTree>
    <p:extLst>
      <p:ext uri="{BB962C8B-B14F-4D97-AF65-F5344CB8AC3E}">
        <p14:creationId xmlns:p14="http://schemas.microsoft.com/office/powerpoint/2010/main" val="27615881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25</a:t>
            </a:fld>
            <a:endParaRPr lang="en-US" dirty="0"/>
          </a:p>
        </p:txBody>
      </p:sp>
    </p:spTree>
    <p:extLst>
      <p:ext uri="{BB962C8B-B14F-4D97-AF65-F5344CB8AC3E}">
        <p14:creationId xmlns:p14="http://schemas.microsoft.com/office/powerpoint/2010/main" val="35816383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26</a:t>
            </a:fld>
            <a:endParaRPr lang="en-US" dirty="0"/>
          </a:p>
        </p:txBody>
      </p:sp>
    </p:spTree>
    <p:extLst>
      <p:ext uri="{BB962C8B-B14F-4D97-AF65-F5344CB8AC3E}">
        <p14:creationId xmlns:p14="http://schemas.microsoft.com/office/powerpoint/2010/main" val="13107546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27</a:t>
            </a:fld>
            <a:endParaRPr lang="en-US" dirty="0"/>
          </a:p>
        </p:txBody>
      </p:sp>
    </p:spTree>
    <p:extLst>
      <p:ext uri="{BB962C8B-B14F-4D97-AF65-F5344CB8AC3E}">
        <p14:creationId xmlns:p14="http://schemas.microsoft.com/office/powerpoint/2010/main" val="19311980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28</a:t>
            </a:fld>
            <a:endParaRPr lang="en-US" dirty="0"/>
          </a:p>
        </p:txBody>
      </p:sp>
    </p:spTree>
    <p:extLst>
      <p:ext uri="{BB962C8B-B14F-4D97-AF65-F5344CB8AC3E}">
        <p14:creationId xmlns:p14="http://schemas.microsoft.com/office/powerpoint/2010/main" val="29974068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29</a:t>
            </a:fld>
            <a:endParaRPr lang="en-US" dirty="0"/>
          </a:p>
        </p:txBody>
      </p:sp>
    </p:spTree>
    <p:extLst>
      <p:ext uri="{BB962C8B-B14F-4D97-AF65-F5344CB8AC3E}">
        <p14:creationId xmlns:p14="http://schemas.microsoft.com/office/powerpoint/2010/main" val="14326789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30</a:t>
            </a:fld>
            <a:endParaRPr lang="en-US" dirty="0"/>
          </a:p>
        </p:txBody>
      </p:sp>
    </p:spTree>
    <p:extLst>
      <p:ext uri="{BB962C8B-B14F-4D97-AF65-F5344CB8AC3E}">
        <p14:creationId xmlns:p14="http://schemas.microsoft.com/office/powerpoint/2010/main" val="41856609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31</a:t>
            </a:fld>
            <a:endParaRPr lang="en-US" dirty="0"/>
          </a:p>
        </p:txBody>
      </p:sp>
    </p:spTree>
    <p:extLst>
      <p:ext uri="{BB962C8B-B14F-4D97-AF65-F5344CB8AC3E}">
        <p14:creationId xmlns:p14="http://schemas.microsoft.com/office/powerpoint/2010/main" val="34702529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32</a:t>
            </a:fld>
            <a:endParaRPr lang="en-US" dirty="0"/>
          </a:p>
        </p:txBody>
      </p:sp>
    </p:spTree>
    <p:extLst>
      <p:ext uri="{BB962C8B-B14F-4D97-AF65-F5344CB8AC3E}">
        <p14:creationId xmlns:p14="http://schemas.microsoft.com/office/powerpoint/2010/main" val="10383056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33</a:t>
            </a:fld>
            <a:endParaRPr lang="en-US" dirty="0"/>
          </a:p>
        </p:txBody>
      </p:sp>
    </p:spTree>
    <p:extLst>
      <p:ext uri="{BB962C8B-B14F-4D97-AF65-F5344CB8AC3E}">
        <p14:creationId xmlns:p14="http://schemas.microsoft.com/office/powerpoint/2010/main" val="40703124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34</a:t>
            </a:fld>
            <a:endParaRPr lang="en-US" dirty="0"/>
          </a:p>
        </p:txBody>
      </p:sp>
    </p:spTree>
    <p:extLst>
      <p:ext uri="{BB962C8B-B14F-4D97-AF65-F5344CB8AC3E}">
        <p14:creationId xmlns:p14="http://schemas.microsoft.com/office/powerpoint/2010/main" val="12971190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35</a:t>
            </a:fld>
            <a:endParaRPr lang="en-US" dirty="0"/>
          </a:p>
        </p:txBody>
      </p:sp>
    </p:spTree>
    <p:extLst>
      <p:ext uri="{BB962C8B-B14F-4D97-AF65-F5344CB8AC3E}">
        <p14:creationId xmlns:p14="http://schemas.microsoft.com/office/powerpoint/2010/main" val="5594385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36</a:t>
            </a:fld>
            <a:endParaRPr lang="en-US" dirty="0"/>
          </a:p>
        </p:txBody>
      </p:sp>
    </p:spTree>
    <p:extLst>
      <p:ext uri="{BB962C8B-B14F-4D97-AF65-F5344CB8AC3E}">
        <p14:creationId xmlns:p14="http://schemas.microsoft.com/office/powerpoint/2010/main" val="2076140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37</a:t>
            </a:fld>
            <a:endParaRPr lang="en-US" dirty="0"/>
          </a:p>
        </p:txBody>
      </p:sp>
    </p:spTree>
    <p:extLst>
      <p:ext uri="{BB962C8B-B14F-4D97-AF65-F5344CB8AC3E}">
        <p14:creationId xmlns:p14="http://schemas.microsoft.com/office/powerpoint/2010/main" val="22972452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38</a:t>
            </a:fld>
            <a:endParaRPr lang="en-US" dirty="0"/>
          </a:p>
        </p:txBody>
      </p:sp>
    </p:spTree>
    <p:extLst>
      <p:ext uri="{BB962C8B-B14F-4D97-AF65-F5344CB8AC3E}">
        <p14:creationId xmlns:p14="http://schemas.microsoft.com/office/powerpoint/2010/main" val="27864385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39</a:t>
            </a:fld>
            <a:endParaRPr lang="en-US" dirty="0"/>
          </a:p>
        </p:txBody>
      </p:sp>
    </p:spTree>
    <p:extLst>
      <p:ext uri="{BB962C8B-B14F-4D97-AF65-F5344CB8AC3E}">
        <p14:creationId xmlns:p14="http://schemas.microsoft.com/office/powerpoint/2010/main" val="28270574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40</a:t>
            </a:fld>
            <a:endParaRPr lang="en-US" dirty="0"/>
          </a:p>
        </p:txBody>
      </p:sp>
    </p:spTree>
    <p:extLst>
      <p:ext uri="{BB962C8B-B14F-4D97-AF65-F5344CB8AC3E}">
        <p14:creationId xmlns:p14="http://schemas.microsoft.com/office/powerpoint/2010/main" val="13838074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41</a:t>
            </a:fld>
            <a:endParaRPr lang="en-US" dirty="0"/>
          </a:p>
        </p:txBody>
      </p:sp>
    </p:spTree>
    <p:extLst>
      <p:ext uri="{BB962C8B-B14F-4D97-AF65-F5344CB8AC3E}">
        <p14:creationId xmlns:p14="http://schemas.microsoft.com/office/powerpoint/2010/main" val="20428766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42</a:t>
            </a:fld>
            <a:endParaRPr lang="en-US" dirty="0"/>
          </a:p>
        </p:txBody>
      </p:sp>
    </p:spTree>
    <p:extLst>
      <p:ext uri="{BB962C8B-B14F-4D97-AF65-F5344CB8AC3E}">
        <p14:creationId xmlns:p14="http://schemas.microsoft.com/office/powerpoint/2010/main" val="4594755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43</a:t>
            </a:fld>
            <a:endParaRPr lang="en-US" dirty="0"/>
          </a:p>
        </p:txBody>
      </p:sp>
    </p:spTree>
    <p:extLst>
      <p:ext uri="{BB962C8B-B14F-4D97-AF65-F5344CB8AC3E}">
        <p14:creationId xmlns:p14="http://schemas.microsoft.com/office/powerpoint/2010/main" val="19791030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44</a:t>
            </a:fld>
            <a:endParaRPr lang="en-US" dirty="0"/>
          </a:p>
        </p:txBody>
      </p:sp>
    </p:spTree>
    <p:extLst>
      <p:ext uri="{BB962C8B-B14F-4D97-AF65-F5344CB8AC3E}">
        <p14:creationId xmlns:p14="http://schemas.microsoft.com/office/powerpoint/2010/main" val="408576532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45</a:t>
            </a:fld>
            <a:endParaRPr lang="en-US" dirty="0"/>
          </a:p>
        </p:txBody>
      </p:sp>
    </p:spTree>
    <p:extLst>
      <p:ext uri="{BB962C8B-B14F-4D97-AF65-F5344CB8AC3E}">
        <p14:creationId xmlns:p14="http://schemas.microsoft.com/office/powerpoint/2010/main" val="113544750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46</a:t>
            </a:fld>
            <a:endParaRPr lang="en-US" dirty="0"/>
          </a:p>
        </p:txBody>
      </p:sp>
    </p:spTree>
    <p:extLst>
      <p:ext uri="{BB962C8B-B14F-4D97-AF65-F5344CB8AC3E}">
        <p14:creationId xmlns:p14="http://schemas.microsoft.com/office/powerpoint/2010/main" val="86241207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47</a:t>
            </a:fld>
            <a:endParaRPr lang="en-US" dirty="0"/>
          </a:p>
        </p:txBody>
      </p:sp>
    </p:spTree>
    <p:extLst>
      <p:ext uri="{BB962C8B-B14F-4D97-AF65-F5344CB8AC3E}">
        <p14:creationId xmlns:p14="http://schemas.microsoft.com/office/powerpoint/2010/main" val="20583941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48</a:t>
            </a:fld>
            <a:endParaRPr lang="en-US" dirty="0"/>
          </a:p>
        </p:txBody>
      </p:sp>
    </p:spTree>
    <p:extLst>
      <p:ext uri="{BB962C8B-B14F-4D97-AF65-F5344CB8AC3E}">
        <p14:creationId xmlns:p14="http://schemas.microsoft.com/office/powerpoint/2010/main" val="12833789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49</a:t>
            </a:fld>
            <a:endParaRPr lang="en-US" dirty="0"/>
          </a:p>
        </p:txBody>
      </p:sp>
    </p:spTree>
    <p:extLst>
      <p:ext uri="{BB962C8B-B14F-4D97-AF65-F5344CB8AC3E}">
        <p14:creationId xmlns:p14="http://schemas.microsoft.com/office/powerpoint/2010/main" val="333313111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50</a:t>
            </a:fld>
            <a:endParaRPr lang="en-US" dirty="0"/>
          </a:p>
        </p:txBody>
      </p:sp>
    </p:spTree>
    <p:extLst>
      <p:ext uri="{BB962C8B-B14F-4D97-AF65-F5344CB8AC3E}">
        <p14:creationId xmlns:p14="http://schemas.microsoft.com/office/powerpoint/2010/main" val="245048831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51</a:t>
            </a:fld>
            <a:endParaRPr lang="en-US" dirty="0"/>
          </a:p>
        </p:txBody>
      </p:sp>
    </p:spTree>
    <p:extLst>
      <p:ext uri="{BB962C8B-B14F-4D97-AF65-F5344CB8AC3E}">
        <p14:creationId xmlns:p14="http://schemas.microsoft.com/office/powerpoint/2010/main" val="355415627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52</a:t>
            </a:fld>
            <a:endParaRPr lang="en-US" dirty="0"/>
          </a:p>
        </p:txBody>
      </p:sp>
    </p:spTree>
    <p:extLst>
      <p:ext uri="{BB962C8B-B14F-4D97-AF65-F5344CB8AC3E}">
        <p14:creationId xmlns:p14="http://schemas.microsoft.com/office/powerpoint/2010/main" val="330720125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53</a:t>
            </a:fld>
            <a:endParaRPr lang="en-US" dirty="0"/>
          </a:p>
        </p:txBody>
      </p:sp>
    </p:spTree>
    <p:extLst>
      <p:ext uri="{BB962C8B-B14F-4D97-AF65-F5344CB8AC3E}">
        <p14:creationId xmlns:p14="http://schemas.microsoft.com/office/powerpoint/2010/main" val="373862499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54</a:t>
            </a:fld>
            <a:endParaRPr lang="en-US" dirty="0"/>
          </a:p>
        </p:txBody>
      </p:sp>
    </p:spTree>
    <p:extLst>
      <p:ext uri="{BB962C8B-B14F-4D97-AF65-F5344CB8AC3E}">
        <p14:creationId xmlns:p14="http://schemas.microsoft.com/office/powerpoint/2010/main" val="186166594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55</a:t>
            </a:fld>
            <a:endParaRPr lang="en-US" dirty="0"/>
          </a:p>
        </p:txBody>
      </p:sp>
    </p:spTree>
    <p:extLst>
      <p:ext uri="{BB962C8B-B14F-4D97-AF65-F5344CB8AC3E}">
        <p14:creationId xmlns:p14="http://schemas.microsoft.com/office/powerpoint/2010/main" val="339855447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56</a:t>
            </a:fld>
            <a:endParaRPr lang="en-US" dirty="0"/>
          </a:p>
        </p:txBody>
      </p:sp>
    </p:spTree>
    <p:extLst>
      <p:ext uri="{BB962C8B-B14F-4D97-AF65-F5344CB8AC3E}">
        <p14:creationId xmlns:p14="http://schemas.microsoft.com/office/powerpoint/2010/main" val="290365789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57</a:t>
            </a:fld>
            <a:endParaRPr lang="en-US" dirty="0"/>
          </a:p>
        </p:txBody>
      </p:sp>
    </p:spTree>
    <p:extLst>
      <p:ext uri="{BB962C8B-B14F-4D97-AF65-F5344CB8AC3E}">
        <p14:creationId xmlns:p14="http://schemas.microsoft.com/office/powerpoint/2010/main" val="67369198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58</a:t>
            </a:fld>
            <a:endParaRPr lang="en-US" dirty="0"/>
          </a:p>
        </p:txBody>
      </p:sp>
    </p:spTree>
    <p:extLst>
      <p:ext uri="{BB962C8B-B14F-4D97-AF65-F5344CB8AC3E}">
        <p14:creationId xmlns:p14="http://schemas.microsoft.com/office/powerpoint/2010/main" val="223476266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59</a:t>
            </a:fld>
            <a:endParaRPr lang="en-US" dirty="0"/>
          </a:p>
        </p:txBody>
      </p:sp>
    </p:spTree>
    <p:extLst>
      <p:ext uri="{BB962C8B-B14F-4D97-AF65-F5344CB8AC3E}">
        <p14:creationId xmlns:p14="http://schemas.microsoft.com/office/powerpoint/2010/main" val="333076836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60</a:t>
            </a:fld>
            <a:endParaRPr lang="en-US" dirty="0"/>
          </a:p>
        </p:txBody>
      </p:sp>
    </p:spTree>
    <p:extLst>
      <p:ext uri="{BB962C8B-B14F-4D97-AF65-F5344CB8AC3E}">
        <p14:creationId xmlns:p14="http://schemas.microsoft.com/office/powerpoint/2010/main" val="42857492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61</a:t>
            </a:fld>
            <a:endParaRPr lang="en-US" dirty="0"/>
          </a:p>
        </p:txBody>
      </p:sp>
    </p:spTree>
    <p:extLst>
      <p:ext uri="{BB962C8B-B14F-4D97-AF65-F5344CB8AC3E}">
        <p14:creationId xmlns:p14="http://schemas.microsoft.com/office/powerpoint/2010/main" val="136891531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62</a:t>
            </a:fld>
            <a:endParaRPr lang="en-US" dirty="0"/>
          </a:p>
        </p:txBody>
      </p:sp>
    </p:spTree>
    <p:extLst>
      <p:ext uri="{BB962C8B-B14F-4D97-AF65-F5344CB8AC3E}">
        <p14:creationId xmlns:p14="http://schemas.microsoft.com/office/powerpoint/2010/main" val="163444090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63</a:t>
            </a:fld>
            <a:endParaRPr lang="en-US" dirty="0"/>
          </a:p>
        </p:txBody>
      </p:sp>
    </p:spTree>
    <p:extLst>
      <p:ext uri="{BB962C8B-B14F-4D97-AF65-F5344CB8AC3E}">
        <p14:creationId xmlns:p14="http://schemas.microsoft.com/office/powerpoint/2010/main" val="217300045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64</a:t>
            </a:fld>
            <a:endParaRPr lang="en-US" dirty="0"/>
          </a:p>
        </p:txBody>
      </p:sp>
    </p:spTree>
    <p:extLst>
      <p:ext uri="{BB962C8B-B14F-4D97-AF65-F5344CB8AC3E}">
        <p14:creationId xmlns:p14="http://schemas.microsoft.com/office/powerpoint/2010/main" val="342813079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65</a:t>
            </a:fld>
            <a:endParaRPr lang="en-US" dirty="0"/>
          </a:p>
        </p:txBody>
      </p:sp>
    </p:spTree>
    <p:extLst>
      <p:ext uri="{BB962C8B-B14F-4D97-AF65-F5344CB8AC3E}">
        <p14:creationId xmlns:p14="http://schemas.microsoft.com/office/powerpoint/2010/main" val="2380539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77246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Divider Option 1">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5109" y="307397"/>
            <a:ext cx="1592580" cy="360426"/>
          </a:xfrm>
          <a:prstGeom prst="rect">
            <a:avLst/>
          </a:prstGeom>
        </p:spPr>
      </p:pic>
      <p:sp>
        <p:nvSpPr>
          <p:cNvPr id="3" name="Text Placeholder 2"/>
          <p:cNvSpPr>
            <a:spLocks noGrp="1"/>
          </p:cNvSpPr>
          <p:nvPr>
            <p:ph type="body" sz="quarter" idx="10" hasCustomPrompt="1"/>
          </p:nvPr>
        </p:nvSpPr>
        <p:spPr>
          <a:xfrm>
            <a:off x="3650456" y="4225703"/>
            <a:ext cx="1843088" cy="657225"/>
          </a:xfrm>
        </p:spPr>
        <p:txBody>
          <a:bodyPr>
            <a:normAutofit/>
          </a:bodyPr>
          <a:lstStyle>
            <a:lvl1pPr marL="0" indent="0" algn="ctr">
              <a:buNone/>
              <a:defRPr sz="1800" b="0" i="0">
                <a:solidFill>
                  <a:schemeClr val="bg1"/>
                </a:solidFill>
                <a:latin typeface="Open Sans" charset="0"/>
                <a:ea typeface="Open Sans" charset="0"/>
                <a:cs typeface="Open Sans" charset="0"/>
              </a:defRPr>
            </a:lvl1pPr>
          </a:lstStyle>
          <a:p>
            <a:pPr lvl="0"/>
            <a:r>
              <a:rPr lang="en-US" dirty="0"/>
              <a:t>Date Here</a:t>
            </a:r>
          </a:p>
        </p:txBody>
      </p:sp>
      <p:sp>
        <p:nvSpPr>
          <p:cNvPr id="6" name="Text Placeholder 5"/>
          <p:cNvSpPr>
            <a:spLocks noGrp="1"/>
          </p:cNvSpPr>
          <p:nvPr>
            <p:ph type="body" sz="quarter" idx="11" hasCustomPrompt="1"/>
          </p:nvPr>
        </p:nvSpPr>
        <p:spPr>
          <a:xfrm>
            <a:off x="955931" y="2275311"/>
            <a:ext cx="7232139" cy="1549400"/>
          </a:xfrm>
        </p:spPr>
        <p:txBody>
          <a:bodyPr anchor="b" anchorCtr="0">
            <a:normAutofit/>
          </a:bodyPr>
          <a:lstStyle>
            <a:lvl1pPr marL="0" indent="0" algn="ctr">
              <a:buNone/>
              <a:defRPr sz="3200" b="0" i="0">
                <a:solidFill>
                  <a:schemeClr val="bg1"/>
                </a:solidFill>
                <a:latin typeface="Open Sans" charset="0"/>
                <a:ea typeface="Open Sans" charset="0"/>
                <a:cs typeface="Open Sans"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Click Here To Edit Headline</a:t>
            </a:r>
          </a:p>
        </p:txBody>
      </p:sp>
      <p:sp>
        <p:nvSpPr>
          <p:cNvPr id="4" name="Text Placeholder 3"/>
          <p:cNvSpPr>
            <a:spLocks noGrp="1"/>
          </p:cNvSpPr>
          <p:nvPr>
            <p:ph type="body" sz="quarter" idx="12"/>
          </p:nvPr>
        </p:nvSpPr>
        <p:spPr>
          <a:xfrm>
            <a:off x="2151063" y="1277938"/>
            <a:ext cx="4914900" cy="16525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0281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3_Custom Layout">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Edit Master text styles</a:t>
            </a:r>
          </a:p>
        </p:txBody>
      </p:sp>
      <p:sp>
        <p:nvSpPr>
          <p:cNvPr id="12" name="Text Placeholder 11"/>
          <p:cNvSpPr>
            <a:spLocks noGrp="1"/>
          </p:cNvSpPr>
          <p:nvPr>
            <p:ph type="body" sz="quarter" idx="17"/>
          </p:nvPr>
        </p:nvSpPr>
        <p:spPr>
          <a:xfrm>
            <a:off x="557683" y="1638300"/>
            <a:ext cx="8033657" cy="4394200"/>
          </a:xfrm>
        </p:spPr>
        <p:txBody>
          <a:bodyPr>
            <a:normAutofit/>
          </a:bodyPr>
          <a:lstStyle>
            <a:lvl1pPr marL="0" indent="0">
              <a:buNone/>
              <a:defRPr sz="1600"/>
            </a:lvl1pPr>
            <a:lvl2pPr>
              <a:defRPr sz="1600"/>
            </a:lvl2pPr>
            <a:lvl3pPr marL="857250" indent="-171450">
              <a:buFontTx/>
              <a:buChar cha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
        <p:nvSpPr>
          <p:cNvPr id="7"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53055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4_Custom Layout">
    <p:spTree>
      <p:nvGrpSpPr>
        <p:cNvPr id="1" name=""/>
        <p:cNvGrpSpPr/>
        <p:nvPr/>
      </p:nvGrpSpPr>
      <p:grpSpPr>
        <a:xfrm>
          <a:off x="0" y="0"/>
          <a:ext cx="0" cy="0"/>
          <a:chOff x="0" y="0"/>
          <a:chExt cx="0" cy="0"/>
        </a:xfrm>
      </p:grpSpPr>
      <p:sp>
        <p:nvSpPr>
          <p:cNvPr id="5"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
        <p:nvSpPr>
          <p:cNvPr id="2" name="TextBox 1"/>
          <p:cNvSpPr txBox="1"/>
          <p:nvPr/>
        </p:nvSpPr>
        <p:spPr>
          <a:xfrm>
            <a:off x="-872836" y="2348346"/>
            <a:ext cx="748145" cy="405246"/>
          </a:xfrm>
          <a:prstGeom prst="rect">
            <a:avLst/>
          </a:prstGeom>
          <a:noFill/>
          <a:effectLst>
            <a:outerShdw dist="12700" dir="5400000" algn="t" rotWithShape="0">
              <a:schemeClr val="tx1"/>
            </a:outerShdw>
          </a:effectLst>
        </p:spPr>
        <p:txBody>
          <a:bodyPr wrap="square" lIns="0" tIns="0" rIns="0" rtlCol="0" anchor="b">
            <a:spAutoFit/>
          </a:bodyPr>
          <a:lstStyle/>
          <a:p>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4491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dirty="0"/>
          </a:p>
        </p:txBody>
      </p:sp>
      <p:sp>
        <p:nvSpPr>
          <p:cNvPr id="4" name="Text Placeholder 3"/>
          <p:cNvSpPr>
            <a:spLocks noGrp="1"/>
          </p:cNvSpPr>
          <p:nvPr>
            <p:ph type="body" sz="quarter" idx="15"/>
          </p:nvPr>
        </p:nvSpPr>
        <p:spPr>
          <a:xfrm>
            <a:off x="557682"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4" name="Text Placeholder 3"/>
          <p:cNvSpPr>
            <a:spLocks noGrp="1"/>
          </p:cNvSpPr>
          <p:nvPr>
            <p:ph type="body" sz="quarter" idx="18"/>
          </p:nvPr>
        </p:nvSpPr>
        <p:spPr>
          <a:xfrm>
            <a:off x="4777988"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idx="1"/>
          </p:nvPr>
        </p:nvSpPr>
        <p:spPr>
          <a:xfrm>
            <a:off x="557682"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2" name="Content Placeholder 2"/>
          <p:cNvSpPr>
            <a:spLocks noGrp="1"/>
          </p:cNvSpPr>
          <p:nvPr>
            <p:ph idx="20"/>
          </p:nvPr>
        </p:nvSpPr>
        <p:spPr>
          <a:xfrm>
            <a:off x="4777988"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519433586"/>
      </p:ext>
    </p:extLst>
  </p:cSld>
  <p:clrMapOvr>
    <a:masterClrMapping/>
  </p:clrMapOvr>
  <p:extLst mod="1">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4" name="Text Placeholder 3"/>
          <p:cNvSpPr>
            <a:spLocks noGrp="1"/>
          </p:cNvSpPr>
          <p:nvPr>
            <p:ph type="body" sz="quarter" idx="15"/>
          </p:nvPr>
        </p:nvSpPr>
        <p:spPr>
          <a:xfrm>
            <a:off x="557682"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5"/>
          <p:cNvSpPr>
            <a:spLocks noGrp="1"/>
          </p:cNvSpPr>
          <p:nvPr>
            <p:ph type="body" sz="quarter" idx="13" hasCustomPrompt="1"/>
          </p:nvPr>
        </p:nvSpPr>
        <p:spPr>
          <a:xfrm>
            <a:off x="555172"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6" name="Text Placeholder 3"/>
          <p:cNvSpPr>
            <a:spLocks noGrp="1"/>
          </p:cNvSpPr>
          <p:nvPr>
            <p:ph type="body" sz="quarter" idx="18"/>
          </p:nvPr>
        </p:nvSpPr>
        <p:spPr>
          <a:xfrm>
            <a:off x="3334349"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3"/>
          <p:cNvSpPr>
            <a:spLocks noGrp="1"/>
          </p:cNvSpPr>
          <p:nvPr>
            <p:ph type="body" sz="quarter" idx="20"/>
          </p:nvPr>
        </p:nvSpPr>
        <p:spPr>
          <a:xfrm>
            <a:off x="6116038"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
          </p:nvPr>
        </p:nvSpPr>
        <p:spPr>
          <a:xfrm>
            <a:off x="557682"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9" name="Content Placeholder 2"/>
          <p:cNvSpPr>
            <a:spLocks noGrp="1"/>
          </p:cNvSpPr>
          <p:nvPr>
            <p:ph idx="22"/>
          </p:nvPr>
        </p:nvSpPr>
        <p:spPr>
          <a:xfrm>
            <a:off x="3334349"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23" name="Content Placeholder 2"/>
          <p:cNvSpPr>
            <a:spLocks noGrp="1"/>
          </p:cNvSpPr>
          <p:nvPr>
            <p:ph idx="23"/>
          </p:nvPr>
        </p:nvSpPr>
        <p:spPr>
          <a:xfrm>
            <a:off x="6109465"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2" name="Title 1"/>
          <p:cNvSpPr>
            <a:spLocks noGrp="1"/>
          </p:cNvSpPr>
          <p:nvPr>
            <p:ph type="title"/>
          </p:nvPr>
        </p:nvSpPr>
        <p:spPr/>
        <p:txBody>
          <a:bodyPr/>
          <a:lstStyle/>
          <a:p>
            <a:r>
              <a:rPr lang="en-US"/>
              <a:t>Click to edit Master title style</a:t>
            </a:r>
            <a:endParaRPr lang="en-IN"/>
          </a:p>
        </p:txBody>
      </p:sp>
      <p:sp>
        <p:nvSpPr>
          <p:cNvPr id="17" name="Footer Placeholder 2"/>
          <p:cNvSpPr>
            <a:spLocks noGrp="1"/>
          </p:cNvSpPr>
          <p:nvPr>
            <p:ph type="ftr" sz="quarter" idx="10"/>
          </p:nvPr>
        </p:nvSpPr>
        <p:spPr>
          <a:xfrm>
            <a:off x="628650" y="6156519"/>
            <a:ext cx="7886700" cy="365125"/>
          </a:xfrm>
        </p:spPr>
        <p:txBody>
          <a:body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25816293"/>
      </p:ext>
    </p:extLst>
  </p:cSld>
  <p:clrMapOvr>
    <a:masterClrMapping/>
  </p:clrMapOvr>
  <p:extLst mod="1">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5_Custom Layout">
    <p:spTree>
      <p:nvGrpSpPr>
        <p:cNvPr id="1" name=""/>
        <p:cNvGrpSpPr/>
        <p:nvPr/>
      </p:nvGrpSpPr>
      <p:grpSpPr>
        <a:xfrm>
          <a:off x="0" y="0"/>
          <a:ext cx="0" cy="0"/>
          <a:chOff x="0" y="0"/>
          <a:chExt cx="0" cy="0"/>
        </a:xfrm>
      </p:grpSpPr>
      <p:sp>
        <p:nvSpPr>
          <p:cNvPr id="18" name="Slide Number Placeholder 3"/>
          <p:cNvSpPr>
            <a:spLocks noGrp="1"/>
          </p:cNvSpPr>
          <p:nvPr>
            <p:ph type="sldNum" sz="quarter" idx="12"/>
          </p:nvPr>
        </p:nvSpPr>
        <p:spPr>
          <a:xfrm>
            <a:off x="6803231" y="6327776"/>
            <a:ext cx="2057400" cy="365125"/>
          </a:xfrm>
          <a:prstGeom prst="rect">
            <a:avLst/>
          </a:prstGeom>
        </p:spPr>
        <p:txBody>
          <a:bodyPr/>
          <a:lstStyle/>
          <a:p>
            <a:pPr>
              <a:defRPr/>
            </a:pPr>
            <a:fld id="{2F11DC2A-2F4E-4F79-A3F5-88DB509F96F8}" type="slidenum">
              <a:rPr lang="en-US" smtClean="0"/>
              <a:pPr>
                <a:defRPr/>
              </a:pPr>
              <a:t>‹#›</a:t>
            </a:fld>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1987485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a:xfrm>
            <a:off x="628650" y="1825625"/>
            <a:ext cx="7886700" cy="4194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86480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a:xfrm>
            <a:off x="628650" y="1825625"/>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
        <p:nvSpPr>
          <p:cNvPr id="6" name="Content Placeholder 2">
            <a:extLst>
              <a:ext uri="{FF2B5EF4-FFF2-40B4-BE49-F238E27FC236}">
                <a16:creationId xmlns:a16="http://schemas.microsoft.com/office/drawing/2014/main" id="{36195AC9-BFC6-4E47-89AB-74CA8BB5098B}"/>
              </a:ext>
            </a:extLst>
          </p:cNvPr>
          <p:cNvSpPr>
            <a:spLocks noGrp="1"/>
          </p:cNvSpPr>
          <p:nvPr>
            <p:ph idx="12"/>
          </p:nvPr>
        </p:nvSpPr>
        <p:spPr>
          <a:xfrm>
            <a:off x="626534" y="2088093"/>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36195AC9-BFC6-4E47-89AB-74CA8BB5098B}"/>
              </a:ext>
            </a:extLst>
          </p:cNvPr>
          <p:cNvSpPr>
            <a:spLocks noGrp="1"/>
          </p:cNvSpPr>
          <p:nvPr>
            <p:ph idx="13"/>
          </p:nvPr>
        </p:nvSpPr>
        <p:spPr>
          <a:xfrm>
            <a:off x="628649" y="2325161"/>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36195AC9-BFC6-4E47-89AB-74CA8BB5098B}"/>
              </a:ext>
            </a:extLst>
          </p:cNvPr>
          <p:cNvSpPr>
            <a:spLocks noGrp="1"/>
          </p:cNvSpPr>
          <p:nvPr>
            <p:ph idx="14"/>
          </p:nvPr>
        </p:nvSpPr>
        <p:spPr>
          <a:xfrm>
            <a:off x="645581" y="2562227"/>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36195AC9-BFC6-4E47-89AB-74CA8BB5098B}"/>
              </a:ext>
            </a:extLst>
          </p:cNvPr>
          <p:cNvSpPr>
            <a:spLocks noGrp="1"/>
          </p:cNvSpPr>
          <p:nvPr>
            <p:ph idx="15"/>
          </p:nvPr>
        </p:nvSpPr>
        <p:spPr>
          <a:xfrm>
            <a:off x="654049" y="2807761"/>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a:extLst>
              <a:ext uri="{FF2B5EF4-FFF2-40B4-BE49-F238E27FC236}">
                <a16:creationId xmlns:a16="http://schemas.microsoft.com/office/drawing/2014/main" id="{36195AC9-BFC6-4E47-89AB-74CA8BB5098B}"/>
              </a:ext>
            </a:extLst>
          </p:cNvPr>
          <p:cNvSpPr>
            <a:spLocks noGrp="1"/>
          </p:cNvSpPr>
          <p:nvPr>
            <p:ph idx="16"/>
          </p:nvPr>
        </p:nvSpPr>
        <p:spPr>
          <a:xfrm>
            <a:off x="660402" y="3056467"/>
            <a:ext cx="7886700" cy="23177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36195AC9-BFC6-4E47-89AB-74CA8BB5098B}"/>
              </a:ext>
            </a:extLst>
          </p:cNvPr>
          <p:cNvSpPr>
            <a:spLocks noGrp="1"/>
          </p:cNvSpPr>
          <p:nvPr>
            <p:ph idx="17"/>
          </p:nvPr>
        </p:nvSpPr>
        <p:spPr>
          <a:xfrm>
            <a:off x="668869" y="3366556"/>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36195AC9-BFC6-4E47-89AB-74CA8BB5098B}"/>
              </a:ext>
            </a:extLst>
          </p:cNvPr>
          <p:cNvSpPr>
            <a:spLocks noGrp="1"/>
          </p:cNvSpPr>
          <p:nvPr>
            <p:ph idx="18"/>
          </p:nvPr>
        </p:nvSpPr>
        <p:spPr>
          <a:xfrm>
            <a:off x="687914" y="3662892"/>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36195AC9-BFC6-4E47-89AB-74CA8BB5098B}"/>
              </a:ext>
            </a:extLst>
          </p:cNvPr>
          <p:cNvSpPr>
            <a:spLocks noGrp="1"/>
          </p:cNvSpPr>
          <p:nvPr>
            <p:ph idx="19"/>
          </p:nvPr>
        </p:nvSpPr>
        <p:spPr>
          <a:xfrm>
            <a:off x="696382" y="3959225"/>
            <a:ext cx="7886700" cy="231775"/>
          </a:xfrm>
        </p:spPr>
        <p:txBody>
          <a:bodyPr/>
          <a:lstStyle>
            <a:lvl5pP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a:t>
            </a:r>
            <a:r>
              <a:rPr lang="en-US" dirty="0" err="1"/>
              <a:t>levelv</a:t>
            </a:r>
            <a:endParaRPr lang="en-US" dirty="0"/>
          </a:p>
        </p:txBody>
      </p:sp>
      <p:sp>
        <p:nvSpPr>
          <p:cNvPr id="14" name="Content Placeholder 2">
            <a:extLst>
              <a:ext uri="{FF2B5EF4-FFF2-40B4-BE49-F238E27FC236}">
                <a16:creationId xmlns:a16="http://schemas.microsoft.com/office/drawing/2014/main" id="{36195AC9-BFC6-4E47-89AB-74CA8BB5098B}"/>
              </a:ext>
            </a:extLst>
          </p:cNvPr>
          <p:cNvSpPr>
            <a:spLocks noGrp="1"/>
          </p:cNvSpPr>
          <p:nvPr>
            <p:ph idx="20"/>
          </p:nvPr>
        </p:nvSpPr>
        <p:spPr>
          <a:xfrm>
            <a:off x="696382" y="4264025"/>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36195AC9-BFC6-4E47-89AB-74CA8BB5098B}"/>
              </a:ext>
            </a:extLst>
          </p:cNvPr>
          <p:cNvSpPr>
            <a:spLocks noGrp="1"/>
          </p:cNvSpPr>
          <p:nvPr>
            <p:ph idx="21"/>
          </p:nvPr>
        </p:nvSpPr>
        <p:spPr>
          <a:xfrm>
            <a:off x="694267" y="4572000"/>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36195AC9-BFC6-4E47-89AB-74CA8BB5098B}"/>
              </a:ext>
            </a:extLst>
          </p:cNvPr>
          <p:cNvSpPr>
            <a:spLocks noGrp="1"/>
          </p:cNvSpPr>
          <p:nvPr>
            <p:ph idx="22"/>
          </p:nvPr>
        </p:nvSpPr>
        <p:spPr>
          <a:xfrm>
            <a:off x="702734" y="4899026"/>
            <a:ext cx="7886700" cy="231775"/>
          </a:xfrm>
        </p:spPr>
        <p:txBody>
          <a:bodyPr/>
          <a:lstStyle>
            <a:lvl5pP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a:t>
            </a:r>
            <a:r>
              <a:rPr lang="en-US" dirty="0" err="1"/>
              <a:t>levelv</a:t>
            </a:r>
            <a:endParaRPr lang="en-US" dirty="0"/>
          </a:p>
        </p:txBody>
      </p:sp>
      <p:sp>
        <p:nvSpPr>
          <p:cNvPr id="17" name="Content Placeholder 2">
            <a:extLst>
              <a:ext uri="{FF2B5EF4-FFF2-40B4-BE49-F238E27FC236}">
                <a16:creationId xmlns:a16="http://schemas.microsoft.com/office/drawing/2014/main" id="{36195AC9-BFC6-4E47-89AB-74CA8BB5098B}"/>
              </a:ext>
            </a:extLst>
          </p:cNvPr>
          <p:cNvSpPr>
            <a:spLocks noGrp="1"/>
          </p:cNvSpPr>
          <p:nvPr>
            <p:ph idx="23"/>
          </p:nvPr>
        </p:nvSpPr>
        <p:spPr>
          <a:xfrm>
            <a:off x="719665" y="5212292"/>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
            <a:extLst>
              <a:ext uri="{FF2B5EF4-FFF2-40B4-BE49-F238E27FC236}">
                <a16:creationId xmlns:a16="http://schemas.microsoft.com/office/drawing/2014/main" id="{36195AC9-BFC6-4E47-89AB-74CA8BB5098B}"/>
              </a:ext>
            </a:extLst>
          </p:cNvPr>
          <p:cNvSpPr>
            <a:spLocks noGrp="1"/>
          </p:cNvSpPr>
          <p:nvPr>
            <p:ph idx="24"/>
          </p:nvPr>
        </p:nvSpPr>
        <p:spPr>
          <a:xfrm>
            <a:off x="730248" y="5517090"/>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36195AC9-BFC6-4E47-89AB-74CA8BB5098B}"/>
              </a:ext>
            </a:extLst>
          </p:cNvPr>
          <p:cNvSpPr>
            <a:spLocks noGrp="1"/>
          </p:cNvSpPr>
          <p:nvPr>
            <p:ph idx="25"/>
          </p:nvPr>
        </p:nvSpPr>
        <p:spPr>
          <a:xfrm>
            <a:off x="738715" y="5830357"/>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4330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8A5D6-B081-4DEA-AFA6-7CE8497C3BFA}"/>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900ECD3-241C-498C-AE8A-C369AAB146E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5D44DE4E-2EA8-4FEC-8923-3AF317539A51}"/>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EE7D84E6-27AD-4EEA-A335-664FA1B1ED9E}"/>
              </a:ext>
            </a:extLst>
          </p:cNvPr>
          <p:cNvSpPr>
            <a:spLocks noGrp="1"/>
          </p:cNvSpPr>
          <p:nvPr>
            <p:ph type="ftr" sz="quarter" idx="11"/>
          </p:nvPr>
        </p:nvSpPr>
        <p:spPr/>
        <p:txBody>
          <a:body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
        <p:nvSpPr>
          <p:cNvPr id="6" name="Slide Number Placeholder 5">
            <a:extLst>
              <a:ext uri="{FF2B5EF4-FFF2-40B4-BE49-F238E27FC236}">
                <a16:creationId xmlns:a16="http://schemas.microsoft.com/office/drawing/2014/main" id="{EF036050-30CC-48E6-8A82-5CEB2AD3F03D}"/>
              </a:ext>
            </a:extLst>
          </p:cNvPr>
          <p:cNvSpPr>
            <a:spLocks noGrp="1"/>
          </p:cNvSpPr>
          <p:nvPr>
            <p:ph type="sldNum" sz="quarter" idx="12"/>
          </p:nvPr>
        </p:nvSpPr>
        <p:spPr/>
        <p:txBody>
          <a:bodyPr/>
          <a:lstStyle/>
          <a:p>
            <a:fld id="{786E95EF-C699-41F4-A9B7-78276692A070}" type="slidenum">
              <a:rPr lang="en-US" smtClean="0"/>
              <a:t>‹#›</a:t>
            </a:fld>
            <a:endParaRPr lang="en-US" dirty="0"/>
          </a:p>
        </p:txBody>
      </p:sp>
      <p:sp>
        <p:nvSpPr>
          <p:cNvPr id="8" name="Content Placeholder 7"/>
          <p:cNvSpPr>
            <a:spLocks noGrp="1"/>
          </p:cNvSpPr>
          <p:nvPr>
            <p:ph sz="quarter" idx="13"/>
          </p:nvPr>
        </p:nvSpPr>
        <p:spPr>
          <a:xfrm>
            <a:off x="685800" y="5562600"/>
            <a:ext cx="8001000" cy="457200"/>
          </a:xfrm>
        </p:spPr>
        <p:txBody>
          <a:bodyPr/>
          <a:lstStyle/>
          <a:p>
            <a:pPr lvl="0"/>
            <a:endParaRPr lang="en-IN" dirty="0"/>
          </a:p>
        </p:txBody>
      </p:sp>
    </p:spTree>
    <p:extLst>
      <p:ext uri="{BB962C8B-B14F-4D97-AF65-F5344CB8AC3E}">
        <p14:creationId xmlns:p14="http://schemas.microsoft.com/office/powerpoint/2010/main" val="3798870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
        <p:nvSpPr>
          <p:cNvPr id="6" name="Content Placeholder 5"/>
          <p:cNvSpPr>
            <a:spLocks noGrp="1"/>
          </p:cNvSpPr>
          <p:nvPr>
            <p:ph sz="quarter" idx="12"/>
          </p:nvPr>
        </p:nvSpPr>
        <p:spPr>
          <a:xfrm>
            <a:off x="8610600" y="2743200"/>
            <a:ext cx="304800" cy="762000"/>
          </a:xfrm>
        </p:spPr>
        <p:txBody>
          <a:bodyPr/>
          <a:lstStyle/>
          <a:p>
            <a:pPr lvl="0"/>
            <a:endParaRPr lang="en-IN" dirty="0"/>
          </a:p>
        </p:txBody>
      </p:sp>
      <p:sp>
        <p:nvSpPr>
          <p:cNvPr id="8" name="Content Placeholder 7"/>
          <p:cNvSpPr>
            <a:spLocks noGrp="1"/>
          </p:cNvSpPr>
          <p:nvPr>
            <p:ph sz="quarter" idx="13"/>
          </p:nvPr>
        </p:nvSpPr>
        <p:spPr>
          <a:xfrm>
            <a:off x="8610600" y="3886200"/>
            <a:ext cx="304800" cy="762000"/>
          </a:xfrm>
        </p:spPr>
        <p:txBody>
          <a:bodyPr/>
          <a:lstStyle/>
          <a:p>
            <a:pPr lvl="0"/>
            <a:endParaRPr lang="en-IN" dirty="0"/>
          </a:p>
        </p:txBody>
      </p:sp>
      <p:sp>
        <p:nvSpPr>
          <p:cNvPr id="7" name="Content Placeholder 7"/>
          <p:cNvSpPr>
            <a:spLocks noGrp="1"/>
          </p:cNvSpPr>
          <p:nvPr>
            <p:ph sz="quarter" idx="14"/>
          </p:nvPr>
        </p:nvSpPr>
        <p:spPr>
          <a:xfrm>
            <a:off x="8763000" y="4038600"/>
            <a:ext cx="304800" cy="762000"/>
          </a:xfrm>
        </p:spPr>
        <p:txBody>
          <a:bodyPr/>
          <a:lstStyle/>
          <a:p>
            <a:pPr lvl="0"/>
            <a:endParaRPr lang="en-IN" dirty="0"/>
          </a:p>
        </p:txBody>
      </p:sp>
    </p:spTree>
    <p:extLst>
      <p:ext uri="{BB962C8B-B14F-4D97-AF65-F5344CB8AC3E}">
        <p14:creationId xmlns:p14="http://schemas.microsoft.com/office/powerpoint/2010/main" val="3268309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sp>
        <p:nvSpPr>
          <p:cNvPr id="2" name="Title Placeholder 1"/>
          <p:cNvSpPr>
            <a:spLocks noGrp="1"/>
          </p:cNvSpPr>
          <p:nvPr>
            <p:ph type="title"/>
          </p:nvPr>
        </p:nvSpPr>
        <p:spPr>
          <a:xfrm>
            <a:off x="628650" y="365126"/>
            <a:ext cx="7886700" cy="1325563"/>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3"/>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68433952"/>
      </p:ext>
    </p:extLst>
  </p:cSld>
  <p:clrMap bg1="lt1" tx1="dk1" bg2="lt2" tx2="dk2" accent1="accent1" accent2="accent2" accent3="accent3" accent4="accent4" accent5="accent5" accent6="accent6" hlink="hlink" folHlink="folHlink"/>
  <p:sldLayoutIdLst>
    <p:sldLayoutId id="2147483767" r:id="rId1"/>
    <p:sldLayoutId id="2147483759" r:id="rId2"/>
    <p:sldLayoutId id="2147483760" r:id="rId3"/>
    <p:sldLayoutId id="2147483761" r:id="rId4"/>
    <p:sldLayoutId id="2147483762" r:id="rId5"/>
    <p:sldLayoutId id="2147483763" r:id="rId6"/>
    <p:sldLayoutId id="2147483764" r:id="rId7"/>
    <p:sldLayoutId id="2147483766" r:id="rId8"/>
    <p:sldLayoutId id="2147483770" r:id="rId9"/>
    <p:sldLayoutId id="2147483768" r:id="rId10"/>
    <p:sldLayoutId id="2147483769" r:id="rId11"/>
  </p:sldLayoutIdLst>
  <p:hf sldNum="0" hdr="0" dt="0"/>
  <p:txStyles>
    <p:titleStyle>
      <a:lvl1pPr algn="l" defTabSz="685800" rtl="0" eaLnBrk="1" latinLnBrk="0" hangingPunct="1">
        <a:lnSpc>
          <a:spcPct val="90000"/>
        </a:lnSpc>
        <a:spcBef>
          <a:spcPct val="0"/>
        </a:spcBef>
        <a:buNone/>
        <a:defRPr sz="2600" b="0" i="0" kern="1200">
          <a:solidFill>
            <a:schemeClr val="tx1"/>
          </a:solidFill>
          <a:latin typeface="Open Sans" charset="0"/>
          <a:ea typeface="Open Sans" charset="0"/>
          <a:cs typeface="Open Sans" charset="0"/>
        </a:defRPr>
      </a:lvl1pPr>
    </p:titleStyle>
    <p:bodyStyle>
      <a:lvl1pPr marL="171450" indent="-171450" algn="l" defTabSz="685800" rtl="0" eaLnBrk="1" latinLnBrk="0" hangingPunct="1">
        <a:lnSpc>
          <a:spcPct val="90000"/>
        </a:lnSpc>
        <a:spcBef>
          <a:spcPts val="750"/>
        </a:spcBef>
        <a:buFont typeface="Arial"/>
        <a:buChar char="•"/>
        <a:defRPr sz="2100" b="0" i="0" kern="1200">
          <a:solidFill>
            <a:schemeClr val="tx1"/>
          </a:solidFill>
          <a:latin typeface="Open Sans Regular" charset="0"/>
          <a:ea typeface="+mn-ea"/>
          <a:cs typeface="+mn-cs"/>
        </a:defRPr>
      </a:lvl1pPr>
      <a:lvl2pPr marL="514350" indent="-171450" algn="l" defTabSz="685800" rtl="0" eaLnBrk="1" latinLnBrk="0" hangingPunct="1">
        <a:lnSpc>
          <a:spcPct val="90000"/>
        </a:lnSpc>
        <a:spcBef>
          <a:spcPts val="375"/>
        </a:spcBef>
        <a:buFont typeface="Arial"/>
        <a:buChar char="•"/>
        <a:defRPr sz="1800" b="0" i="0" kern="1200">
          <a:solidFill>
            <a:schemeClr val="tx1"/>
          </a:solidFill>
          <a:latin typeface="Open Sans Regular" charset="0"/>
          <a:ea typeface="+mn-ea"/>
          <a:cs typeface="+mn-cs"/>
        </a:defRPr>
      </a:lvl2pPr>
      <a:lvl3pPr marL="857250" indent="-171450" algn="l" defTabSz="685800" rtl="0" eaLnBrk="1" latinLnBrk="0" hangingPunct="1">
        <a:lnSpc>
          <a:spcPct val="90000"/>
        </a:lnSpc>
        <a:spcBef>
          <a:spcPts val="375"/>
        </a:spcBef>
        <a:buFont typeface="Arial"/>
        <a:buChar char="•"/>
        <a:defRPr sz="1500" b="0" i="0" kern="1200">
          <a:solidFill>
            <a:schemeClr val="tx1"/>
          </a:solidFill>
          <a:latin typeface="Open Sans Regular" charset="0"/>
          <a:ea typeface="+mn-ea"/>
          <a:cs typeface="+mn-cs"/>
        </a:defRPr>
      </a:lvl3pPr>
      <a:lvl4pPr marL="12001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4pPr>
      <a:lvl5pPr marL="15430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10.wmf"/><Relationship Id="rId2" Type="http://schemas.openxmlformats.org/officeDocument/2006/relationships/slideLayout" Target="../slideLayouts/slideLayout9.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9.wmf"/><Relationship Id="rId4"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7" Type="http://schemas.openxmlformats.org/officeDocument/2006/relationships/image" Target="../media/image13.wmf"/><Relationship Id="rId2" Type="http://schemas.openxmlformats.org/officeDocument/2006/relationships/slideLayout" Target="../slideLayouts/slideLayout11.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12.wmf"/><Relationship Id="rId4" Type="http://schemas.openxmlformats.org/officeDocument/2006/relationships/oleObject" Target="../embeddings/oleObject3.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18.wmf"/><Relationship Id="rId3" Type="http://schemas.openxmlformats.org/officeDocument/2006/relationships/notesSlide" Target="../notesSlides/notesSlide22.xml"/><Relationship Id="rId7" Type="http://schemas.openxmlformats.org/officeDocument/2006/relationships/image" Target="../media/image15.wmf"/><Relationship Id="rId12" Type="http://schemas.openxmlformats.org/officeDocument/2006/relationships/oleObject" Target="../embeddings/oleObject9.bin"/><Relationship Id="rId2" Type="http://schemas.openxmlformats.org/officeDocument/2006/relationships/slideLayout" Target="../slideLayouts/slideLayout9.xml"/><Relationship Id="rId1" Type="http://schemas.openxmlformats.org/officeDocument/2006/relationships/vmlDrawing" Target="../drawings/vmlDrawing3.vml"/><Relationship Id="rId6" Type="http://schemas.openxmlformats.org/officeDocument/2006/relationships/oleObject" Target="../embeddings/oleObject6.bin"/><Relationship Id="rId11" Type="http://schemas.openxmlformats.org/officeDocument/2006/relationships/image" Target="../media/image17.wmf"/><Relationship Id="rId5" Type="http://schemas.openxmlformats.org/officeDocument/2006/relationships/image" Target="../media/image14.wmf"/><Relationship Id="rId15" Type="http://schemas.openxmlformats.org/officeDocument/2006/relationships/image" Target="../media/image19.wmf"/><Relationship Id="rId10" Type="http://schemas.openxmlformats.org/officeDocument/2006/relationships/oleObject" Target="../embeddings/oleObject8.bin"/><Relationship Id="rId4" Type="http://schemas.openxmlformats.org/officeDocument/2006/relationships/oleObject" Target="../embeddings/oleObject5.bin"/><Relationship Id="rId9" Type="http://schemas.openxmlformats.org/officeDocument/2006/relationships/image" Target="../media/image16.wmf"/><Relationship Id="rId14" Type="http://schemas.openxmlformats.org/officeDocument/2006/relationships/oleObject" Target="../embeddings/oleObject10.bin"/></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1.xml"/><Relationship Id="rId1" Type="http://schemas.openxmlformats.org/officeDocument/2006/relationships/vmlDrawing" Target="../drawings/vmlDrawing4.vml"/><Relationship Id="rId5" Type="http://schemas.openxmlformats.org/officeDocument/2006/relationships/image" Target="../media/image20.wmf"/><Relationship Id="rId4" Type="http://schemas.openxmlformats.org/officeDocument/2006/relationships/oleObject" Target="../embeddings/oleObject11.bin"/></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7" Type="http://schemas.openxmlformats.org/officeDocument/2006/relationships/image" Target="../media/image26.wmf"/><Relationship Id="rId2" Type="http://schemas.openxmlformats.org/officeDocument/2006/relationships/slideLayout" Target="../slideLayouts/slideLayout11.xml"/><Relationship Id="rId1" Type="http://schemas.openxmlformats.org/officeDocument/2006/relationships/vmlDrawing" Target="../drawings/vmlDrawing5.vml"/><Relationship Id="rId6" Type="http://schemas.openxmlformats.org/officeDocument/2006/relationships/oleObject" Target="../embeddings/oleObject13.bin"/><Relationship Id="rId5" Type="http://schemas.openxmlformats.org/officeDocument/2006/relationships/image" Target="../media/image25.wmf"/><Relationship Id="rId4" Type="http://schemas.openxmlformats.org/officeDocument/2006/relationships/oleObject" Target="../embeddings/oleObject12.bin"/></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1.xml"/><Relationship Id="rId1" Type="http://schemas.openxmlformats.org/officeDocument/2006/relationships/vmlDrawing" Target="../drawings/vmlDrawing6.vml"/><Relationship Id="rId5" Type="http://schemas.openxmlformats.org/officeDocument/2006/relationships/image" Target="../media/image30.wmf"/><Relationship Id="rId4" Type="http://schemas.openxmlformats.org/officeDocument/2006/relationships/oleObject" Target="../embeddings/oleObject14.bin"/></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1.xml"/><Relationship Id="rId1" Type="http://schemas.openxmlformats.org/officeDocument/2006/relationships/vmlDrawing" Target="../drawings/vmlDrawing7.vml"/><Relationship Id="rId5" Type="http://schemas.openxmlformats.org/officeDocument/2006/relationships/image" Target="../media/image34.wmf"/><Relationship Id="rId4" Type="http://schemas.openxmlformats.org/officeDocument/2006/relationships/oleObject" Target="../embeddings/oleObject15.bin"/></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1.xml"/><Relationship Id="rId1" Type="http://schemas.openxmlformats.org/officeDocument/2006/relationships/vmlDrawing" Target="../drawings/vmlDrawing8.vml"/><Relationship Id="rId5" Type="http://schemas.openxmlformats.org/officeDocument/2006/relationships/image" Target="../media/image35.wmf"/><Relationship Id="rId4" Type="http://schemas.openxmlformats.org/officeDocument/2006/relationships/oleObject" Target="../embeddings/oleObject1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146699" y="1143000"/>
            <a:ext cx="6858000" cy="2387600"/>
          </a:xfrm>
        </p:spPr>
        <p:txBody>
          <a:bodyPr>
            <a:normAutofit/>
          </a:bodyPr>
          <a:lstStyle/>
          <a:p>
            <a:r>
              <a:rPr lang="en-US" sz="4400" dirty="0">
                <a:solidFill>
                  <a:schemeClr val="bg2">
                    <a:lumMod val="10000"/>
                  </a:schemeClr>
                </a:solidFill>
              </a:rPr>
              <a:t>Chapter 3: Searching, Sorting, and Complexity</a:t>
            </a:r>
            <a:endParaRPr lang="en-US" sz="4100" dirty="0">
              <a:solidFill>
                <a:schemeClr val="bg2">
                  <a:lumMod val="10000"/>
                </a:schemeClr>
              </a:solidFill>
            </a:endParaRPr>
          </a:p>
        </p:txBody>
      </p:sp>
      <p:sp>
        <p:nvSpPr>
          <p:cNvPr id="4" name="Subtitle 3">
            <a:extLst>
              <a:ext uri="{FF2B5EF4-FFF2-40B4-BE49-F238E27FC236}">
                <a16:creationId xmlns:a16="http://schemas.microsoft.com/office/drawing/2014/main" id="{2B7206C4-20D6-1E4B-A9BF-F06AB8FA9727}"/>
              </a:ext>
            </a:extLst>
          </p:cNvPr>
          <p:cNvSpPr>
            <a:spLocks noGrp="1"/>
          </p:cNvSpPr>
          <p:nvPr>
            <p:ph type="subTitle" idx="1"/>
          </p:nvPr>
        </p:nvSpPr>
        <p:spPr>
          <a:xfrm>
            <a:off x="1143000" y="3962400"/>
            <a:ext cx="6858000" cy="304800"/>
          </a:xfrm>
        </p:spPr>
        <p:txBody>
          <a:bodyPr>
            <a:normAutofit/>
          </a:bodyPr>
          <a:lstStyle/>
          <a:p>
            <a:r>
              <a:rPr lang="en-US"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a:t>
            </a:r>
          </a:p>
        </p:txBody>
      </p:sp>
      <p:sp>
        <p:nvSpPr>
          <p:cNvPr id="3" name="Content Placeholder 2"/>
          <p:cNvSpPr>
            <a:spLocks noGrp="1"/>
          </p:cNvSpPr>
          <p:nvPr>
            <p:ph sz="quarter" idx="13"/>
          </p:nvPr>
        </p:nvSpPr>
        <p:spPr>
          <a:xfrm>
            <a:off x="703556" y="6241001"/>
            <a:ext cx="8229600" cy="304800"/>
          </a:xfrm>
        </p:spPr>
        <p:txBody>
          <a:bodyPr>
            <a:normAutofit fontScale="92500"/>
          </a:bodyPr>
          <a:lstStyle/>
          <a:p>
            <a:pPr marL="0" indent="0">
              <a:buNone/>
              <a:defRPr/>
            </a:pPr>
            <a:r>
              <a:rPr lang="en-US" sz="1000" dirty="0">
                <a:solidFill>
                  <a:schemeClr val="bg2">
                    <a:lumMod val="10000"/>
                  </a:schemeClr>
                </a:solidFill>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97450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Title 5"/>
          <p:cNvSpPr>
            <a:spLocks noGrp="1"/>
          </p:cNvSpPr>
          <p:nvPr>
            <p:ph type="title"/>
          </p:nvPr>
        </p:nvSpPr>
        <p:spPr>
          <a:xfrm>
            <a:off x="628650" y="365127"/>
            <a:ext cx="7886700" cy="473074"/>
          </a:xfrm>
        </p:spPr>
        <p:txBody>
          <a:bodyPr/>
          <a:lstStyle/>
          <a:p>
            <a:r>
              <a:rPr lang="en-US" b="1" dirty="0"/>
              <a:t>Learning Objectives</a:t>
            </a:r>
          </a:p>
        </p:txBody>
      </p:sp>
      <p:sp>
        <p:nvSpPr>
          <p:cNvPr id="9219" name="Content Placeholder 6"/>
          <p:cNvSpPr>
            <a:spLocks noGrp="1"/>
          </p:cNvSpPr>
          <p:nvPr>
            <p:ph idx="1"/>
          </p:nvPr>
        </p:nvSpPr>
        <p:spPr>
          <a:xfrm>
            <a:off x="628650" y="1825625"/>
            <a:ext cx="7886700" cy="4194175"/>
          </a:xfrm>
        </p:spPr>
        <p:txBody>
          <a:bodyPr>
            <a:normAutofit lnSpcReduction="10000"/>
          </a:bodyPr>
          <a:lstStyle/>
          <a:p>
            <a:pPr marL="291600" indent="-291600">
              <a:spcBef>
                <a:spcPts val="1000"/>
              </a:spcBef>
            </a:pPr>
            <a:r>
              <a:rPr lang="en-US" dirty="0"/>
              <a:t>Determine the rate of growth of the work of an algorithm in terms of its problem size</a:t>
            </a:r>
          </a:p>
          <a:p>
            <a:pPr marL="291600" indent="-291600">
              <a:spcBef>
                <a:spcPts val="1000"/>
              </a:spcBef>
            </a:pPr>
            <a:r>
              <a:rPr lang="en-US" dirty="0"/>
              <a:t>Use big-O notation to describe the running time and memory usage of an algorithm</a:t>
            </a:r>
          </a:p>
          <a:p>
            <a:pPr marL="291600" indent="-291600">
              <a:spcBef>
                <a:spcPts val="1000"/>
              </a:spcBef>
            </a:pPr>
            <a:r>
              <a:rPr lang="en-US" dirty="0"/>
              <a:t>Recognize the common rates of growth of work, or complexity classes – constant, logarithmic, linear, quadratic, and exponential</a:t>
            </a:r>
          </a:p>
          <a:p>
            <a:pPr marL="291600" indent="-291600">
              <a:spcBef>
                <a:spcPts val="1000"/>
              </a:spcBef>
            </a:pPr>
            <a:r>
              <a:rPr lang="en-US" dirty="0"/>
              <a:t>Convert an algorithm to a faster version that reduces its complexity by an order of magnitude</a:t>
            </a:r>
          </a:p>
          <a:p>
            <a:pPr marL="291600" indent="-291600">
              <a:spcBef>
                <a:spcPts val="1000"/>
              </a:spcBef>
            </a:pPr>
            <a:r>
              <a:rPr lang="en-US" dirty="0"/>
              <a:t>Describe how the sequential search and binary search algorithms work</a:t>
            </a:r>
          </a:p>
          <a:p>
            <a:pPr marL="291600" indent="-291600">
              <a:spcBef>
                <a:spcPts val="1000"/>
              </a:spcBef>
            </a:pPr>
            <a:r>
              <a:rPr lang="en-US" dirty="0"/>
              <a:t>Describe how the selection sort and quicksort algorithms work</a:t>
            </a:r>
          </a:p>
        </p:txBody>
      </p:sp>
      <p:sp>
        <p:nvSpPr>
          <p:cNvPr id="9220" name="Footer Placeholder 7"/>
          <p:cNvSpPr>
            <a:spLocks noGrp="1"/>
          </p:cNvSpPr>
          <p:nvPr>
            <p:ph type="ftr" sz="quarter" idx="11"/>
          </p:nvPr>
        </p:nvSpPr>
        <p:spPr/>
        <p:txBody>
          <a:bodyPr/>
          <a:lstStyle/>
          <a:p>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Measuring the Efficiency of Algorithms</a:t>
            </a:r>
          </a:p>
        </p:txBody>
      </p:sp>
      <p:sp>
        <p:nvSpPr>
          <p:cNvPr id="3" name="Content Placeholder 2"/>
          <p:cNvSpPr>
            <a:spLocks noGrp="1"/>
          </p:cNvSpPr>
          <p:nvPr>
            <p:ph idx="1"/>
          </p:nvPr>
        </p:nvSpPr>
        <p:spPr>
          <a:xfrm>
            <a:off x="628650" y="1825625"/>
            <a:ext cx="7886700" cy="2212975"/>
          </a:xfrm>
        </p:spPr>
        <p:txBody>
          <a:bodyPr/>
          <a:lstStyle/>
          <a:p>
            <a:pPr marL="291600" indent="-291600">
              <a:spcBef>
                <a:spcPts val="1000"/>
              </a:spcBef>
            </a:pPr>
            <a:r>
              <a:rPr lang="en-US" dirty="0"/>
              <a:t>When choosing algorithms,</a:t>
            </a:r>
          </a:p>
          <a:p>
            <a:pPr lvl="1">
              <a:spcBef>
                <a:spcPts val="1000"/>
              </a:spcBef>
            </a:pPr>
            <a:r>
              <a:rPr lang="en-US" dirty="0"/>
              <a:t>You often have to settle for a space/time trade-off</a:t>
            </a:r>
          </a:p>
          <a:p>
            <a:pPr marL="291600" indent="-291600">
              <a:spcBef>
                <a:spcPts val="1000"/>
              </a:spcBef>
            </a:pPr>
            <a:r>
              <a:rPr lang="en-US" dirty="0"/>
              <a:t>An algorithm can be designed to gain faster run times</a:t>
            </a:r>
          </a:p>
          <a:p>
            <a:pPr lvl="1">
              <a:spcBef>
                <a:spcPts val="1000"/>
              </a:spcBef>
            </a:pPr>
            <a:r>
              <a:rPr lang="en-US" dirty="0"/>
              <a:t>At the cost of using extra space (memory) or the other way around</a:t>
            </a:r>
          </a:p>
          <a:p>
            <a:pPr marL="291600" indent="-291600">
              <a:spcBef>
                <a:spcPts val="1000"/>
              </a:spcBef>
            </a:pPr>
            <a:r>
              <a:rPr lang="en-US" dirty="0"/>
              <a:t>Space/time trade-off is more relevant for miniature devices</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81071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Measuring the Run Time of an Algorithm </a:t>
            </a:r>
            <a:r>
              <a:rPr lang="en-US" sz="2000" dirty="0"/>
              <a:t>(1 of 6)</a:t>
            </a:r>
          </a:p>
        </p:txBody>
      </p:sp>
      <p:sp>
        <p:nvSpPr>
          <p:cNvPr id="3" name="Content Placeholder 2"/>
          <p:cNvSpPr>
            <a:spLocks noGrp="1"/>
          </p:cNvSpPr>
          <p:nvPr>
            <p:ph idx="1"/>
          </p:nvPr>
        </p:nvSpPr>
        <p:spPr>
          <a:xfrm>
            <a:off x="628650" y="1825625"/>
            <a:ext cx="7886700" cy="2974975"/>
          </a:xfrm>
        </p:spPr>
        <p:txBody>
          <a:bodyPr>
            <a:normAutofit lnSpcReduction="10000"/>
          </a:bodyPr>
          <a:lstStyle/>
          <a:p>
            <a:pPr marL="291600" indent="-291600">
              <a:spcBef>
                <a:spcPts val="1000"/>
              </a:spcBef>
            </a:pPr>
            <a:r>
              <a:rPr lang="en-US" dirty="0"/>
              <a:t>Use the computer’s clock to obtain an actual run time:</a:t>
            </a:r>
          </a:p>
          <a:p>
            <a:pPr lvl="1">
              <a:spcBef>
                <a:spcPts val="1000"/>
              </a:spcBef>
            </a:pPr>
            <a:r>
              <a:rPr lang="en-US" dirty="0"/>
              <a:t>Process is called benchmarking or profiling</a:t>
            </a:r>
          </a:p>
          <a:p>
            <a:pPr marL="291600" indent="-291600">
              <a:spcBef>
                <a:spcPts val="1000"/>
              </a:spcBef>
            </a:pPr>
            <a:r>
              <a:rPr lang="en-US" dirty="0"/>
              <a:t>Starts by determining the time for several different data sets of the same size and then calculates the average time</a:t>
            </a:r>
          </a:p>
          <a:p>
            <a:pPr marL="291600" indent="-291600">
              <a:spcBef>
                <a:spcPts val="1000"/>
              </a:spcBef>
            </a:pPr>
            <a:r>
              <a:rPr lang="en-US" dirty="0"/>
              <a:t>Next, similar data are gathered for larger and larger data sets:</a:t>
            </a:r>
          </a:p>
          <a:p>
            <a:pPr lvl="1">
              <a:spcBef>
                <a:spcPts val="1000"/>
              </a:spcBef>
            </a:pPr>
            <a:r>
              <a:rPr lang="en-US" dirty="0"/>
              <a:t>After several tests, enough data are available to predict how the algorithm will behave for a data set of any size</a:t>
            </a:r>
          </a:p>
          <a:p>
            <a:pPr marL="291600" indent="-291600">
              <a:spcBef>
                <a:spcPts val="1000"/>
              </a:spcBef>
            </a:pPr>
            <a:r>
              <a:rPr lang="en-US" dirty="0"/>
              <a:t>Code for a tester program is found on the following slide</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07227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Measuring the Run Time of an Algorithm </a:t>
            </a:r>
            <a:r>
              <a:rPr lang="en-US" sz="2000" dirty="0"/>
              <a:t>(2 of 6)</a:t>
            </a:r>
          </a:p>
        </p:txBody>
      </p:sp>
      <p:sp>
        <p:nvSpPr>
          <p:cNvPr id="3" name="Content Placeholder 2"/>
          <p:cNvSpPr>
            <a:spLocks noGrp="1"/>
          </p:cNvSpPr>
          <p:nvPr>
            <p:ph idx="1"/>
          </p:nvPr>
        </p:nvSpPr>
        <p:spPr>
          <a:xfrm>
            <a:off x="628650" y="1825625"/>
            <a:ext cx="7886700" cy="4041775"/>
          </a:xfrm>
        </p:spPr>
        <p:txBody>
          <a:bodyPr>
            <a:normAutofit fontScale="70000" lnSpcReduction="20000"/>
          </a:bodyPr>
          <a:lstStyle/>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File: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timing1.py</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Prints</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the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running</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times</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for</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problem</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sizes</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that</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double,</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using</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a</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single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loop.</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dirty="0">
                <a:latin typeface="Bank Gothic Bold"/>
                <a:ea typeface="MS Mincho"/>
                <a:cs typeface="Bank Gothic Bold"/>
              </a:rPr>
              <a:t> </a:t>
            </a:r>
          </a:p>
          <a:p>
            <a:pPr marL="0" marR="0" indent="0">
              <a:spcBef>
                <a:spcPts val="0"/>
              </a:spcBef>
              <a:spcAft>
                <a:spcPts val="0"/>
              </a:spcAft>
              <a:buNone/>
            </a:pPr>
            <a:r>
              <a:rPr lang="en-US" sz="2400" b="1" dirty="0">
                <a:solidFill>
                  <a:srgbClr val="8A3800"/>
                </a:solidFill>
                <a:latin typeface="Courier New" panose="02070309020205020404" pitchFamily="49" charset="0"/>
                <a:ea typeface="MS Mincho"/>
                <a:cs typeface="Bank Gothic Bold"/>
              </a:rPr>
              <a:t>import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time</a:t>
            </a:r>
            <a:endParaRPr lang="en-US" sz="1600" dirty="0">
              <a:latin typeface="Bank Gothic Bold"/>
              <a:ea typeface="MS Mincho"/>
              <a:cs typeface="Bank Gothic Bold"/>
            </a:endParaRPr>
          </a:p>
          <a:p>
            <a:pPr marL="0" marR="0" indent="0">
              <a:spcBef>
                <a:spcPts val="0"/>
              </a:spcBef>
              <a:spcAft>
                <a:spcPts val="0"/>
              </a:spcAft>
              <a:buNone/>
            </a:pPr>
            <a:r>
              <a:rPr lang="en-US" sz="2400" dirty="0">
                <a:latin typeface="Bank Gothic Bold"/>
                <a:ea typeface="MS Mincho"/>
                <a:cs typeface="Bank Gothic Bold"/>
              </a:rPr>
              <a:t> </a:t>
            </a:r>
          </a:p>
          <a:p>
            <a:pPr marL="0" marR="0" indent="0">
              <a:spcBef>
                <a:spcPts val="0"/>
              </a:spcBef>
              <a:spcAft>
                <a:spcPts val="0"/>
              </a:spcAft>
              <a:buNone/>
            </a:pPr>
            <a:r>
              <a:rPr lang="en-US" sz="2400" b="1" dirty="0">
                <a:latin typeface="Courier New" panose="02070309020205020404" pitchFamily="49" charset="0"/>
                <a:ea typeface="MS Mincho"/>
                <a:cs typeface="Bank Gothic Bold"/>
              </a:rPr>
              <a:t>problemSize</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10000000</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660066"/>
                </a:solidFill>
                <a:latin typeface="Courier New" panose="02070309020205020404" pitchFamily="49" charset="0"/>
                <a:ea typeface="MS Mincho"/>
                <a:cs typeface="Bank Gothic Bold"/>
              </a:rPr>
              <a:t>print</a:t>
            </a:r>
            <a:r>
              <a:rPr lang="en-US" sz="2400" b="1" dirty="0">
                <a:latin typeface="Courier New" panose="02070309020205020404" pitchFamily="49" charset="0"/>
                <a:ea typeface="MS Mincho"/>
                <a:cs typeface="Bank Gothic Bold"/>
              </a:rPr>
              <a:t>(</a:t>
            </a:r>
            <a:r>
              <a:rPr lang="en-US" sz="2400" b="1" dirty="0">
                <a:solidFill>
                  <a:srgbClr val="006800"/>
                </a:solidFill>
                <a:latin typeface="Courier New" panose="02070309020205020404" pitchFamily="49" charset="0"/>
                <a:ea typeface="MS Mincho"/>
                <a:cs typeface="Bank Gothic Bold"/>
              </a:rPr>
              <a:t>"%12s%16s"</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solidFill>
                  <a:srgbClr val="006800"/>
                </a:solidFill>
                <a:latin typeface="Courier New" panose="02070309020205020404" pitchFamily="49" charset="0"/>
                <a:ea typeface="MS Mincho"/>
                <a:cs typeface="Bank Gothic Bold"/>
              </a:rPr>
              <a:t>"Problem</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Size"</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"Seconds"</a:t>
            </a:r>
            <a:r>
              <a:rPr lang="en-US" sz="2400" b="1" dirty="0">
                <a:latin typeface="Courier New" panose="02070309020205020404" pitchFamily="49" charset="0"/>
                <a:ea typeface="MS Mincho"/>
                <a:cs typeface="Bank Gothic Bold"/>
              </a:rPr>
              <a:t>))</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8A3800"/>
                </a:solidFill>
                <a:latin typeface="Courier New" panose="02070309020205020404" pitchFamily="49" charset="0"/>
                <a:ea typeface="MS Mincho"/>
                <a:cs typeface="Bank Gothic Bold"/>
              </a:rPr>
              <a:t>for</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count</a:t>
            </a:r>
            <a:r>
              <a:rPr lang="en-US" sz="2400" b="1" dirty="0">
                <a:latin typeface="Times" panose="02020603050405020304" pitchFamily="18"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in</a:t>
            </a:r>
            <a:r>
              <a:rPr lang="en-US" sz="2400" b="1" dirty="0">
                <a:latin typeface="Times" panose="02020603050405020304" pitchFamily="18" charset="0"/>
                <a:ea typeface="MS Mincho"/>
                <a:cs typeface="Bank Gothic Bold"/>
              </a:rPr>
              <a:t> </a:t>
            </a:r>
            <a:r>
              <a:rPr lang="en-US" sz="2400" b="1" dirty="0">
                <a:solidFill>
                  <a:srgbClr val="660066"/>
                </a:solidFill>
                <a:latin typeface="Courier New" panose="02070309020205020404" pitchFamily="49" charset="0"/>
                <a:ea typeface="MS Mincho"/>
                <a:cs typeface="Bank Gothic Bold"/>
              </a:rPr>
              <a:t>range</a:t>
            </a:r>
            <a:r>
              <a:rPr lang="en-US" sz="2400" b="1" dirty="0">
                <a:latin typeface="Courier New" panose="02070309020205020404" pitchFamily="49" charset="0"/>
                <a:ea typeface="MS Mincho"/>
                <a:cs typeface="Bank Gothic Bold"/>
              </a:rPr>
              <a:t>(5):</a:t>
            </a:r>
            <a:endParaRPr lang="en-US" sz="1600" dirty="0">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start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time.time()</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0000"/>
                </a:solidFill>
                <a:latin typeface="Courier New" panose="02070309020205020404" pitchFamily="49"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start</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of</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algorithm</a:t>
            </a:r>
            <a:endParaRPr lang="en-US" sz="1600" dirty="0">
              <a:solidFill>
                <a:srgbClr val="C00000"/>
              </a:solidFill>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work</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6600"/>
                </a:solidFill>
                <a:latin typeface="Courier New" panose="02070309020205020404" pitchFamily="49"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for</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x</a:t>
            </a:r>
            <a:r>
              <a:rPr lang="en-US" sz="2400" b="1" dirty="0">
                <a:latin typeface="Times" panose="02020603050405020304" pitchFamily="18"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in</a:t>
            </a:r>
            <a:r>
              <a:rPr lang="en-US" sz="2400" b="1" dirty="0">
                <a:latin typeface="Times" panose="02020603050405020304" pitchFamily="18" charset="0"/>
                <a:ea typeface="MS Mincho"/>
                <a:cs typeface="Bank Gothic Bold"/>
              </a:rPr>
              <a:t> </a:t>
            </a:r>
            <a:r>
              <a:rPr lang="en-US" sz="2400" b="1" dirty="0">
                <a:solidFill>
                  <a:srgbClr val="660066"/>
                </a:solidFill>
                <a:latin typeface="Courier New" panose="02070309020205020404" pitchFamily="49" charset="0"/>
                <a:ea typeface="MS Mincho"/>
                <a:cs typeface="Bank Gothic Bold"/>
              </a:rPr>
              <a:t>range</a:t>
            </a:r>
            <a:r>
              <a:rPr lang="en-US" sz="2400" b="1" dirty="0">
                <a:latin typeface="Courier New" panose="02070309020205020404" pitchFamily="49" charset="0"/>
                <a:ea typeface="MS Mincho"/>
                <a:cs typeface="Bank Gothic Bold"/>
              </a:rPr>
              <a:t>(problemSize):</a:t>
            </a:r>
            <a:endParaRPr lang="en-US" sz="1600" dirty="0">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work</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a:t>
            </a:r>
            <a:endParaRPr lang="en-US" sz="1600" dirty="0">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work</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0000"/>
                </a:solidFill>
                <a:latin typeface="Courier New" panose="02070309020205020404" pitchFamily="49"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end</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of</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algorithm</a:t>
            </a:r>
            <a:endParaRPr lang="en-US" sz="1600" dirty="0">
              <a:solidFill>
                <a:srgbClr val="C00000"/>
              </a:solidFill>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elapsed</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time.time()</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start</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660066"/>
                </a:solidFill>
                <a:latin typeface="Courier New" panose="02070309020205020404" pitchFamily="49" charset="0"/>
                <a:ea typeface="MS Mincho"/>
                <a:cs typeface="Bank Gothic Bold"/>
              </a:rPr>
              <a:t>    print</a:t>
            </a:r>
            <a:r>
              <a:rPr lang="en-US" sz="2400" b="1" dirty="0">
                <a:latin typeface="Courier New" panose="02070309020205020404" pitchFamily="49" charset="0"/>
                <a:ea typeface="MS Mincho"/>
                <a:cs typeface="Bank Gothic Bold"/>
              </a:rPr>
              <a:t>(</a:t>
            </a:r>
            <a:r>
              <a:rPr lang="en-US" sz="2400" b="1" dirty="0">
                <a:solidFill>
                  <a:srgbClr val="006800"/>
                </a:solidFill>
                <a:latin typeface="Courier New" panose="02070309020205020404" pitchFamily="49" charset="0"/>
                <a:ea typeface="MS Mincho"/>
                <a:cs typeface="Bank Gothic Bold"/>
              </a:rPr>
              <a:t>"%12d%16.3f"</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(problemSize,</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elapsed))</a:t>
            </a:r>
            <a:endParaRPr lang="en-US" sz="1600" dirty="0">
              <a:latin typeface="Bank Gothic Bold"/>
              <a:ea typeface="MS Mincho"/>
              <a:cs typeface="Bank Gothic Bold"/>
            </a:endParaRPr>
          </a:p>
          <a:p>
            <a:pPr marL="0" indent="0">
              <a:buNone/>
            </a:pPr>
            <a:r>
              <a:rPr lang="en-US" sz="2400" b="1" dirty="0">
                <a:latin typeface="Courier New" panose="02070309020205020404" pitchFamily="49" charset="0"/>
                <a:ea typeface="MS Mincho"/>
              </a:rPr>
              <a:t>    problemSize</a:t>
            </a:r>
            <a:r>
              <a:rPr lang="en-US" sz="2400" b="1" dirty="0">
                <a:latin typeface="Times" panose="02020603050405020304" pitchFamily="18" charset="0"/>
                <a:ea typeface="MS Mincho"/>
              </a:rPr>
              <a:t> </a:t>
            </a:r>
            <a:r>
              <a:rPr lang="en-US" sz="2400" b="1" dirty="0">
                <a:latin typeface="Courier New" panose="02070309020205020404" pitchFamily="49" charset="0"/>
                <a:ea typeface="MS Mincho"/>
              </a:rPr>
              <a:t>*=</a:t>
            </a:r>
            <a:r>
              <a:rPr lang="en-US" sz="2400" b="1" dirty="0">
                <a:latin typeface="Times" panose="02020603050405020304" pitchFamily="18" charset="0"/>
                <a:ea typeface="MS Mincho"/>
              </a:rPr>
              <a:t> </a:t>
            </a:r>
            <a:r>
              <a:rPr lang="en-US" sz="2400" b="1" dirty="0">
                <a:latin typeface="Courier New" panose="02070309020205020404" pitchFamily="49" charset="0"/>
                <a:ea typeface="MS Mincho"/>
              </a:rPr>
              <a:t>2</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96790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Measuring the Run Time of an Algorithm </a:t>
            </a:r>
            <a:r>
              <a:rPr lang="en-US" sz="2000" dirty="0"/>
              <a:t>(3 of 6)</a:t>
            </a:r>
          </a:p>
        </p:txBody>
      </p:sp>
      <p:sp>
        <p:nvSpPr>
          <p:cNvPr id="3" name="Content Placeholder 2"/>
          <p:cNvSpPr>
            <a:spLocks noGrp="1"/>
          </p:cNvSpPr>
          <p:nvPr>
            <p:ph idx="1"/>
          </p:nvPr>
        </p:nvSpPr>
        <p:spPr>
          <a:xfrm>
            <a:off x="628650" y="1825625"/>
            <a:ext cx="7886700" cy="384175"/>
          </a:xfrm>
        </p:spPr>
        <p:txBody>
          <a:bodyPr>
            <a:normAutofit/>
          </a:bodyPr>
          <a:lstStyle/>
          <a:p>
            <a:pPr marL="0" indent="0">
              <a:spcBef>
                <a:spcPts val="1000"/>
              </a:spcBef>
              <a:buNone/>
            </a:pPr>
            <a:r>
              <a:rPr lang="en-IN" b="1" dirty="0"/>
              <a:t>Figure 3-1: </a:t>
            </a:r>
            <a:r>
              <a:rPr lang="en-IN" dirty="0"/>
              <a:t>The output of the tester program</a:t>
            </a:r>
            <a:endParaRPr lang="en-US" dirty="0">
              <a:latin typeface="Open Sans"/>
            </a:endParaRPr>
          </a:p>
        </p:txBody>
      </p:sp>
      <p:pic>
        <p:nvPicPr>
          <p:cNvPr id="7" name="Content Placeholder 6" descr="Program code. In the code, the words in the variable names are merged. Line 1: Problem size, indented, seconds. Line 2: 10000000, indented, 3. 8. Line 3: 20000000, indented, 7. 591. Line 4: 40000000, indented, 15. 352. Line 5: 80000000, indented, 30. 697. Line 6: 1680000000, indented, 61. 631."/>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828800" y="2482509"/>
            <a:ext cx="4614471" cy="2775291"/>
          </a:xfrm>
        </p:spPr>
      </p:pic>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57820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Measuring the Run Time of an Algorithm </a:t>
            </a:r>
            <a:r>
              <a:rPr lang="en-US" sz="2000" dirty="0"/>
              <a:t>(4 of 6)</a:t>
            </a:r>
          </a:p>
        </p:txBody>
      </p:sp>
      <p:sp>
        <p:nvSpPr>
          <p:cNvPr id="3" name="Content Placeholder 2"/>
          <p:cNvSpPr>
            <a:spLocks noGrp="1"/>
          </p:cNvSpPr>
          <p:nvPr>
            <p:ph idx="1"/>
          </p:nvPr>
        </p:nvSpPr>
        <p:spPr>
          <a:xfrm>
            <a:off x="628650" y="1825625"/>
            <a:ext cx="7886700" cy="612775"/>
          </a:xfrm>
        </p:spPr>
        <p:txBody>
          <a:bodyPr>
            <a:normAutofit/>
          </a:bodyPr>
          <a:lstStyle/>
          <a:p>
            <a:pPr marL="291600" indent="-291600">
              <a:spcBef>
                <a:spcPts val="1000"/>
              </a:spcBef>
            </a:pPr>
            <a:r>
              <a:rPr lang="en-US" dirty="0">
                <a:latin typeface="Open Sans Regular"/>
                <a:ea typeface="MS Mincho"/>
                <a:cs typeface="Bank Gothic Bold"/>
              </a:rPr>
              <a:t>As another example, consider the following change in the tester’s program’s algorithm:</a:t>
            </a:r>
            <a:endParaRPr lang="en-US" dirty="0">
              <a:latin typeface="Open Sans Regular"/>
            </a:endParaRPr>
          </a:p>
        </p:txBody>
      </p:sp>
      <p:sp>
        <p:nvSpPr>
          <p:cNvPr id="5" name="Content Placeholder 4"/>
          <p:cNvSpPr>
            <a:spLocks noGrp="1"/>
          </p:cNvSpPr>
          <p:nvPr>
            <p:ph sz="quarter" idx="12"/>
          </p:nvPr>
        </p:nvSpPr>
        <p:spPr>
          <a:xfrm>
            <a:off x="628650" y="2503763"/>
            <a:ext cx="5043282" cy="931864"/>
          </a:xfrm>
        </p:spPr>
        <p:txBody>
          <a:bodyPr>
            <a:normAutofit fontScale="92500" lnSpcReduction="10000"/>
          </a:bodyPr>
          <a:lstStyle/>
          <a:p>
            <a:pPr marL="342900" lvl="1" indent="0">
              <a:spcBef>
                <a:spcPts val="0"/>
              </a:spcBef>
              <a:buNone/>
            </a:pP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j</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problemSize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34290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k</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solidFill>
                  <a:srgbClr val="8A3800"/>
                </a:solidFill>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problemSize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342900" lvl="1" indent="0">
              <a:spcBef>
                <a:spcPts val="0"/>
              </a:spcBef>
              <a:buNone/>
            </a:pPr>
            <a:r>
              <a:rPr lang="en-US" b="1" dirty="0">
                <a:latin typeface="Courier New" panose="02070309020205020404" pitchFamily="49" charset="0"/>
                <a:ea typeface="MS Mincho"/>
                <a:cs typeface="Bank Gothic Bold"/>
              </a:rPr>
              <a:t>        work</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work</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1</a:t>
            </a:r>
            <a:endParaRPr lang="en-IN" dirty="0"/>
          </a:p>
        </p:txBody>
      </p:sp>
      <p:sp>
        <p:nvSpPr>
          <p:cNvPr id="6" name="Content Placeholder 5"/>
          <p:cNvSpPr>
            <a:spLocks noGrp="1"/>
          </p:cNvSpPr>
          <p:nvPr>
            <p:ph sz="quarter" idx="13"/>
          </p:nvPr>
        </p:nvSpPr>
        <p:spPr>
          <a:xfrm>
            <a:off x="628650" y="3597966"/>
            <a:ext cx="7981950" cy="1447800"/>
          </a:xfrm>
        </p:spPr>
        <p:txBody>
          <a:bodyPr>
            <a:normAutofit lnSpcReduction="10000"/>
          </a:bodyPr>
          <a:lstStyle/>
          <a:p>
            <a:pPr marL="291600" indent="-291600">
              <a:spcBef>
                <a:spcPts val="1000"/>
              </a:spcBef>
            </a:pPr>
            <a:r>
              <a:rPr lang="en-US" dirty="0">
                <a:latin typeface="Open Sans Regular"/>
                <a:ea typeface="MS Mincho"/>
                <a:cs typeface="Bank Gothic Bold"/>
              </a:rPr>
              <a:t>The extended assignments have been moved into a nested loop:</a:t>
            </a:r>
          </a:p>
          <a:p>
            <a:pPr lvl="1">
              <a:spcBef>
                <a:spcPts val="1000"/>
              </a:spcBef>
            </a:pPr>
            <a:r>
              <a:rPr lang="en-US" dirty="0">
                <a:latin typeface="Open Sans Regular"/>
              </a:rPr>
              <a:t>Loop iterates through the size of the problem within another loop that also iterates through the size of the problem</a:t>
            </a:r>
          </a:p>
          <a:p>
            <a:pPr lvl="1">
              <a:spcBef>
                <a:spcPts val="1000"/>
              </a:spcBef>
            </a:pPr>
            <a:r>
              <a:rPr lang="en-US" dirty="0">
                <a:latin typeface="Open Sans Regular"/>
              </a:rPr>
              <a:t>The results are shown in Figure 3.2 on the following slide.</a:t>
            </a:r>
            <a:endParaRPr lang="en-IN"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31598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Measuring the Run Time of an Algorithm </a:t>
            </a:r>
            <a:r>
              <a:rPr lang="en-US" sz="2000" dirty="0"/>
              <a:t>(5 of 6)</a:t>
            </a:r>
          </a:p>
        </p:txBody>
      </p:sp>
      <p:sp>
        <p:nvSpPr>
          <p:cNvPr id="3" name="Content Placeholder 2"/>
          <p:cNvSpPr>
            <a:spLocks noGrp="1"/>
          </p:cNvSpPr>
          <p:nvPr>
            <p:ph idx="1"/>
          </p:nvPr>
        </p:nvSpPr>
        <p:spPr>
          <a:xfrm>
            <a:off x="628650" y="1825625"/>
            <a:ext cx="7886700" cy="384175"/>
          </a:xfrm>
        </p:spPr>
        <p:txBody>
          <a:bodyPr>
            <a:normAutofit/>
          </a:bodyPr>
          <a:lstStyle/>
          <a:p>
            <a:pPr marL="0" indent="0">
              <a:spcBef>
                <a:spcPts val="1000"/>
              </a:spcBef>
              <a:buNone/>
            </a:pPr>
            <a:r>
              <a:rPr lang="en-IN" b="1" dirty="0"/>
              <a:t>Figure 3-2: </a:t>
            </a:r>
            <a:r>
              <a:rPr lang="en-IN" dirty="0"/>
              <a:t>The output of the second tester program</a:t>
            </a:r>
            <a:endParaRPr lang="en-US" dirty="0">
              <a:latin typeface="Open Sans Regular"/>
            </a:endParaRPr>
          </a:p>
        </p:txBody>
      </p:sp>
      <p:pic>
        <p:nvPicPr>
          <p:cNvPr id="7" name="Content Placeholder 6" descr="Program code. In the code, the words in the variable names are merged. Line 1: problem size, indented, seconds. Line 2: 1000, indented, 0.387. Line 3: 2000, indented, 1.581. Line 4: 4000, indented, 6. 463. Line 5: 8000, indented, 25.702. Line 6: 16000, indented, 102.666."/>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828800" y="2487659"/>
            <a:ext cx="4373419" cy="2617741"/>
          </a:xfrm>
        </p:spPr>
      </p:pic>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44808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549274"/>
          </a:xfrm>
        </p:spPr>
        <p:txBody>
          <a:bodyPr/>
          <a:lstStyle/>
          <a:p>
            <a:r>
              <a:rPr lang="en-US" b="1" dirty="0"/>
              <a:t>Measuring the Run Time of an Algorithm </a:t>
            </a:r>
            <a:r>
              <a:rPr lang="en-US" sz="2000" dirty="0"/>
              <a:t>(6 of 6)</a:t>
            </a:r>
          </a:p>
        </p:txBody>
      </p:sp>
      <p:sp>
        <p:nvSpPr>
          <p:cNvPr id="3" name="Content Placeholder 2"/>
          <p:cNvSpPr>
            <a:spLocks noGrp="1"/>
          </p:cNvSpPr>
          <p:nvPr>
            <p:ph idx="1"/>
          </p:nvPr>
        </p:nvSpPr>
        <p:spPr>
          <a:xfrm>
            <a:off x="628650" y="1825625"/>
            <a:ext cx="7886700" cy="2060575"/>
          </a:xfrm>
        </p:spPr>
        <p:txBody>
          <a:bodyPr/>
          <a:lstStyle/>
          <a:p>
            <a:pPr marL="291600" indent="-291600">
              <a:spcBef>
                <a:spcPts val="1000"/>
              </a:spcBef>
            </a:pPr>
            <a:r>
              <a:rPr lang="en-US" dirty="0"/>
              <a:t>This method permits accurate predictions of running times of many algorithms with only two problems:</a:t>
            </a:r>
          </a:p>
          <a:p>
            <a:pPr lvl="1">
              <a:spcBef>
                <a:spcPts val="1000"/>
              </a:spcBef>
            </a:pPr>
            <a:r>
              <a:rPr lang="en-US" dirty="0"/>
              <a:t>Different hardware platforms have different processing speeds, so the running times of an algorithm differ from machine to machine</a:t>
            </a:r>
          </a:p>
          <a:p>
            <a:pPr lvl="1">
              <a:spcBef>
                <a:spcPts val="1000"/>
              </a:spcBef>
            </a:pPr>
            <a:r>
              <a:rPr lang="en-US" dirty="0"/>
              <a:t>It is impractical to determine the running time for some algorithms with very large data sets</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43764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lstStyle/>
          <a:p>
            <a:r>
              <a:rPr lang="en-US" b="1" dirty="0"/>
              <a:t>Counting Instructions </a:t>
            </a:r>
            <a:r>
              <a:rPr lang="en-US" sz="2000" dirty="0"/>
              <a:t>(1 of 5)</a:t>
            </a:r>
          </a:p>
        </p:txBody>
      </p:sp>
      <p:sp>
        <p:nvSpPr>
          <p:cNvPr id="3" name="Content Placeholder 2"/>
          <p:cNvSpPr>
            <a:spLocks noGrp="1"/>
          </p:cNvSpPr>
          <p:nvPr>
            <p:ph idx="1"/>
          </p:nvPr>
        </p:nvSpPr>
        <p:spPr>
          <a:xfrm>
            <a:off x="628650" y="1825625"/>
            <a:ext cx="7886700" cy="4194175"/>
          </a:xfrm>
        </p:spPr>
        <p:txBody>
          <a:bodyPr vert="horz" lIns="0" tIns="0" rIns="0" bIns="0" rtlCol="0" anchor="t">
            <a:normAutofit lnSpcReduction="10000"/>
          </a:bodyPr>
          <a:lstStyle/>
          <a:p>
            <a:pPr marL="291600" indent="-291600">
              <a:spcBef>
                <a:spcPts val="1000"/>
              </a:spcBef>
            </a:pPr>
            <a:r>
              <a:rPr lang="en-US" dirty="0"/>
              <a:t>Another technique to estimate efficiency of an algorithm</a:t>
            </a:r>
          </a:p>
          <a:p>
            <a:pPr lvl="1">
              <a:spcBef>
                <a:spcPts val="1000"/>
              </a:spcBef>
            </a:pPr>
            <a:r>
              <a:rPr lang="en-US" dirty="0"/>
              <a:t>Count the instructions executed with different problem sizes</a:t>
            </a:r>
          </a:p>
          <a:p>
            <a:pPr marL="291600" indent="-291600">
              <a:spcBef>
                <a:spcPts val="1000"/>
              </a:spcBef>
            </a:pPr>
            <a:r>
              <a:rPr lang="en-US" dirty="0"/>
              <a:t>When analyzing an algorithm this way, you distinguish between two classes of instructions:</a:t>
            </a:r>
          </a:p>
          <a:p>
            <a:pPr lvl="1">
              <a:spcBef>
                <a:spcPts val="1000"/>
              </a:spcBef>
            </a:pPr>
            <a:r>
              <a:rPr lang="en-US" dirty="0"/>
              <a:t>Instructions that execute the same number of times regardless of the problem size</a:t>
            </a:r>
          </a:p>
          <a:p>
            <a:pPr lvl="1">
              <a:spcBef>
                <a:spcPts val="1000"/>
              </a:spcBef>
            </a:pPr>
            <a:r>
              <a:rPr lang="en-US" dirty="0"/>
              <a:t>Instructions whose execution count varies with the problem size</a:t>
            </a:r>
          </a:p>
          <a:p>
            <a:pPr marL="291600" indent="-291600">
              <a:spcBef>
                <a:spcPts val="1000"/>
              </a:spcBef>
            </a:pPr>
            <a:r>
              <a:rPr lang="en-US" dirty="0"/>
              <a:t>For now, ignore the instructions in the first class:</a:t>
            </a:r>
          </a:p>
          <a:p>
            <a:pPr lvl="1">
              <a:spcBef>
                <a:spcPts val="1000"/>
              </a:spcBef>
            </a:pPr>
            <a:r>
              <a:rPr lang="en-US" dirty="0"/>
              <a:t>They do not figure significantly in this kind of analysis</a:t>
            </a:r>
          </a:p>
          <a:p>
            <a:pPr marL="291600" indent="-291600">
              <a:spcBef>
                <a:spcPts val="1000"/>
              </a:spcBef>
            </a:pPr>
            <a:r>
              <a:rPr lang="en-US" dirty="0"/>
              <a:t>The instructions in the second class normally are found in loops or recursive functions:</a:t>
            </a:r>
          </a:p>
          <a:p>
            <a:pPr lvl="1">
              <a:spcBef>
                <a:spcPts val="1000"/>
              </a:spcBef>
            </a:pPr>
            <a:r>
              <a:rPr lang="en-US" dirty="0"/>
              <a:t>In the case of loops, zero in on instructions performed in any nested loops</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53744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Counting Instructions </a:t>
            </a:r>
            <a:r>
              <a:rPr lang="en-US" sz="2000" dirty="0"/>
              <a:t>(2 of 5)</a:t>
            </a:r>
          </a:p>
        </p:txBody>
      </p:sp>
      <p:sp>
        <p:nvSpPr>
          <p:cNvPr id="3" name="Content Placeholder 2"/>
          <p:cNvSpPr>
            <a:spLocks noGrp="1"/>
          </p:cNvSpPr>
          <p:nvPr>
            <p:ph idx="1"/>
          </p:nvPr>
        </p:nvSpPr>
        <p:spPr>
          <a:xfrm>
            <a:off x="628650" y="1825625"/>
            <a:ext cx="7886700" cy="4194175"/>
          </a:xfrm>
        </p:spPr>
        <p:txBody>
          <a:bodyPr>
            <a:normAutofit fontScale="77500" lnSpcReduction="20000"/>
          </a:bodyPr>
          <a:lstStyle/>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File: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counting.py</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Prints</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the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number</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of</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iterations</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for</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problem</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sizes</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that</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double,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using</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a</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nested</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loop.</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dirty="0">
                <a:latin typeface="Bank Gothic Bold"/>
                <a:ea typeface="MS Mincho"/>
                <a:cs typeface="Bank Gothic Bold"/>
              </a:rPr>
              <a:t> </a:t>
            </a:r>
          </a:p>
          <a:p>
            <a:pPr marL="0" marR="0" indent="0">
              <a:spcBef>
                <a:spcPts val="0"/>
              </a:spcBef>
              <a:spcAft>
                <a:spcPts val="0"/>
              </a:spcAft>
              <a:buNone/>
            </a:pPr>
            <a:r>
              <a:rPr lang="en-US" sz="2400" b="1" dirty="0">
                <a:latin typeface="Courier New" panose="02070309020205020404" pitchFamily="49" charset="0"/>
                <a:ea typeface="MS Mincho"/>
                <a:cs typeface="Bank Gothic Bold"/>
              </a:rPr>
              <a:t>problemSize</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1000</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660066"/>
                </a:solidFill>
                <a:latin typeface="Courier New" panose="02070309020205020404" pitchFamily="49" charset="0"/>
                <a:ea typeface="MS Mincho"/>
                <a:cs typeface="Bank Gothic Bold"/>
              </a:rPr>
              <a:t>print</a:t>
            </a:r>
            <a:r>
              <a:rPr lang="en-US" sz="2400" b="1" dirty="0">
                <a:latin typeface="Courier New" panose="02070309020205020404" pitchFamily="49" charset="0"/>
                <a:ea typeface="MS Mincho"/>
                <a:cs typeface="Bank Gothic Bold"/>
              </a:rPr>
              <a:t>(</a:t>
            </a:r>
            <a:r>
              <a:rPr lang="en-US" sz="2400" b="1" dirty="0">
                <a:solidFill>
                  <a:srgbClr val="006800"/>
                </a:solidFill>
                <a:latin typeface="Courier New" panose="02070309020205020404" pitchFamily="49" charset="0"/>
                <a:ea typeface="MS Mincho"/>
                <a:cs typeface="Bank Gothic Bold"/>
              </a:rPr>
              <a:t>"%12s%15s"</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solidFill>
                  <a:srgbClr val="006800"/>
                </a:solidFill>
                <a:latin typeface="Courier New" panose="02070309020205020404" pitchFamily="49" charset="0"/>
                <a:ea typeface="MS Mincho"/>
                <a:cs typeface="Bank Gothic Bold"/>
              </a:rPr>
              <a:t>"Problem</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Size"</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"Iterations"</a:t>
            </a:r>
            <a:r>
              <a:rPr lang="en-US" sz="2400" b="1" dirty="0">
                <a:latin typeface="Courier New" panose="02070309020205020404" pitchFamily="49" charset="0"/>
                <a:ea typeface="MS Mincho"/>
                <a:cs typeface="Bank Gothic Bold"/>
              </a:rPr>
              <a:t>))</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8A3800"/>
                </a:solidFill>
                <a:latin typeface="Courier New" panose="02070309020205020404" pitchFamily="49" charset="0"/>
                <a:ea typeface="MS Mincho"/>
                <a:cs typeface="Bank Gothic Bold"/>
              </a:rPr>
              <a:t>for</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count</a:t>
            </a:r>
            <a:r>
              <a:rPr lang="en-US" sz="2400" b="1" dirty="0">
                <a:latin typeface="Times" panose="02020603050405020304" pitchFamily="18"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in</a:t>
            </a:r>
            <a:r>
              <a:rPr lang="en-US" sz="2400" b="1" dirty="0">
                <a:latin typeface="Times" panose="02020603050405020304" pitchFamily="18" charset="0"/>
                <a:ea typeface="MS Mincho"/>
                <a:cs typeface="Bank Gothic Bold"/>
              </a:rPr>
              <a:t> </a:t>
            </a:r>
            <a:r>
              <a:rPr lang="en-US" sz="2400" b="1" dirty="0">
                <a:solidFill>
                  <a:srgbClr val="660066"/>
                </a:solidFill>
                <a:latin typeface="Courier New" panose="02070309020205020404" pitchFamily="49" charset="0"/>
                <a:ea typeface="MS Mincho"/>
                <a:cs typeface="Bank Gothic Bold"/>
              </a:rPr>
              <a:t>range</a:t>
            </a:r>
            <a:r>
              <a:rPr lang="en-US" sz="2400" b="1" dirty="0">
                <a:latin typeface="Courier New" panose="02070309020205020404" pitchFamily="49" charset="0"/>
                <a:ea typeface="MS Mincho"/>
                <a:cs typeface="Bank Gothic Bold"/>
              </a:rPr>
              <a:t>(5):</a:t>
            </a:r>
            <a:endParaRPr lang="en-US" sz="1600" dirty="0">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number</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0</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0000"/>
                </a:solidFill>
                <a:latin typeface="Courier New" panose="02070309020205020404" pitchFamily="49"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start</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of</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algorithm</a:t>
            </a:r>
            <a:endParaRPr lang="en-US" sz="1600" dirty="0">
              <a:solidFill>
                <a:srgbClr val="C00000"/>
              </a:solidFill>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work</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6600"/>
                </a:solidFill>
                <a:latin typeface="Courier New" panose="02070309020205020404" pitchFamily="49"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for</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j</a:t>
            </a:r>
            <a:r>
              <a:rPr lang="en-US" sz="2400" b="1" dirty="0">
                <a:latin typeface="Times" panose="02020603050405020304" pitchFamily="18"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in</a:t>
            </a:r>
            <a:r>
              <a:rPr lang="en-US" sz="2400" b="1" dirty="0">
                <a:latin typeface="Times" panose="02020603050405020304" pitchFamily="18" charset="0"/>
                <a:ea typeface="MS Mincho"/>
                <a:cs typeface="Bank Gothic Bold"/>
              </a:rPr>
              <a:t> </a:t>
            </a:r>
            <a:r>
              <a:rPr lang="en-US" sz="2400" b="1" dirty="0">
                <a:solidFill>
                  <a:srgbClr val="660066"/>
                </a:solidFill>
                <a:latin typeface="Courier New" panose="02070309020205020404" pitchFamily="49" charset="0"/>
                <a:ea typeface="MS Mincho"/>
                <a:cs typeface="Bank Gothic Bold"/>
              </a:rPr>
              <a:t>range</a:t>
            </a:r>
            <a:r>
              <a:rPr lang="en-US" sz="2400" b="1" dirty="0">
                <a:latin typeface="Courier New" panose="02070309020205020404" pitchFamily="49" charset="0"/>
                <a:ea typeface="MS Mincho"/>
                <a:cs typeface="Bank Gothic Bold"/>
              </a:rPr>
              <a:t>(problemSize):</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6600"/>
                </a:solidFill>
                <a:latin typeface="Courier New" panose="02070309020205020404" pitchFamily="49"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for</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k</a:t>
            </a:r>
            <a:r>
              <a:rPr lang="en-US" sz="2400" b="1" dirty="0">
                <a:latin typeface="Times" panose="02020603050405020304" pitchFamily="18"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in</a:t>
            </a:r>
            <a:r>
              <a:rPr lang="en-US" sz="2400" b="1" dirty="0">
                <a:latin typeface="Times" panose="02020603050405020304" pitchFamily="18" charset="0"/>
                <a:ea typeface="MS Mincho"/>
                <a:cs typeface="Bank Gothic Bold"/>
              </a:rPr>
              <a:t> </a:t>
            </a:r>
            <a:r>
              <a:rPr lang="en-US" sz="2400" b="1" dirty="0">
                <a:solidFill>
                  <a:srgbClr val="660066"/>
                </a:solidFill>
                <a:latin typeface="Courier New" panose="02070309020205020404" pitchFamily="49" charset="0"/>
                <a:ea typeface="MS Mincho"/>
                <a:cs typeface="Bank Gothic Bold"/>
              </a:rPr>
              <a:t>range</a:t>
            </a:r>
            <a:r>
              <a:rPr lang="en-US" sz="2400" b="1" dirty="0">
                <a:latin typeface="Courier New" panose="02070309020205020404" pitchFamily="49" charset="0"/>
                <a:ea typeface="MS Mincho"/>
                <a:cs typeface="Bank Gothic Bold"/>
              </a:rPr>
              <a:t>(problemSize):</a:t>
            </a:r>
            <a:endParaRPr lang="en-US" sz="1600" dirty="0">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number</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a:t>
            </a:r>
            <a:endParaRPr lang="en-US" sz="1600" dirty="0">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work</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a:t>
            </a:r>
            <a:endParaRPr lang="en-US" sz="1600" dirty="0">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work</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0000"/>
                </a:solidFill>
                <a:latin typeface="Courier New" panose="02070309020205020404" pitchFamily="49"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end</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of</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algorithm</a:t>
            </a:r>
            <a:endParaRPr lang="en-US" sz="1600" dirty="0">
              <a:solidFill>
                <a:srgbClr val="C00000"/>
              </a:solidFill>
              <a:latin typeface="Bank Gothic Bold"/>
              <a:ea typeface="MS Mincho"/>
              <a:cs typeface="Bank Gothic Bold"/>
            </a:endParaRPr>
          </a:p>
          <a:p>
            <a:pPr marL="0" marR="0" indent="0">
              <a:spcBef>
                <a:spcPts val="0"/>
              </a:spcBef>
              <a:spcAft>
                <a:spcPts val="0"/>
              </a:spcAft>
              <a:buNone/>
            </a:pPr>
            <a:r>
              <a:rPr lang="en-US" sz="2400" b="1" dirty="0">
                <a:solidFill>
                  <a:srgbClr val="660066"/>
                </a:solidFill>
                <a:latin typeface="Courier New" panose="02070309020205020404" pitchFamily="49" charset="0"/>
                <a:ea typeface="MS Mincho"/>
                <a:cs typeface="Bank Gothic Bold"/>
              </a:rPr>
              <a:t>    print</a:t>
            </a:r>
            <a:r>
              <a:rPr lang="en-US" sz="2400" b="1" dirty="0">
                <a:latin typeface="Courier New" panose="02070309020205020404" pitchFamily="49" charset="0"/>
                <a:ea typeface="MS Mincho"/>
                <a:cs typeface="Bank Gothic Bold"/>
              </a:rPr>
              <a:t>(</a:t>
            </a:r>
            <a:r>
              <a:rPr lang="en-US" sz="2400" b="1" dirty="0">
                <a:solidFill>
                  <a:srgbClr val="006800"/>
                </a:solidFill>
                <a:latin typeface="Courier New" panose="02070309020205020404" pitchFamily="49" charset="0"/>
                <a:ea typeface="MS Mincho"/>
                <a:cs typeface="Bank Gothic Bold"/>
              </a:rPr>
              <a:t>"%12d%15d"</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(problemSize,</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number))</a:t>
            </a:r>
            <a:endParaRPr lang="en-US" sz="1600" dirty="0">
              <a:latin typeface="Bank Gothic Bold"/>
              <a:ea typeface="MS Mincho"/>
              <a:cs typeface="Bank Gothic Bold"/>
            </a:endParaRPr>
          </a:p>
          <a:p>
            <a:pPr marL="0" indent="0">
              <a:buNone/>
            </a:pPr>
            <a:r>
              <a:rPr lang="en-US" sz="2400" b="1" dirty="0">
                <a:latin typeface="Courier New" panose="02070309020205020404" pitchFamily="49" charset="0"/>
                <a:ea typeface="MS Mincho"/>
              </a:rPr>
              <a:t>    problemSize</a:t>
            </a:r>
            <a:r>
              <a:rPr lang="en-US" sz="2400" b="1" dirty="0">
                <a:latin typeface="Times" panose="02020603050405020304" pitchFamily="18" charset="0"/>
                <a:ea typeface="MS Mincho"/>
              </a:rPr>
              <a:t> </a:t>
            </a:r>
            <a:r>
              <a:rPr lang="en-US" sz="2400" b="1" dirty="0">
                <a:latin typeface="Courier New" panose="02070309020205020404" pitchFamily="49" charset="0"/>
                <a:ea typeface="MS Mincho"/>
              </a:rPr>
              <a:t>*=</a:t>
            </a:r>
            <a:r>
              <a:rPr lang="en-US" sz="2400" b="1" dirty="0">
                <a:latin typeface="Times" panose="02020603050405020304" pitchFamily="18" charset="0"/>
                <a:ea typeface="MS Mincho"/>
              </a:rPr>
              <a:t> </a:t>
            </a:r>
            <a:r>
              <a:rPr lang="en-US" sz="2400" b="1" dirty="0">
                <a:latin typeface="Courier New" panose="02070309020205020404" pitchFamily="49" charset="0"/>
                <a:ea typeface="MS Mincho"/>
              </a:rPr>
              <a:t>2</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21941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Counting Instructions</a:t>
            </a:r>
            <a:r>
              <a:rPr lang="en-US" dirty="0"/>
              <a:t> </a:t>
            </a:r>
            <a:r>
              <a:rPr lang="en-US" sz="2000" dirty="0"/>
              <a:t>(3 of 5)</a:t>
            </a:r>
          </a:p>
        </p:txBody>
      </p:sp>
      <p:sp>
        <p:nvSpPr>
          <p:cNvPr id="3" name="Content Placeholder 2"/>
          <p:cNvSpPr>
            <a:spLocks noGrp="1"/>
          </p:cNvSpPr>
          <p:nvPr>
            <p:ph idx="1"/>
          </p:nvPr>
        </p:nvSpPr>
        <p:spPr>
          <a:xfrm>
            <a:off x="628650" y="1825625"/>
            <a:ext cx="7886700" cy="460375"/>
          </a:xfrm>
        </p:spPr>
        <p:txBody>
          <a:bodyPr>
            <a:normAutofit fontScale="92500"/>
          </a:bodyPr>
          <a:lstStyle/>
          <a:p>
            <a:pPr marL="0" indent="0">
              <a:spcBef>
                <a:spcPts val="1000"/>
              </a:spcBef>
              <a:buNone/>
            </a:pPr>
            <a:r>
              <a:rPr lang="en-IN" b="1" dirty="0"/>
              <a:t>Figure 3-3: </a:t>
            </a:r>
            <a:r>
              <a:rPr lang="en-IN" dirty="0"/>
              <a:t>The output of a tester program that counts iterations</a:t>
            </a:r>
            <a:endParaRPr lang="en-US" dirty="0">
              <a:latin typeface="Open Sans"/>
            </a:endParaRPr>
          </a:p>
        </p:txBody>
      </p:sp>
      <p:pic>
        <p:nvPicPr>
          <p:cNvPr id="7" name="Content Placeholder 6" descr="Program code. In the code, the words in the variable names are merged. Line 1: problem size, indented, iterations. Line 2: 1000, indented, 1000000. Line 3: 2000, indented, 4000000. Line 4: 4000, indented, 16000000. Line 5: 8000, indented, 64000000. Line 6: 16000, indented, 256000000."/>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828800" y="2590800"/>
            <a:ext cx="3919964" cy="2346325"/>
          </a:xfrm>
        </p:spPr>
      </p:pic>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85276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Counting Instructions </a:t>
            </a:r>
            <a:r>
              <a:rPr lang="en-US" sz="2000" dirty="0"/>
              <a:t>(4 of 5)</a:t>
            </a:r>
          </a:p>
        </p:txBody>
      </p:sp>
      <p:sp>
        <p:nvSpPr>
          <p:cNvPr id="3" name="Content Placeholder 2"/>
          <p:cNvSpPr>
            <a:spLocks noGrp="1"/>
          </p:cNvSpPr>
          <p:nvPr>
            <p:ph idx="1"/>
          </p:nvPr>
        </p:nvSpPr>
        <p:spPr>
          <a:xfrm>
            <a:off x="628650" y="1825625"/>
            <a:ext cx="7886700" cy="4194175"/>
          </a:xfrm>
        </p:spPr>
        <p:txBody>
          <a:bodyPr>
            <a:normAutofit fontScale="62500" lnSpcReduction="20000"/>
          </a:bodyPr>
          <a:lstStyle/>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&gt;"""</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File: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countfib.py</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Prints</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the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number</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of</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calls</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of</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a</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recursive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Fibonacci</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function</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with</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problem</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sizes</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that</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double.</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dirty="0">
                <a:latin typeface="Bank Gothic Bold"/>
                <a:ea typeface="MS Mincho"/>
                <a:cs typeface="Bank Gothic Bold"/>
              </a:rPr>
              <a:t> </a:t>
            </a:r>
          </a:p>
          <a:p>
            <a:pPr marL="0" marR="0" indent="0">
              <a:spcBef>
                <a:spcPts val="0"/>
              </a:spcBef>
              <a:spcAft>
                <a:spcPts val="0"/>
              </a:spcAft>
              <a:buNone/>
            </a:pPr>
            <a:r>
              <a:rPr lang="en-US" sz="2400" b="1" dirty="0">
                <a:solidFill>
                  <a:srgbClr val="8A3800"/>
                </a:solidFill>
                <a:latin typeface="Courier New" panose="02070309020205020404" pitchFamily="49" charset="0"/>
                <a:ea typeface="MS Mincho"/>
                <a:cs typeface="Bank Gothic Bold"/>
              </a:rPr>
              <a:t>from</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counter</a:t>
            </a:r>
            <a:r>
              <a:rPr lang="en-US" sz="2400" b="1" dirty="0">
                <a:latin typeface="Times" panose="02020603050405020304" pitchFamily="18"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import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Counter</a:t>
            </a:r>
            <a:endParaRPr lang="en-US" sz="1600" dirty="0">
              <a:latin typeface="Bank Gothic Bold"/>
              <a:ea typeface="MS Mincho"/>
              <a:cs typeface="Bank Gothic Bold"/>
            </a:endParaRPr>
          </a:p>
          <a:p>
            <a:pPr marL="0" marR="0" indent="0">
              <a:spcBef>
                <a:spcPts val="0"/>
              </a:spcBef>
              <a:spcAft>
                <a:spcPts val="0"/>
              </a:spcAft>
              <a:buNone/>
            </a:pPr>
            <a:r>
              <a:rPr lang="en-US" sz="2400" dirty="0">
                <a:latin typeface="Bank Gothic Bold"/>
                <a:ea typeface="MS Mincho"/>
                <a:cs typeface="Bank Gothic Bold"/>
              </a:rPr>
              <a:t> </a:t>
            </a:r>
          </a:p>
          <a:p>
            <a:pPr marL="0" marR="0" indent="0">
              <a:spcBef>
                <a:spcPts val="0"/>
              </a:spcBef>
              <a:spcAft>
                <a:spcPts val="0"/>
              </a:spcAft>
              <a:buNone/>
            </a:pPr>
            <a:r>
              <a:rPr lang="en-US" sz="2400" b="1" dirty="0">
                <a:solidFill>
                  <a:srgbClr val="8A3800"/>
                </a:solidFill>
                <a:latin typeface="Courier New" panose="02070309020205020404" pitchFamily="49" charset="0"/>
                <a:ea typeface="MS Mincho"/>
                <a:cs typeface="Bank Gothic Bold"/>
              </a:rPr>
              <a:t>def</a:t>
            </a:r>
            <a:r>
              <a:rPr lang="en-US" sz="2400" b="1" dirty="0">
                <a:latin typeface="Times" panose="02020603050405020304" pitchFamily="18" charset="0"/>
                <a:ea typeface="MS Mincho"/>
                <a:cs typeface="Bank Gothic Bold"/>
              </a:rPr>
              <a:t> </a:t>
            </a:r>
            <a:r>
              <a:rPr lang="en-US" sz="2400" b="1" dirty="0">
                <a:solidFill>
                  <a:srgbClr val="0000FF"/>
                </a:solidFill>
                <a:latin typeface="Courier New" panose="02070309020205020404" pitchFamily="49" charset="0"/>
                <a:ea typeface="MS Mincho"/>
                <a:cs typeface="Bank Gothic Bold"/>
              </a:rPr>
              <a:t>fib</a:t>
            </a:r>
            <a:r>
              <a:rPr lang="en-US" sz="2400" b="1" dirty="0">
                <a:latin typeface="Courier New" panose="02070309020205020404" pitchFamily="49" charset="0"/>
                <a:ea typeface="MS Mincho"/>
                <a:cs typeface="Bank Gothic Bold"/>
              </a:rPr>
              <a:t>(n,</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counter):</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008000"/>
                </a:solidFill>
                <a:latin typeface="Courier New" panose="02070309020205020404" pitchFamily="49"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"""Count</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the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number</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of</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calls</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of</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the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Fibonacci function."""</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counter.increment()</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6600"/>
                </a:solidFill>
                <a:latin typeface="Courier New" panose="02070309020205020404" pitchFamily="49"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if</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n</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&lt;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3:</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6600"/>
                </a:solidFill>
                <a:latin typeface="Courier New" panose="02070309020205020404" pitchFamily="49"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return</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6600"/>
                </a:solidFill>
                <a:latin typeface="Courier New" panose="02070309020205020404" pitchFamily="49"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else</a:t>
            </a:r>
            <a:r>
              <a:rPr lang="en-US" sz="2400" b="1" dirty="0">
                <a:latin typeface="Courier New" panose="02070309020205020404" pitchFamily="49" charset="0"/>
                <a:ea typeface="MS Mincho"/>
                <a:cs typeface="Bank Gothic Bold"/>
              </a:rPr>
              <a:t>:</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6600"/>
                </a:solidFill>
                <a:latin typeface="Courier New" panose="02070309020205020404" pitchFamily="49"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return</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fib(n</a:t>
            </a:r>
            <a:r>
              <a:rPr lang="en-US" sz="2400" b="1" dirty="0">
                <a:latin typeface="Times" panose="02020603050405020304" pitchFamily="18" charset="0"/>
                <a:ea typeface="MS Mincho"/>
                <a:cs typeface="Bank Gothic Bold"/>
              </a:rPr>
              <a:t> </a:t>
            </a:r>
            <a:r>
              <a:rPr lang="en-US" sz="2400" dirty="0">
                <a:latin typeface="Arial" panose="020B0604020202020204" pitchFamily="34" charset="0"/>
                <a:ea typeface="MS Mincho"/>
                <a:cs typeface="Arial" panose="020B0604020202020204" pitchFamily="34" charset="0"/>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counter)</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fib(n</a:t>
            </a:r>
            <a:r>
              <a:rPr lang="en-US" sz="2400" b="1" dirty="0">
                <a:latin typeface="Times" panose="02020603050405020304" pitchFamily="18" charset="0"/>
                <a:ea typeface="MS Mincho"/>
                <a:cs typeface="Bank Gothic Bold"/>
              </a:rPr>
              <a:t> </a:t>
            </a:r>
            <a:r>
              <a:rPr lang="en-US" sz="2400" dirty="0">
                <a:latin typeface="Arial" panose="020B0604020202020204" pitchFamily="34" charset="0"/>
                <a:ea typeface="MS Mincho"/>
                <a:cs typeface="Arial" panose="020B0604020202020204" pitchFamily="34" charset="0"/>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2,</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counter)</a:t>
            </a:r>
            <a:endParaRPr lang="en-US" sz="1600" dirty="0">
              <a:latin typeface="Bank Gothic Bold"/>
              <a:ea typeface="MS Mincho"/>
              <a:cs typeface="Bank Gothic Bold"/>
            </a:endParaRPr>
          </a:p>
          <a:p>
            <a:pPr marL="0" marR="0" indent="0">
              <a:spcBef>
                <a:spcPts val="0"/>
              </a:spcBef>
              <a:spcAft>
                <a:spcPts val="0"/>
              </a:spcAft>
              <a:buNone/>
            </a:pPr>
            <a:r>
              <a:rPr lang="en-US" sz="2400" dirty="0">
                <a:latin typeface="Bank Gothic Bold"/>
                <a:ea typeface="MS Mincho"/>
                <a:cs typeface="Bank Gothic Bold"/>
              </a:rPr>
              <a:t> </a:t>
            </a:r>
          </a:p>
          <a:p>
            <a:pPr marL="0" marR="0" indent="0">
              <a:spcBef>
                <a:spcPts val="0"/>
              </a:spcBef>
              <a:spcAft>
                <a:spcPts val="0"/>
              </a:spcAft>
              <a:buNone/>
            </a:pPr>
            <a:r>
              <a:rPr lang="en-US" sz="2400" b="1" dirty="0">
                <a:latin typeface="Courier New" panose="02070309020205020404" pitchFamily="49" charset="0"/>
                <a:ea typeface="MS Mincho"/>
                <a:cs typeface="Bank Gothic Bold"/>
              </a:rPr>
              <a:t>problemSize</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2</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660066"/>
                </a:solidFill>
                <a:latin typeface="Courier New" panose="02070309020205020404" pitchFamily="49" charset="0"/>
                <a:ea typeface="MS Mincho"/>
                <a:cs typeface="Bank Gothic Bold"/>
              </a:rPr>
              <a:t>print</a:t>
            </a:r>
            <a:r>
              <a:rPr lang="en-US" sz="2400" b="1" dirty="0">
                <a:latin typeface="Courier New" panose="02070309020205020404" pitchFamily="49" charset="0"/>
                <a:ea typeface="MS Mincho"/>
                <a:cs typeface="Bank Gothic Bold"/>
              </a:rPr>
              <a:t>(</a:t>
            </a:r>
            <a:r>
              <a:rPr lang="en-US" sz="2400" b="1" dirty="0">
                <a:solidFill>
                  <a:srgbClr val="006800"/>
                </a:solidFill>
                <a:latin typeface="Courier New" panose="02070309020205020404" pitchFamily="49" charset="0"/>
                <a:ea typeface="MS Mincho"/>
                <a:cs typeface="Bank Gothic Bold"/>
              </a:rPr>
              <a:t>"%12s%15s"</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("Problem</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Size",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"Calls"</a:t>
            </a:r>
            <a:r>
              <a:rPr lang="en-US" sz="2400" b="1" dirty="0">
                <a:latin typeface="Courier New" panose="02070309020205020404" pitchFamily="49" charset="0"/>
                <a:ea typeface="MS Mincho"/>
                <a:cs typeface="Bank Gothic Bold"/>
              </a:rPr>
              <a:t>))</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8A3800"/>
                </a:solidFill>
                <a:latin typeface="Courier New" panose="02070309020205020404" pitchFamily="49" charset="0"/>
                <a:ea typeface="MS Mincho"/>
                <a:cs typeface="Bank Gothic Bold"/>
              </a:rPr>
              <a:t>for</a:t>
            </a:r>
            <a:r>
              <a:rPr lang="en-US" sz="2400" b="1" dirty="0">
                <a:solidFill>
                  <a:srgbClr val="8A3800"/>
                </a:solidFill>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count</a:t>
            </a:r>
            <a:r>
              <a:rPr lang="en-US" sz="2400" b="1" dirty="0">
                <a:latin typeface="Times" panose="02020603050405020304" pitchFamily="18"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in</a:t>
            </a:r>
            <a:r>
              <a:rPr lang="en-US" sz="2400" b="1" dirty="0">
                <a:latin typeface="Times" panose="02020603050405020304" pitchFamily="18" charset="0"/>
                <a:ea typeface="MS Mincho"/>
                <a:cs typeface="Bank Gothic Bold"/>
              </a:rPr>
              <a:t> </a:t>
            </a:r>
            <a:r>
              <a:rPr lang="en-US" sz="2400" b="1" dirty="0">
                <a:solidFill>
                  <a:srgbClr val="660066"/>
                </a:solidFill>
                <a:latin typeface="Courier New" panose="02070309020205020404" pitchFamily="49" charset="0"/>
                <a:ea typeface="MS Mincho"/>
                <a:cs typeface="Bank Gothic Bold"/>
              </a:rPr>
              <a:t>range</a:t>
            </a:r>
            <a:r>
              <a:rPr lang="en-US" sz="2400" b="1" dirty="0">
                <a:latin typeface="Courier New" panose="02070309020205020404" pitchFamily="49" charset="0"/>
                <a:ea typeface="MS Mincho"/>
                <a:cs typeface="Bank Gothic Bold"/>
              </a:rPr>
              <a:t>(5):</a:t>
            </a:r>
            <a:endParaRPr lang="en-US" sz="1600" dirty="0">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counter</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Counter()</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0000"/>
                </a:solidFill>
                <a:latin typeface="Courier New" panose="02070309020205020404" pitchFamily="49"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start</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of</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algorithm</a:t>
            </a:r>
            <a:endParaRPr lang="en-US" sz="1600" dirty="0">
              <a:solidFill>
                <a:srgbClr val="C00000"/>
              </a:solidFill>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fib(problemSize,</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counter)</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0000"/>
                </a:solidFill>
                <a:latin typeface="Courier New" panose="02070309020205020404" pitchFamily="49"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end</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of</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algorithm</a:t>
            </a:r>
            <a:endParaRPr lang="en-US" sz="1600" dirty="0">
              <a:solidFill>
                <a:srgbClr val="C00000"/>
              </a:solidFill>
              <a:latin typeface="Bank Gothic Bold"/>
              <a:ea typeface="MS Mincho"/>
              <a:cs typeface="Bank Gothic Bold"/>
            </a:endParaRPr>
          </a:p>
          <a:p>
            <a:pPr marL="0" marR="0" indent="0">
              <a:spcBef>
                <a:spcPts val="0"/>
              </a:spcBef>
              <a:spcAft>
                <a:spcPts val="0"/>
              </a:spcAft>
              <a:buNone/>
            </a:pPr>
            <a:r>
              <a:rPr lang="en-US" sz="2400" b="1" dirty="0">
                <a:solidFill>
                  <a:srgbClr val="660066"/>
                </a:solidFill>
                <a:latin typeface="Courier New" panose="02070309020205020404" pitchFamily="49" charset="0"/>
                <a:ea typeface="MS Mincho"/>
                <a:cs typeface="Bank Gothic Bold"/>
              </a:rPr>
              <a:t>    print</a:t>
            </a:r>
            <a:r>
              <a:rPr lang="en-US" sz="2400" b="1" dirty="0">
                <a:latin typeface="Courier New" panose="02070309020205020404" pitchFamily="49" charset="0"/>
                <a:ea typeface="MS Mincho"/>
                <a:cs typeface="Bank Gothic Bold"/>
              </a:rPr>
              <a:t>(</a:t>
            </a:r>
            <a:r>
              <a:rPr lang="en-US" sz="2400" b="1" dirty="0">
                <a:solidFill>
                  <a:srgbClr val="006800"/>
                </a:solidFill>
                <a:latin typeface="Courier New" panose="02070309020205020404" pitchFamily="49" charset="0"/>
                <a:ea typeface="MS Mincho"/>
                <a:cs typeface="Bank Gothic Bold"/>
              </a:rPr>
              <a:t>"%12d%15s"</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(problemSize,</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counter))</a:t>
            </a:r>
            <a:endParaRPr lang="en-US" sz="1600" dirty="0">
              <a:latin typeface="Bank Gothic Bold"/>
              <a:ea typeface="MS Mincho"/>
              <a:cs typeface="Bank Gothic Bold"/>
            </a:endParaRPr>
          </a:p>
          <a:p>
            <a:pPr marL="0" indent="0">
              <a:buNone/>
            </a:pPr>
            <a:r>
              <a:rPr lang="en-US" sz="2400" b="1" dirty="0">
                <a:latin typeface="Courier New" panose="02070309020205020404" pitchFamily="49" charset="0"/>
                <a:ea typeface="MS Mincho"/>
              </a:rPr>
              <a:t>    problemSize</a:t>
            </a:r>
            <a:r>
              <a:rPr lang="en-US" sz="2400" b="1" dirty="0">
                <a:latin typeface="Times" panose="02020603050405020304" pitchFamily="18" charset="0"/>
                <a:ea typeface="MS Mincho"/>
              </a:rPr>
              <a:t> </a:t>
            </a:r>
            <a:r>
              <a:rPr lang="en-US" sz="2400" b="1" dirty="0">
                <a:latin typeface="Courier New" panose="02070309020205020404" pitchFamily="49" charset="0"/>
                <a:ea typeface="MS Mincho"/>
              </a:rPr>
              <a:t>*=</a:t>
            </a:r>
            <a:r>
              <a:rPr lang="en-US" sz="2400" b="1" dirty="0">
                <a:latin typeface="Times" panose="02020603050405020304" pitchFamily="18" charset="0"/>
                <a:ea typeface="MS Mincho"/>
              </a:rPr>
              <a:t> </a:t>
            </a:r>
            <a:r>
              <a:rPr lang="en-US" sz="2400" b="1" dirty="0">
                <a:latin typeface="Courier New" panose="02070309020205020404" pitchFamily="49" charset="0"/>
                <a:ea typeface="MS Mincho"/>
              </a:rPr>
              <a:t>2</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94156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Counting Instructions </a:t>
            </a:r>
            <a:r>
              <a:rPr lang="en-US" sz="2000" dirty="0"/>
              <a:t>(5 of 5)</a:t>
            </a:r>
          </a:p>
        </p:txBody>
      </p:sp>
      <p:sp>
        <p:nvSpPr>
          <p:cNvPr id="3" name="Content Placeholder 2"/>
          <p:cNvSpPr>
            <a:spLocks noGrp="1"/>
          </p:cNvSpPr>
          <p:nvPr>
            <p:ph idx="1"/>
          </p:nvPr>
        </p:nvSpPr>
        <p:spPr>
          <a:xfrm>
            <a:off x="628650" y="1825625"/>
            <a:ext cx="7886700" cy="612775"/>
          </a:xfrm>
        </p:spPr>
        <p:txBody>
          <a:bodyPr>
            <a:normAutofit/>
          </a:bodyPr>
          <a:lstStyle/>
          <a:p>
            <a:pPr marL="0" indent="0">
              <a:spcBef>
                <a:spcPts val="1000"/>
              </a:spcBef>
              <a:buNone/>
            </a:pPr>
            <a:r>
              <a:rPr lang="en-IN" b="1" dirty="0"/>
              <a:t>Figure 3-4: </a:t>
            </a:r>
            <a:r>
              <a:rPr lang="en-IN" dirty="0"/>
              <a:t>The output of a tester program that runs the Fibonacci function</a:t>
            </a:r>
            <a:endParaRPr lang="en-US" dirty="0">
              <a:latin typeface="Open Sans"/>
            </a:endParaRPr>
          </a:p>
        </p:txBody>
      </p:sp>
      <p:pic>
        <p:nvPicPr>
          <p:cNvPr id="7" name="Content Placeholder 6" descr="Program code. In the code, the words in the variable names are merged. Line 1: problem size, indented, calls. Line 2: 2, indented, 1. Line 3: 4, indented, 5. Line 4: 8, indented, 41. Line 5: 16, indented, 1973. Line 6: 32, indented, 4356617."/>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905000" y="2736144"/>
            <a:ext cx="3836514" cy="2300112"/>
          </a:xfrm>
        </p:spPr>
      </p:pic>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708567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Measuring the Memory Used by an Algorithm</a:t>
            </a:r>
          </a:p>
        </p:txBody>
      </p:sp>
      <p:sp>
        <p:nvSpPr>
          <p:cNvPr id="3" name="Content Placeholder 2"/>
          <p:cNvSpPr>
            <a:spLocks noGrp="1"/>
          </p:cNvSpPr>
          <p:nvPr>
            <p:ph idx="1"/>
          </p:nvPr>
        </p:nvSpPr>
        <p:spPr>
          <a:xfrm>
            <a:off x="628650" y="1825625"/>
            <a:ext cx="7886700" cy="2974975"/>
          </a:xfrm>
        </p:spPr>
        <p:txBody>
          <a:bodyPr/>
          <a:lstStyle/>
          <a:p>
            <a:pPr marL="291600" indent="-291600">
              <a:spcBef>
                <a:spcPts val="1000"/>
              </a:spcBef>
            </a:pPr>
            <a:r>
              <a:rPr lang="en-US" dirty="0"/>
              <a:t>A complete analysis of the resources used by an algorithm includes the amount of memory required:</a:t>
            </a:r>
          </a:p>
          <a:p>
            <a:pPr lvl="1">
              <a:spcBef>
                <a:spcPts val="1000"/>
              </a:spcBef>
            </a:pPr>
            <a:r>
              <a:rPr lang="en-US" dirty="0"/>
              <a:t>Once again, focus on rates of potential growth</a:t>
            </a:r>
          </a:p>
          <a:p>
            <a:pPr marL="291600" indent="-291600">
              <a:spcBef>
                <a:spcPts val="1000"/>
              </a:spcBef>
            </a:pPr>
            <a:r>
              <a:rPr lang="en-US" dirty="0"/>
              <a:t>Some algorithms require the same amount of memory to solve any problem</a:t>
            </a:r>
          </a:p>
          <a:p>
            <a:pPr marL="291600" indent="-291600">
              <a:spcBef>
                <a:spcPts val="1000"/>
              </a:spcBef>
            </a:pPr>
            <a:r>
              <a:rPr lang="en-US" dirty="0"/>
              <a:t>Other algorithms require more memory as the problem size gets larger</a:t>
            </a:r>
          </a:p>
          <a:p>
            <a:pPr marL="291600" indent="-291600">
              <a:spcBef>
                <a:spcPts val="1000"/>
              </a:spcBef>
            </a:pPr>
            <a:r>
              <a:rPr lang="en-US" dirty="0"/>
              <a:t>Later chapters consider several of these algorithms</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13737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Complexity Analysis</a:t>
            </a:r>
          </a:p>
        </p:txBody>
      </p:sp>
      <p:sp>
        <p:nvSpPr>
          <p:cNvPr id="3" name="Content Placeholder 2"/>
          <p:cNvSpPr>
            <a:spLocks noGrp="1"/>
          </p:cNvSpPr>
          <p:nvPr>
            <p:ph idx="1"/>
          </p:nvPr>
        </p:nvSpPr>
        <p:spPr>
          <a:xfrm>
            <a:off x="628650" y="1825625"/>
            <a:ext cx="7886700" cy="2517775"/>
          </a:xfrm>
        </p:spPr>
        <p:txBody>
          <a:bodyPr/>
          <a:lstStyle/>
          <a:p>
            <a:pPr marL="291600" indent="-291600">
              <a:spcBef>
                <a:spcPts val="1000"/>
              </a:spcBef>
            </a:pPr>
            <a:r>
              <a:rPr lang="en-US" dirty="0"/>
              <a:t>This section focuses on developing a method of determining the efficiency of algorithms that allows you to rate them </a:t>
            </a:r>
          </a:p>
          <a:p>
            <a:pPr lvl="1">
              <a:spcBef>
                <a:spcPts val="1000"/>
              </a:spcBef>
            </a:pPr>
            <a:r>
              <a:rPr lang="en-US" dirty="0"/>
              <a:t>Independently of platform-dependent timings or impractical instruction counts</a:t>
            </a:r>
          </a:p>
          <a:p>
            <a:pPr marL="291600" indent="-291600">
              <a:spcBef>
                <a:spcPts val="1000"/>
              </a:spcBef>
            </a:pPr>
            <a:r>
              <a:rPr lang="en-US" dirty="0"/>
              <a:t>This method is called complexity analysis:</a:t>
            </a:r>
          </a:p>
          <a:p>
            <a:pPr lvl="1">
              <a:spcBef>
                <a:spcPts val="1000"/>
              </a:spcBef>
            </a:pPr>
            <a:r>
              <a:rPr lang="en-US" dirty="0"/>
              <a:t>Entails reading the algorithm and using pencil and paper to work out some simple algebra</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107770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Orders of Complexity </a:t>
            </a:r>
            <a:r>
              <a:rPr lang="en-US" sz="2000" dirty="0"/>
              <a:t>(1 of 5)</a:t>
            </a:r>
          </a:p>
        </p:txBody>
      </p:sp>
      <p:sp>
        <p:nvSpPr>
          <p:cNvPr id="3" name="Content Placeholder 2"/>
          <p:cNvSpPr>
            <a:spLocks noGrp="1"/>
          </p:cNvSpPr>
          <p:nvPr>
            <p:ph idx="1"/>
          </p:nvPr>
        </p:nvSpPr>
        <p:spPr>
          <a:xfrm>
            <a:off x="628650" y="1825625"/>
            <a:ext cx="7886700" cy="765175"/>
          </a:xfrm>
        </p:spPr>
        <p:txBody>
          <a:bodyPr>
            <a:normAutofit/>
          </a:bodyPr>
          <a:lstStyle/>
          <a:p>
            <a:pPr marL="0" indent="0">
              <a:spcBef>
                <a:spcPts val="1000"/>
              </a:spcBef>
              <a:buNone/>
            </a:pPr>
            <a:r>
              <a:rPr lang="en-IN" b="1" dirty="0"/>
              <a:t>Figure 3-5: </a:t>
            </a:r>
            <a:r>
              <a:rPr lang="en-IN" dirty="0"/>
              <a:t>A graph of the amounts of work done in the tester programs</a:t>
            </a:r>
            <a:endParaRPr lang="en-US" dirty="0"/>
          </a:p>
        </p:txBody>
      </p:sp>
      <p:pic>
        <p:nvPicPr>
          <p:cNvPr id="7" name="Content Placeholder 6" descr="Graph shows amounts of work done in tester programs. The graph is plotted for problem size versus operations. The graph shows two curves labeled n and n squared. N is a linear line with a positive slope rising from the origin. N squared is a curve that rises upwards from the origin. The slope of n squared is significantly steeper than n."/>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3142005" y="2903164"/>
            <a:ext cx="2555318" cy="2745609"/>
          </a:xfrm>
        </p:spPr>
      </p:pic>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26107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Orders of Complexity</a:t>
            </a:r>
            <a:r>
              <a:rPr lang="en-US" dirty="0"/>
              <a:t> </a:t>
            </a:r>
            <a:r>
              <a:rPr lang="en-US" sz="2000" dirty="0"/>
              <a:t>(2 of 5)</a:t>
            </a:r>
          </a:p>
        </p:txBody>
      </p:sp>
      <p:sp>
        <p:nvSpPr>
          <p:cNvPr id="3" name="Content Placeholder 2"/>
          <p:cNvSpPr>
            <a:spLocks noGrp="1"/>
          </p:cNvSpPr>
          <p:nvPr>
            <p:ph idx="1"/>
          </p:nvPr>
        </p:nvSpPr>
        <p:spPr>
          <a:xfrm>
            <a:off x="628650" y="1825625"/>
            <a:ext cx="7886700" cy="384175"/>
          </a:xfrm>
        </p:spPr>
        <p:txBody>
          <a:bodyPr/>
          <a:lstStyle/>
          <a:p>
            <a:pPr marL="0" indent="0">
              <a:spcBef>
                <a:spcPts val="1000"/>
              </a:spcBef>
              <a:buNone/>
            </a:pPr>
            <a:r>
              <a:rPr lang="en-US" dirty="0"/>
              <a:t>Table 3.1 The Amounts of Work in the Tester Programs</a:t>
            </a:r>
          </a:p>
        </p:txBody>
      </p:sp>
      <p:graphicFrame>
        <p:nvGraphicFramePr>
          <p:cNvPr id="8" name="Content Placeholder 7" descr="Table is accessible to screenreaders"/>
          <p:cNvGraphicFramePr>
            <a:graphicFrameLocks noGrp="1"/>
          </p:cNvGraphicFramePr>
          <p:nvPr>
            <p:ph sz="quarter" idx="12"/>
            <p:extLst>
              <p:ext uri="{D42A27DB-BD31-4B8C-83A1-F6EECF244321}">
                <p14:modId xmlns:p14="http://schemas.microsoft.com/office/powerpoint/2010/main" val="1725897108"/>
              </p:ext>
            </p:extLst>
          </p:nvPr>
        </p:nvGraphicFramePr>
        <p:xfrm>
          <a:off x="990600" y="2956560"/>
          <a:ext cx="6248400" cy="1615440"/>
        </p:xfrm>
        <a:graphic>
          <a:graphicData uri="http://schemas.openxmlformats.org/drawingml/2006/table">
            <a:tbl>
              <a:tblPr firstRow="1" bandRow="1">
                <a:tableStyleId>{5C22544A-7EE6-4342-B048-85BDC9FD1C3A}</a:tableStyleId>
              </a:tblPr>
              <a:tblGrid>
                <a:gridCol w="2082800">
                  <a:extLst>
                    <a:ext uri="{9D8B030D-6E8A-4147-A177-3AD203B41FA5}">
                      <a16:colId xmlns:a16="http://schemas.microsoft.com/office/drawing/2014/main" val="3287772969"/>
                    </a:ext>
                  </a:extLst>
                </a:gridCol>
                <a:gridCol w="2082800">
                  <a:extLst>
                    <a:ext uri="{9D8B030D-6E8A-4147-A177-3AD203B41FA5}">
                      <a16:colId xmlns:a16="http://schemas.microsoft.com/office/drawing/2014/main" val="224874146"/>
                    </a:ext>
                  </a:extLst>
                </a:gridCol>
                <a:gridCol w="2082800">
                  <a:extLst>
                    <a:ext uri="{9D8B030D-6E8A-4147-A177-3AD203B41FA5}">
                      <a16:colId xmlns:a16="http://schemas.microsoft.com/office/drawing/2014/main" val="678383720"/>
                    </a:ext>
                  </a:extLst>
                </a:gridCol>
              </a:tblGrid>
              <a:tr h="370840">
                <a:tc>
                  <a:txBody>
                    <a:bodyPr/>
                    <a:lstStyle/>
                    <a:p>
                      <a:r>
                        <a:rPr lang="en-US" dirty="0">
                          <a:solidFill>
                            <a:schemeClr val="bg2">
                              <a:lumMod val="10000"/>
                            </a:schemeClr>
                          </a:solidFill>
                          <a:latin typeface="Open Sans" panose="020B0606030504020204"/>
                        </a:rPr>
                        <a:t>Problem Size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Work of the First Algorithm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Work of the Second Algorithm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6279690"/>
                  </a:ext>
                </a:extLst>
              </a:tr>
              <a:tr h="370840">
                <a:tc>
                  <a:txBody>
                    <a:bodyPr/>
                    <a:lstStyle/>
                    <a:p>
                      <a:pPr algn="ctr"/>
                      <a:r>
                        <a:rPr lang="en-US" dirty="0">
                          <a:latin typeface="Open Sans" panose="020B0606030504020204"/>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Open Sans" panose="020B0606030504020204"/>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Open Sans" panose="020B0606030504020204"/>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8743292"/>
                  </a:ext>
                </a:extLst>
              </a:tr>
              <a:tr h="370840">
                <a:tc>
                  <a:txBody>
                    <a:bodyPr/>
                    <a:lstStyle/>
                    <a:p>
                      <a:pPr algn="ctr"/>
                      <a:r>
                        <a:rPr lang="en-US" dirty="0">
                          <a:latin typeface="Open Sans" panose="020B0606030504020204"/>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Open Sans" panose="020B0606030504020204"/>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Open Sans" panose="020B0606030504020204"/>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7209363"/>
                  </a:ext>
                </a:extLst>
              </a:tr>
              <a:tr h="370840">
                <a:tc>
                  <a:txBody>
                    <a:bodyPr/>
                    <a:lstStyle/>
                    <a:p>
                      <a:pPr algn="ctr"/>
                      <a:r>
                        <a:rPr lang="en-US" dirty="0">
                          <a:latin typeface="Open Sans" panose="020B0606030504020204"/>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Open Sans" panose="020B0606030504020204"/>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Open Sans" panose="020B0606030504020204"/>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96334"/>
                  </a:ext>
                </a:extLst>
              </a:tr>
            </a:tbl>
          </a:graphicData>
        </a:graphic>
      </p:graphicFrame>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789610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Orders of Complexity</a:t>
            </a:r>
            <a:r>
              <a:rPr lang="en-US" dirty="0"/>
              <a:t> </a:t>
            </a:r>
            <a:r>
              <a:rPr lang="en-US" sz="2000" dirty="0"/>
              <a:t>(3 of 5)</a:t>
            </a:r>
            <a:endParaRPr lang="en-IN" dirty="0"/>
          </a:p>
        </p:txBody>
      </p:sp>
      <p:sp>
        <p:nvSpPr>
          <p:cNvPr id="3" name="Content Placeholder 2"/>
          <p:cNvSpPr>
            <a:spLocks noGrp="1"/>
          </p:cNvSpPr>
          <p:nvPr>
            <p:ph idx="1"/>
          </p:nvPr>
        </p:nvSpPr>
        <p:spPr>
          <a:xfrm>
            <a:off x="628650" y="2008241"/>
            <a:ext cx="8210550" cy="3782959"/>
          </a:xfrm>
        </p:spPr>
        <p:txBody>
          <a:bodyPr>
            <a:normAutofit fontScale="92500"/>
          </a:bodyPr>
          <a:lstStyle/>
          <a:p>
            <a:pPr marL="291600" indent="-291600">
              <a:lnSpc>
                <a:spcPct val="100000"/>
              </a:lnSpc>
              <a:spcBef>
                <a:spcPts val="1000"/>
              </a:spcBef>
            </a:pPr>
            <a:r>
              <a:rPr lang="en-US" dirty="0"/>
              <a:t>Performances of these algorithms differ by an order of complexity:</a:t>
            </a:r>
          </a:p>
          <a:p>
            <a:pPr lvl="1">
              <a:lnSpc>
                <a:spcPct val="100000"/>
              </a:lnSpc>
              <a:spcBef>
                <a:spcPts val="1000"/>
              </a:spcBef>
              <a:buClr>
                <a:schemeClr val="tx1"/>
              </a:buClr>
              <a:buFont typeface="Arial" panose="020B0604020202020204" pitchFamily="34" charset="0"/>
              <a:buChar char="•"/>
            </a:pPr>
            <a:r>
              <a:rPr lang="en-US" dirty="0"/>
              <a:t>First algorithm is linear – work grows in direct proportion to the size of the problem</a:t>
            </a:r>
          </a:p>
          <a:p>
            <a:pPr lvl="1">
              <a:lnSpc>
                <a:spcPct val="100000"/>
              </a:lnSpc>
              <a:spcBef>
                <a:spcPts val="1000"/>
              </a:spcBef>
              <a:buClr>
                <a:schemeClr val="tx1"/>
              </a:buClr>
              <a:buFont typeface="Arial" panose="020B0604020202020204" pitchFamily="34" charset="0"/>
              <a:buChar char="•"/>
            </a:pPr>
            <a:r>
              <a:rPr lang="en-US" dirty="0"/>
              <a:t>Second algorithm is quadratic – work grows as a function of the square of the problem size</a:t>
            </a:r>
          </a:p>
          <a:p>
            <a:pPr marL="291600" indent="-291600">
              <a:lnSpc>
                <a:spcPct val="100000"/>
              </a:lnSpc>
              <a:spcBef>
                <a:spcPts val="1000"/>
              </a:spcBef>
            </a:pPr>
            <a:r>
              <a:rPr lang="en-US" dirty="0"/>
              <a:t>Other orders:</a:t>
            </a:r>
          </a:p>
          <a:p>
            <a:pPr lvl="1">
              <a:lnSpc>
                <a:spcPct val="100000"/>
              </a:lnSpc>
              <a:spcBef>
                <a:spcPts val="1000"/>
              </a:spcBef>
              <a:buClr>
                <a:schemeClr val="tx1"/>
              </a:buClr>
              <a:buFont typeface="Arial" panose="020B0604020202020204" pitchFamily="34" charset="0"/>
              <a:buChar char="•"/>
            </a:pPr>
            <a:r>
              <a:rPr lang="en-US" dirty="0"/>
              <a:t>Constant – requires the same number of operations for any problem size</a:t>
            </a:r>
          </a:p>
          <a:p>
            <a:pPr lvl="1">
              <a:lnSpc>
                <a:spcPct val="100000"/>
              </a:lnSpc>
              <a:spcBef>
                <a:spcPts val="1000"/>
              </a:spcBef>
              <a:buClr>
                <a:schemeClr val="tx1"/>
              </a:buClr>
              <a:buFont typeface="Arial" panose="020B0604020202020204" pitchFamily="34" charset="0"/>
              <a:buChar char="•"/>
            </a:pPr>
            <a:r>
              <a:rPr lang="en-US" dirty="0"/>
              <a:t>Logarithmic – amount of work is proportional to the log</a:t>
            </a:r>
            <a:r>
              <a:rPr lang="en-US" baseline="-25000" dirty="0"/>
              <a:t>2 </a:t>
            </a:r>
            <a:r>
              <a:rPr lang="en-US" dirty="0"/>
              <a:t> of the problem size</a:t>
            </a:r>
          </a:p>
          <a:p>
            <a:pPr lvl="1">
              <a:lnSpc>
                <a:spcPct val="100000"/>
              </a:lnSpc>
              <a:spcBef>
                <a:spcPts val="1000"/>
              </a:spcBef>
              <a:buClr>
                <a:schemeClr val="tx1"/>
              </a:buClr>
              <a:buFont typeface="Arial" panose="020B0604020202020204" pitchFamily="34" charset="0"/>
              <a:buChar char="•"/>
            </a:pPr>
            <a:r>
              <a:rPr lang="en-US" dirty="0"/>
              <a:t>Polynomial time – grows at a rate of</a:t>
            </a:r>
            <a:endParaRPr lang="en-IN" dirty="0"/>
          </a:p>
        </p:txBody>
      </p:sp>
      <p:graphicFrame>
        <p:nvGraphicFramePr>
          <p:cNvPr id="19" name="Content Placeholder 8" descr="n to the power k,"/>
          <p:cNvGraphicFramePr>
            <a:graphicFrameLocks noGrp="1" noChangeAspect="1"/>
          </p:cNvGraphicFramePr>
          <p:nvPr>
            <p:ph idx="12"/>
            <p:extLst>
              <p:ext uri="{D42A27DB-BD31-4B8C-83A1-F6EECF244321}">
                <p14:modId xmlns:p14="http://schemas.microsoft.com/office/powerpoint/2010/main" val="74267545"/>
              </p:ext>
            </p:extLst>
          </p:nvPr>
        </p:nvGraphicFramePr>
        <p:xfrm>
          <a:off x="4788683" y="4825691"/>
          <a:ext cx="392917" cy="372242"/>
        </p:xfrm>
        <a:graphic>
          <a:graphicData uri="http://schemas.openxmlformats.org/presentationml/2006/ole">
            <mc:AlternateContent xmlns:mc="http://schemas.openxmlformats.org/markup-compatibility/2006">
              <mc:Choice xmlns:v="urn:schemas-microsoft-com:vml" Requires="v">
                <p:oleObj spid="_x0000_s9260" name="Equation" r:id="rId4" imgW="241200" imgH="228600" progId="Equation.DSMT4">
                  <p:embed/>
                </p:oleObj>
              </mc:Choice>
              <mc:Fallback>
                <p:oleObj name="Equation" r:id="rId4" imgW="241200" imgH="228600" progId="Equation.DSMT4">
                  <p:embed/>
                  <p:pic>
                    <p:nvPicPr>
                      <p:cNvPr id="9" name="Content Placeholder 8" descr="n to the power k,"/>
                      <p:cNvPicPr/>
                      <p:nvPr/>
                    </p:nvPicPr>
                    <p:blipFill>
                      <a:blip r:embed="rId5"/>
                      <a:stretch>
                        <a:fillRect/>
                      </a:stretch>
                    </p:blipFill>
                    <p:spPr>
                      <a:xfrm>
                        <a:off x="4788683" y="4825691"/>
                        <a:ext cx="392917" cy="372242"/>
                      </a:xfrm>
                      <a:prstGeom prst="rect">
                        <a:avLst/>
                      </a:prstGeom>
                    </p:spPr>
                  </p:pic>
                </p:oleObj>
              </mc:Fallback>
            </mc:AlternateContent>
          </a:graphicData>
        </a:graphic>
      </p:graphicFrame>
      <p:sp>
        <p:nvSpPr>
          <p:cNvPr id="6" name="Content Placeholder 5"/>
          <p:cNvSpPr>
            <a:spLocks noGrp="1"/>
          </p:cNvSpPr>
          <p:nvPr>
            <p:ph idx="13"/>
          </p:nvPr>
        </p:nvSpPr>
        <p:spPr>
          <a:xfrm>
            <a:off x="5105400" y="4899693"/>
            <a:ext cx="3886200" cy="240880"/>
          </a:xfrm>
        </p:spPr>
        <p:txBody>
          <a:bodyPr>
            <a:noAutofit/>
          </a:bodyPr>
          <a:lstStyle/>
          <a:p>
            <a:pPr marL="0" indent="0">
              <a:buNone/>
            </a:pPr>
            <a:r>
              <a:rPr lang="en-US" sz="1800" dirty="0"/>
              <a:t>where </a:t>
            </a:r>
            <a:r>
              <a:rPr lang="en-US" sz="1800" i="1" dirty="0"/>
              <a:t>k </a:t>
            </a:r>
            <a:r>
              <a:rPr lang="en-US" sz="1800" dirty="0"/>
              <a:t>is a constant greater than 1</a:t>
            </a:r>
            <a:endParaRPr lang="en-IN" sz="1800" dirty="0"/>
          </a:p>
        </p:txBody>
      </p:sp>
      <p:sp>
        <p:nvSpPr>
          <p:cNvPr id="7" name="Content Placeholder 6"/>
          <p:cNvSpPr>
            <a:spLocks noGrp="1"/>
          </p:cNvSpPr>
          <p:nvPr>
            <p:ph idx="14"/>
          </p:nvPr>
        </p:nvSpPr>
        <p:spPr>
          <a:xfrm>
            <a:off x="618947" y="5305434"/>
            <a:ext cx="6132886" cy="240880"/>
          </a:xfrm>
        </p:spPr>
        <p:txBody>
          <a:bodyPr>
            <a:noAutofit/>
          </a:bodyPr>
          <a:lstStyle/>
          <a:p>
            <a:pPr marL="514800">
              <a:buClr>
                <a:schemeClr val="tx1"/>
              </a:buClr>
              <a:buFont typeface="Arial" panose="020B0604020202020204" pitchFamily="34" charset="0"/>
              <a:buChar char="•"/>
            </a:pPr>
            <a:r>
              <a:rPr lang="en-US" sz="1800" dirty="0"/>
              <a:t>Exponential – example rate of growth of this order is</a:t>
            </a:r>
            <a:endParaRPr lang="en-IN" sz="1800" dirty="0"/>
          </a:p>
        </p:txBody>
      </p:sp>
      <p:graphicFrame>
        <p:nvGraphicFramePr>
          <p:cNvPr id="20" name="Content Placeholder 8" descr="2 to the power k"/>
          <p:cNvGraphicFramePr>
            <a:graphicFrameLocks noGrp="1" noChangeAspect="1"/>
          </p:cNvGraphicFramePr>
          <p:nvPr>
            <p:ph idx="15"/>
            <p:extLst>
              <p:ext uri="{D42A27DB-BD31-4B8C-83A1-F6EECF244321}">
                <p14:modId xmlns:p14="http://schemas.microsoft.com/office/powerpoint/2010/main" val="1423471168"/>
              </p:ext>
            </p:extLst>
          </p:nvPr>
        </p:nvGraphicFramePr>
        <p:xfrm>
          <a:off x="6705600" y="5249301"/>
          <a:ext cx="313299" cy="313299"/>
        </p:xfrm>
        <a:graphic>
          <a:graphicData uri="http://schemas.openxmlformats.org/presentationml/2006/ole">
            <mc:AlternateContent xmlns:mc="http://schemas.openxmlformats.org/markup-compatibility/2006">
              <mc:Choice xmlns:v="urn:schemas-microsoft-com:vml" Requires="v">
                <p:oleObj spid="_x0000_s9261" name="Equation" r:id="rId6" imgW="190440" imgH="190440" progId="Equation.DSMT4">
                  <p:embed/>
                </p:oleObj>
              </mc:Choice>
              <mc:Fallback>
                <p:oleObj name="Equation" r:id="rId6" imgW="190440" imgH="190440" progId="Equation.DSMT4">
                  <p:embed/>
                  <p:pic>
                    <p:nvPicPr>
                      <p:cNvPr id="10" name="Content Placeholder 8" descr="2 to the power k"/>
                      <p:cNvPicPr/>
                      <p:nvPr/>
                    </p:nvPicPr>
                    <p:blipFill>
                      <a:blip r:embed="rId7"/>
                      <a:stretch>
                        <a:fillRect/>
                      </a:stretch>
                    </p:blipFill>
                    <p:spPr>
                      <a:xfrm>
                        <a:off x="6705600" y="5249301"/>
                        <a:ext cx="313299" cy="313299"/>
                      </a:xfrm>
                      <a:prstGeom prst="rect">
                        <a:avLst/>
                      </a:prstGeom>
                    </p:spPr>
                  </p:pic>
                </p:oleObj>
              </mc:Fallback>
            </mc:AlternateContent>
          </a:graphicData>
        </a:graphic>
      </p:graphicFrame>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093280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Orders of Complexity </a:t>
            </a:r>
            <a:r>
              <a:rPr lang="en-US" sz="2000" dirty="0"/>
              <a:t>(4 of 5)</a:t>
            </a:r>
          </a:p>
        </p:txBody>
      </p:sp>
      <p:sp>
        <p:nvSpPr>
          <p:cNvPr id="3" name="Content Placeholder 2"/>
          <p:cNvSpPr>
            <a:spLocks noGrp="1"/>
          </p:cNvSpPr>
          <p:nvPr>
            <p:ph idx="1"/>
          </p:nvPr>
        </p:nvSpPr>
        <p:spPr>
          <a:xfrm>
            <a:off x="628650" y="1825625"/>
            <a:ext cx="7886700" cy="384175"/>
          </a:xfrm>
        </p:spPr>
        <p:txBody>
          <a:bodyPr>
            <a:normAutofit/>
          </a:bodyPr>
          <a:lstStyle/>
          <a:p>
            <a:pPr marL="0" indent="0">
              <a:spcBef>
                <a:spcPts val="1000"/>
              </a:spcBef>
              <a:buNone/>
            </a:pPr>
            <a:r>
              <a:rPr lang="en-IN" b="1" dirty="0"/>
              <a:t>Figure 3-6: </a:t>
            </a:r>
            <a:r>
              <a:rPr lang="en-IN" dirty="0"/>
              <a:t>A graph of some sample orders of complexity</a:t>
            </a:r>
            <a:endParaRPr lang="en-US" dirty="0"/>
          </a:p>
        </p:txBody>
      </p:sp>
      <p:pic>
        <p:nvPicPr>
          <p:cNvPr id="7" name="Content Placeholder 6" descr="Graph shows sample orders of complexity. The graph is plotted for problem size versus operations. The graph shows four curves labeled logarithmic n, n, n squared and 2 to the power of n. Logarithmic n is a curve that rises upwards from the origin but descends. N is a linear line with a positive slope rising from the origin.  N squared is a curve that rises upwards from the origin. The slope of n squared is significantly steeper than n. The curve 2 to the power of n also rises upwards from the origin and is steeper than n squared."/>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2497585" y="2480448"/>
            <a:ext cx="3300772" cy="3158352"/>
          </a:xfrm>
        </p:spPr>
      </p:pic>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62337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Orders of Complexity </a:t>
            </a:r>
            <a:r>
              <a:rPr lang="en-US" sz="2000" dirty="0"/>
              <a:t>(5 of 5)</a:t>
            </a:r>
          </a:p>
        </p:txBody>
      </p:sp>
      <p:sp>
        <p:nvSpPr>
          <p:cNvPr id="3" name="Content Placeholder 2"/>
          <p:cNvSpPr>
            <a:spLocks noGrp="1"/>
          </p:cNvSpPr>
          <p:nvPr>
            <p:ph idx="1"/>
          </p:nvPr>
        </p:nvSpPr>
        <p:spPr>
          <a:xfrm>
            <a:off x="628650" y="1825625"/>
            <a:ext cx="7886700" cy="384175"/>
          </a:xfrm>
        </p:spPr>
        <p:txBody>
          <a:bodyPr>
            <a:normAutofit/>
          </a:bodyPr>
          <a:lstStyle/>
          <a:p>
            <a:pPr marL="0" indent="0">
              <a:spcBef>
                <a:spcPts val="1000"/>
              </a:spcBef>
              <a:buNone/>
            </a:pPr>
            <a:r>
              <a:rPr lang="en-US" dirty="0"/>
              <a:t>Table 3.2 Some Sample Orders of Complexity</a:t>
            </a:r>
          </a:p>
        </p:txBody>
      </p:sp>
      <p:graphicFrame>
        <p:nvGraphicFramePr>
          <p:cNvPr id="8" name="Content Placeholder 7" descr="Table is accessible to screenreaders"/>
          <p:cNvGraphicFramePr>
            <a:graphicFrameLocks noGrp="1"/>
          </p:cNvGraphicFramePr>
          <p:nvPr>
            <p:ph sz="quarter" idx="12"/>
            <p:extLst>
              <p:ext uri="{D42A27DB-BD31-4B8C-83A1-F6EECF244321}">
                <p14:modId xmlns:p14="http://schemas.microsoft.com/office/powerpoint/2010/main" val="430487005"/>
              </p:ext>
            </p:extLst>
          </p:nvPr>
        </p:nvGraphicFramePr>
        <p:xfrm>
          <a:off x="628650" y="2895600"/>
          <a:ext cx="8058150" cy="1615440"/>
        </p:xfrm>
        <a:graphic>
          <a:graphicData uri="http://schemas.openxmlformats.org/drawingml/2006/table">
            <a:tbl>
              <a:tblPr firstRow="1" bandRow="1">
                <a:tableStyleId>{5C22544A-7EE6-4342-B048-85BDC9FD1C3A}</a:tableStyleId>
              </a:tblPr>
              <a:tblGrid>
                <a:gridCol w="1459230">
                  <a:extLst>
                    <a:ext uri="{9D8B030D-6E8A-4147-A177-3AD203B41FA5}">
                      <a16:colId xmlns:a16="http://schemas.microsoft.com/office/drawing/2014/main" val="2918737820"/>
                    </a:ext>
                  </a:extLst>
                </a:gridCol>
                <a:gridCol w="1459230">
                  <a:extLst>
                    <a:ext uri="{9D8B030D-6E8A-4147-A177-3AD203B41FA5}">
                      <a16:colId xmlns:a16="http://schemas.microsoft.com/office/drawing/2014/main" val="2539887140"/>
                    </a:ext>
                  </a:extLst>
                </a:gridCol>
                <a:gridCol w="1459230">
                  <a:extLst>
                    <a:ext uri="{9D8B030D-6E8A-4147-A177-3AD203B41FA5}">
                      <a16:colId xmlns:a16="http://schemas.microsoft.com/office/drawing/2014/main" val="721219449"/>
                    </a:ext>
                  </a:extLst>
                </a:gridCol>
                <a:gridCol w="1699260">
                  <a:extLst>
                    <a:ext uri="{9D8B030D-6E8A-4147-A177-3AD203B41FA5}">
                      <a16:colId xmlns:a16="http://schemas.microsoft.com/office/drawing/2014/main" val="4235349425"/>
                    </a:ext>
                  </a:extLst>
                </a:gridCol>
                <a:gridCol w="1981200">
                  <a:extLst>
                    <a:ext uri="{9D8B030D-6E8A-4147-A177-3AD203B41FA5}">
                      <a16:colId xmlns:a16="http://schemas.microsoft.com/office/drawing/2014/main" val="3933839831"/>
                    </a:ext>
                  </a:extLst>
                </a:gridCol>
              </a:tblGrid>
              <a:tr h="370840">
                <a:tc>
                  <a:txBody>
                    <a:bodyPr/>
                    <a:lstStyle/>
                    <a:p>
                      <a:pPr algn="l"/>
                      <a:r>
                        <a:rPr lang="en-US" i="1" dirty="0">
                          <a:solidFill>
                            <a:schemeClr val="bg2">
                              <a:lumMod val="10000"/>
                            </a:schemeClr>
                          </a:solidFill>
                          <a:latin typeface="Open Sans" panose="020B0606030504020204"/>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10000"/>
                            </a:schemeClr>
                          </a:solidFill>
                          <a:latin typeface="Open Sans" panose="020B0606030504020204"/>
                        </a:rPr>
                        <a:t>Logarithmic (</a:t>
                      </a:r>
                      <a:r>
                        <a:rPr lang="en-US" sz="1350" b="1" i="0" kern="1200" dirty="0">
                          <a:solidFill>
                            <a:schemeClr val="bg2">
                              <a:lumMod val="10000"/>
                            </a:schemeClr>
                          </a:solidFill>
                          <a:effectLst/>
                          <a:latin typeface="Open Sans" panose="020B0606030504020204"/>
                          <a:ea typeface="+mn-ea"/>
                          <a:cs typeface="+mn-cs"/>
                        </a:rPr>
                        <a:t>log</a:t>
                      </a:r>
                      <a:r>
                        <a:rPr lang="en-US" sz="1350" b="1" i="0" kern="1200" baseline="-25000" dirty="0">
                          <a:solidFill>
                            <a:schemeClr val="bg2">
                              <a:lumMod val="10000"/>
                            </a:schemeClr>
                          </a:solidFill>
                          <a:effectLst/>
                          <a:latin typeface="Open Sans" panose="020B0606030504020204"/>
                          <a:ea typeface="+mn-ea"/>
                          <a:cs typeface="+mn-cs"/>
                        </a:rPr>
                        <a:t>2</a:t>
                      </a:r>
                      <a:r>
                        <a:rPr lang="en-US" sz="1350" b="1" i="1" kern="1200" dirty="0">
                          <a:solidFill>
                            <a:schemeClr val="bg2">
                              <a:lumMod val="10000"/>
                            </a:schemeClr>
                          </a:solidFill>
                          <a:effectLst/>
                          <a:latin typeface="Open Sans" panose="020B0606030504020204"/>
                          <a:ea typeface="+mn-ea"/>
                          <a:cs typeface="+mn-cs"/>
                        </a:rPr>
                        <a:t>n)</a:t>
                      </a:r>
                      <a:endParaRPr lang="en-US" dirty="0">
                        <a:solidFill>
                          <a:schemeClr val="bg2">
                            <a:lumMod val="10000"/>
                          </a:schemeClr>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10000"/>
                            </a:schemeClr>
                          </a:solidFill>
                          <a:latin typeface="Open Sans" panose="020B0606030504020204"/>
                        </a:rPr>
                        <a:t>Linear (</a:t>
                      </a:r>
                      <a:r>
                        <a:rPr lang="en-US" i="1" dirty="0">
                          <a:solidFill>
                            <a:schemeClr val="bg2">
                              <a:lumMod val="10000"/>
                            </a:schemeClr>
                          </a:solidFill>
                          <a:latin typeface="Open Sans" panose="020B0606030504020204"/>
                        </a:rPr>
                        <a:t>n</a:t>
                      </a:r>
                      <a:r>
                        <a:rPr lang="en-US" dirty="0">
                          <a:solidFill>
                            <a:schemeClr val="bg2">
                              <a:lumMod val="10000"/>
                            </a:schemeClr>
                          </a:solidFill>
                          <a:latin typeface="Open Sans" panose="020B0606030504020204"/>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10000"/>
                            </a:schemeClr>
                          </a:solidFill>
                          <a:latin typeface="Open Sans" panose="020B0606030504020204"/>
                        </a:rPr>
                        <a:t>Quadratic </a:t>
                      </a:r>
                      <a:r>
                        <a:rPr lang="en-US" sz="800" b="1" i="1" kern="1200" dirty="0">
                          <a:solidFill>
                            <a:srgbClr val="0098D4"/>
                          </a:solidFill>
                          <a:effectLst/>
                          <a:latin typeface="Open Sans" panose="020B0606030504020204"/>
                          <a:ea typeface="+mn-ea"/>
                          <a:cs typeface="+mn-cs"/>
                        </a:rPr>
                        <a:t>(n squared)</a:t>
                      </a:r>
                      <a:endParaRPr lang="en-US" sz="800" dirty="0">
                        <a:solidFill>
                          <a:srgbClr val="0098D4"/>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10000"/>
                            </a:schemeClr>
                          </a:solidFill>
                          <a:latin typeface="Open Sans" panose="020B0606030504020204"/>
                        </a:rPr>
                        <a:t>Exponential </a:t>
                      </a:r>
                      <a:r>
                        <a:rPr lang="en-US" sz="400" b="1" i="1" kern="1200" dirty="0">
                          <a:solidFill>
                            <a:srgbClr val="0098D4"/>
                          </a:solidFill>
                          <a:effectLst/>
                          <a:latin typeface="Open Sans" panose="020B0606030504020204"/>
                          <a:ea typeface="+mn-ea"/>
                          <a:cs typeface="+mn-cs"/>
                        </a:rPr>
                        <a:t>(2 to the power n)</a:t>
                      </a:r>
                      <a:endParaRPr lang="en-US" sz="400" dirty="0">
                        <a:solidFill>
                          <a:srgbClr val="0098D4"/>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9089418"/>
                  </a:ext>
                </a:extLst>
              </a:tr>
              <a:tr h="370840">
                <a:tc>
                  <a:txBody>
                    <a:bodyPr/>
                    <a:lstStyle/>
                    <a:p>
                      <a:pPr algn="l"/>
                      <a:r>
                        <a:rPr lang="en-US" dirty="0">
                          <a:latin typeface="Open Sans" panose="020B0606030504020204"/>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10,000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Off the chart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5955558"/>
                  </a:ext>
                </a:extLst>
              </a:tr>
              <a:tr h="370840">
                <a:tc>
                  <a:txBody>
                    <a:bodyPr/>
                    <a:lstStyle/>
                    <a:p>
                      <a:pPr algn="l"/>
                      <a:r>
                        <a:rPr lang="en-US" dirty="0">
                          <a:latin typeface="Open Sans" panose="020B0606030504020204"/>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Off the chart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5629773"/>
                  </a:ext>
                </a:extLst>
              </a:tr>
              <a:tr h="370840">
                <a:tc>
                  <a:txBody>
                    <a:bodyPr/>
                    <a:lstStyle/>
                    <a:p>
                      <a:pPr algn="l"/>
                      <a:r>
                        <a:rPr lang="en-US" dirty="0">
                          <a:latin typeface="Open Sans" panose="020B0606030504020204"/>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1,000,000,000,000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Really off</a:t>
                      </a:r>
                      <a:r>
                        <a:rPr lang="en-US" baseline="0" dirty="0">
                          <a:latin typeface="Open Sans" panose="020B0606030504020204"/>
                        </a:rPr>
                        <a:t> the chart</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5255129"/>
                  </a:ext>
                </a:extLst>
              </a:tr>
            </a:tbl>
          </a:graphicData>
        </a:graphic>
      </p:graphicFrame>
      <p:graphicFrame>
        <p:nvGraphicFramePr>
          <p:cNvPr id="6" name="Content Placeholder 8" descr="Image description is in table cell"/>
          <p:cNvGraphicFramePr>
            <a:graphicFrameLocks noGrp="1" noChangeAspect="1"/>
          </p:cNvGraphicFramePr>
          <p:nvPr>
            <p:ph idx="1"/>
            <p:extLst>
              <p:ext uri="{D42A27DB-BD31-4B8C-83A1-F6EECF244321}">
                <p14:modId xmlns:p14="http://schemas.microsoft.com/office/powerpoint/2010/main" val="300756194"/>
              </p:ext>
            </p:extLst>
          </p:nvPr>
        </p:nvGraphicFramePr>
        <p:xfrm>
          <a:off x="5979627" y="3007785"/>
          <a:ext cx="379125" cy="320216"/>
        </p:xfrm>
        <a:graphic>
          <a:graphicData uri="http://schemas.openxmlformats.org/presentationml/2006/ole">
            <mc:AlternateContent xmlns:mc="http://schemas.openxmlformats.org/markup-compatibility/2006">
              <mc:Choice xmlns:v="urn:schemas-microsoft-com:vml" Requires="v">
                <p:oleObj spid="_x0000_s8310" name="Equation" r:id="rId4" imgW="330120" imgH="279360" progId="Equation.DSMT4">
                  <p:embed/>
                </p:oleObj>
              </mc:Choice>
              <mc:Fallback>
                <p:oleObj name="Equation" r:id="rId4" imgW="330120" imgH="279360" progId="Equation.DSMT4">
                  <p:embed/>
                  <p:pic>
                    <p:nvPicPr>
                      <p:cNvPr id="9" name="Content Placeholder 8" descr="n to the power k,"/>
                      <p:cNvPicPr/>
                      <p:nvPr/>
                    </p:nvPicPr>
                    <p:blipFill>
                      <a:blip r:embed="rId5"/>
                      <a:stretch>
                        <a:fillRect/>
                      </a:stretch>
                    </p:blipFill>
                    <p:spPr>
                      <a:xfrm>
                        <a:off x="5979627" y="3007785"/>
                        <a:ext cx="379125" cy="320216"/>
                      </a:xfrm>
                      <a:prstGeom prst="rect">
                        <a:avLst/>
                      </a:prstGeom>
                    </p:spPr>
                  </p:pic>
                </p:oleObj>
              </mc:Fallback>
            </mc:AlternateContent>
          </a:graphicData>
        </a:graphic>
      </p:graphicFrame>
      <p:graphicFrame>
        <p:nvGraphicFramePr>
          <p:cNvPr id="7" name="Content Placeholder 8" descr="Image description is in table cell"/>
          <p:cNvGraphicFramePr>
            <a:graphicFrameLocks noGrp="1" noChangeAspect="1"/>
          </p:cNvGraphicFramePr>
          <p:nvPr>
            <p:ph idx="4294967295"/>
            <p:extLst>
              <p:ext uri="{D42A27DB-BD31-4B8C-83A1-F6EECF244321}">
                <p14:modId xmlns:p14="http://schemas.microsoft.com/office/powerpoint/2010/main" val="2539530702"/>
              </p:ext>
            </p:extLst>
          </p:nvPr>
        </p:nvGraphicFramePr>
        <p:xfrm>
          <a:off x="7977845" y="3012304"/>
          <a:ext cx="333355" cy="293422"/>
        </p:xfrm>
        <a:graphic>
          <a:graphicData uri="http://schemas.openxmlformats.org/presentationml/2006/ole">
            <mc:AlternateContent xmlns:mc="http://schemas.openxmlformats.org/markup-compatibility/2006">
              <mc:Choice xmlns:v="urn:schemas-microsoft-com:vml" Requires="v">
                <p:oleObj spid="_x0000_s8311" name="Equation" r:id="rId6" imgW="317160" imgH="279360" progId="Equation.DSMT4">
                  <p:embed/>
                </p:oleObj>
              </mc:Choice>
              <mc:Fallback>
                <p:oleObj name="Equation" r:id="rId6" imgW="317160" imgH="279360" progId="Equation.DSMT4">
                  <p:embed/>
                  <p:pic>
                    <p:nvPicPr>
                      <p:cNvPr id="10" name="Content Placeholder 8" descr="2 to the power k"/>
                      <p:cNvPicPr/>
                      <p:nvPr/>
                    </p:nvPicPr>
                    <p:blipFill>
                      <a:blip r:embed="rId7"/>
                      <a:stretch>
                        <a:fillRect/>
                      </a:stretch>
                    </p:blipFill>
                    <p:spPr>
                      <a:xfrm>
                        <a:off x="7977845" y="3012304"/>
                        <a:ext cx="333355" cy="293422"/>
                      </a:xfrm>
                      <a:prstGeom prst="rect">
                        <a:avLst/>
                      </a:prstGeom>
                    </p:spPr>
                  </p:pic>
                </p:oleObj>
              </mc:Fallback>
            </mc:AlternateContent>
          </a:graphicData>
        </a:graphic>
      </p:graphicFrame>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28234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404793"/>
          </a:xfrm>
        </p:spPr>
        <p:txBody>
          <a:bodyPr/>
          <a:lstStyle/>
          <a:p>
            <a:r>
              <a:rPr lang="en-US" b="1" dirty="0"/>
              <a:t>Big-O-Notation</a:t>
            </a:r>
            <a:r>
              <a:rPr lang="en-US" dirty="0"/>
              <a:t> </a:t>
            </a:r>
            <a:r>
              <a:rPr lang="en-US" sz="2000" dirty="0"/>
              <a:t>(1 of 2)</a:t>
            </a:r>
          </a:p>
        </p:txBody>
      </p:sp>
      <p:sp>
        <p:nvSpPr>
          <p:cNvPr id="3" name="Content Placeholder 2"/>
          <p:cNvSpPr>
            <a:spLocks noGrp="1"/>
          </p:cNvSpPr>
          <p:nvPr>
            <p:ph idx="1"/>
          </p:nvPr>
        </p:nvSpPr>
        <p:spPr>
          <a:xfrm>
            <a:off x="628650" y="1570405"/>
            <a:ext cx="7886700" cy="668636"/>
          </a:xfrm>
        </p:spPr>
        <p:txBody>
          <a:bodyPr>
            <a:noAutofit/>
          </a:bodyPr>
          <a:lstStyle/>
          <a:p>
            <a:pPr marL="291600" indent="-291600">
              <a:lnSpc>
                <a:spcPct val="100000"/>
              </a:lnSpc>
              <a:spcBef>
                <a:spcPts val="1200"/>
              </a:spcBef>
            </a:pPr>
            <a:r>
              <a:rPr lang="en-US" dirty="0"/>
              <a:t>An algorithm rarely performs a number of operations exactly equal to</a:t>
            </a:r>
          </a:p>
        </p:txBody>
      </p:sp>
      <p:graphicFrame>
        <p:nvGraphicFramePr>
          <p:cNvPr id="19" name="Content Placeholder 18" descr="n, n squared, or k to the power n :"/>
          <p:cNvGraphicFramePr>
            <a:graphicFrameLocks noGrp="1" noChangeAspect="1"/>
          </p:cNvGraphicFramePr>
          <p:nvPr>
            <p:ph idx="12"/>
            <p:extLst>
              <p:ext uri="{D42A27DB-BD31-4B8C-83A1-F6EECF244321}">
                <p14:modId xmlns:p14="http://schemas.microsoft.com/office/powerpoint/2010/main" val="292355745"/>
              </p:ext>
            </p:extLst>
          </p:nvPr>
        </p:nvGraphicFramePr>
        <p:xfrm>
          <a:off x="1915428" y="1882638"/>
          <a:ext cx="1362323" cy="340199"/>
        </p:xfrm>
        <a:graphic>
          <a:graphicData uri="http://schemas.openxmlformats.org/presentationml/2006/ole">
            <mc:AlternateContent xmlns:mc="http://schemas.openxmlformats.org/markup-compatibility/2006">
              <mc:Choice xmlns:v="urn:schemas-microsoft-com:vml" Requires="v">
                <p:oleObj spid="_x0000_s10243" name="Equation" r:id="rId4" imgW="863280" imgH="215640" progId="Equation.DSMT4">
                  <p:embed/>
                </p:oleObj>
              </mc:Choice>
              <mc:Fallback>
                <p:oleObj name="Equation" r:id="rId4" imgW="863280" imgH="215640" progId="Equation.DSMT4">
                  <p:embed/>
                  <p:pic>
                    <p:nvPicPr>
                      <p:cNvPr id="0" name=""/>
                      <p:cNvPicPr/>
                      <p:nvPr/>
                    </p:nvPicPr>
                    <p:blipFill>
                      <a:blip r:embed="rId5"/>
                      <a:stretch>
                        <a:fillRect/>
                      </a:stretch>
                    </p:blipFill>
                    <p:spPr>
                      <a:xfrm>
                        <a:off x="1915428" y="1882638"/>
                        <a:ext cx="1362323" cy="340199"/>
                      </a:xfrm>
                      <a:prstGeom prst="rect">
                        <a:avLst/>
                      </a:prstGeom>
                    </p:spPr>
                  </p:pic>
                </p:oleObj>
              </mc:Fallback>
            </mc:AlternateContent>
          </a:graphicData>
        </a:graphic>
      </p:graphicFrame>
      <p:sp>
        <p:nvSpPr>
          <p:cNvPr id="6" name="Content Placeholder 5"/>
          <p:cNvSpPr>
            <a:spLocks noGrp="1"/>
          </p:cNvSpPr>
          <p:nvPr>
            <p:ph idx="13"/>
          </p:nvPr>
        </p:nvSpPr>
        <p:spPr>
          <a:xfrm>
            <a:off x="628650" y="2325648"/>
            <a:ext cx="7886700" cy="1949161"/>
          </a:xfrm>
        </p:spPr>
        <p:txBody>
          <a:bodyPr>
            <a:normAutofit fontScale="92500" lnSpcReduction="10000"/>
          </a:bodyPr>
          <a:lstStyle/>
          <a:p>
            <a:pPr lvl="1">
              <a:spcBef>
                <a:spcPts val="1000"/>
              </a:spcBef>
            </a:pPr>
            <a:r>
              <a:rPr lang="en-US" dirty="0"/>
              <a:t>An algorithm usually performs other work in the body of a loop, above the loop, and below the loop</a:t>
            </a:r>
          </a:p>
          <a:p>
            <a:pPr marL="291600" indent="-291600">
              <a:spcBef>
                <a:spcPts val="1000"/>
              </a:spcBef>
            </a:pPr>
            <a:r>
              <a:rPr lang="en-US" dirty="0"/>
              <a:t>Whenever the amount of work is expressed as a polynomial, one term is dominant:</a:t>
            </a:r>
          </a:p>
          <a:p>
            <a:pPr lvl="1">
              <a:spcBef>
                <a:spcPts val="1000"/>
              </a:spcBef>
            </a:pPr>
            <a:r>
              <a:rPr lang="en-US" dirty="0"/>
              <a:t>As </a:t>
            </a:r>
            <a:r>
              <a:rPr lang="en-US" i="1" dirty="0"/>
              <a:t>n</a:t>
            </a:r>
            <a:r>
              <a:rPr lang="en-US" dirty="0"/>
              <a:t> becomes large, the dominant term becomes so large that you can ignore the amount of work represented by the other terms</a:t>
            </a:r>
          </a:p>
          <a:p>
            <a:pPr marL="291600" indent="-291600">
              <a:spcBef>
                <a:spcPts val="1000"/>
              </a:spcBef>
            </a:pPr>
            <a:r>
              <a:rPr lang="en-US" dirty="0"/>
              <a:t>For example,</a:t>
            </a:r>
            <a:endParaRPr lang="en-IN" dirty="0"/>
          </a:p>
        </p:txBody>
      </p:sp>
      <p:sp>
        <p:nvSpPr>
          <p:cNvPr id="7" name="Content Placeholder 6"/>
          <p:cNvSpPr>
            <a:spLocks noGrp="1"/>
          </p:cNvSpPr>
          <p:nvPr>
            <p:ph idx="14"/>
          </p:nvPr>
        </p:nvSpPr>
        <p:spPr>
          <a:xfrm>
            <a:off x="628650" y="4454037"/>
            <a:ext cx="2266950" cy="259294"/>
          </a:xfrm>
        </p:spPr>
        <p:txBody>
          <a:bodyPr>
            <a:normAutofit fontScale="77500" lnSpcReduction="20000"/>
          </a:bodyPr>
          <a:lstStyle/>
          <a:p>
            <a:pPr marL="514800">
              <a:spcBef>
                <a:spcPts val="1000"/>
              </a:spcBef>
            </a:pPr>
            <a:r>
              <a:rPr lang="en-US" dirty="0"/>
              <a:t>In the polynomial</a:t>
            </a:r>
            <a:endParaRPr lang="en-IN" dirty="0"/>
          </a:p>
        </p:txBody>
      </p:sp>
      <p:graphicFrame>
        <p:nvGraphicFramePr>
          <p:cNvPr id="20" name="Content Placeholder 19" descr="1 over 2 times, n squared minus 1 over 2 times, n."/>
          <p:cNvGraphicFramePr>
            <a:graphicFrameLocks noGrp="1" noChangeAspect="1"/>
          </p:cNvGraphicFramePr>
          <p:nvPr>
            <p:ph idx="23"/>
            <p:extLst>
              <p:ext uri="{D42A27DB-BD31-4B8C-83A1-F6EECF244321}">
                <p14:modId xmlns:p14="http://schemas.microsoft.com/office/powerpoint/2010/main" val="3134065834"/>
              </p:ext>
            </p:extLst>
          </p:nvPr>
        </p:nvGraphicFramePr>
        <p:xfrm>
          <a:off x="2914224" y="4255676"/>
          <a:ext cx="1009960" cy="558279"/>
        </p:xfrm>
        <a:graphic>
          <a:graphicData uri="http://schemas.openxmlformats.org/presentationml/2006/ole">
            <mc:AlternateContent xmlns:mc="http://schemas.openxmlformats.org/markup-compatibility/2006">
              <mc:Choice xmlns:v="urn:schemas-microsoft-com:vml" Requires="v">
                <p:oleObj spid="_x0000_s10244" name="Equation" r:id="rId6" imgW="711000" imgH="393480" progId="Equation.DSMT4">
                  <p:embed/>
                </p:oleObj>
              </mc:Choice>
              <mc:Fallback>
                <p:oleObj name="Equation" r:id="rId6" imgW="711000" imgH="393480" progId="Equation.DSMT4">
                  <p:embed/>
                  <p:pic>
                    <p:nvPicPr>
                      <p:cNvPr id="0" name=""/>
                      <p:cNvPicPr/>
                      <p:nvPr/>
                    </p:nvPicPr>
                    <p:blipFill>
                      <a:blip r:embed="rId7"/>
                      <a:stretch>
                        <a:fillRect/>
                      </a:stretch>
                    </p:blipFill>
                    <p:spPr>
                      <a:xfrm>
                        <a:off x="2914224" y="4255676"/>
                        <a:ext cx="1009960" cy="558279"/>
                      </a:xfrm>
                      <a:prstGeom prst="rect">
                        <a:avLst/>
                      </a:prstGeom>
                    </p:spPr>
                  </p:pic>
                </p:oleObj>
              </mc:Fallback>
            </mc:AlternateContent>
          </a:graphicData>
        </a:graphic>
      </p:graphicFrame>
      <p:sp>
        <p:nvSpPr>
          <p:cNvPr id="17" name="Content Placeholder 16"/>
          <p:cNvSpPr>
            <a:spLocks noGrp="1"/>
          </p:cNvSpPr>
          <p:nvPr>
            <p:ph idx="24"/>
          </p:nvPr>
        </p:nvSpPr>
        <p:spPr>
          <a:xfrm>
            <a:off x="3977803" y="4396824"/>
            <a:ext cx="3334860" cy="295697"/>
          </a:xfrm>
        </p:spPr>
        <p:txBody>
          <a:bodyPr>
            <a:noAutofit/>
          </a:bodyPr>
          <a:lstStyle/>
          <a:p>
            <a:pPr marL="0" indent="0">
              <a:buNone/>
            </a:pPr>
            <a:r>
              <a:rPr lang="en-US" sz="1800" dirty="0"/>
              <a:t>you focus on the quadratic term,</a:t>
            </a:r>
            <a:endParaRPr lang="en-IN" sz="1800" dirty="0"/>
          </a:p>
        </p:txBody>
      </p:sp>
      <p:graphicFrame>
        <p:nvGraphicFramePr>
          <p:cNvPr id="21" name="Content Placeholder 20" descr="1 over 2 times, n squared"/>
          <p:cNvGraphicFramePr>
            <a:graphicFrameLocks noGrp="1" noChangeAspect="1"/>
          </p:cNvGraphicFramePr>
          <p:nvPr>
            <p:ph idx="16"/>
            <p:extLst>
              <p:ext uri="{D42A27DB-BD31-4B8C-83A1-F6EECF244321}">
                <p14:modId xmlns:p14="http://schemas.microsoft.com/office/powerpoint/2010/main" val="1260304490"/>
              </p:ext>
            </p:extLst>
          </p:nvPr>
        </p:nvGraphicFramePr>
        <p:xfrm>
          <a:off x="6934200" y="4267200"/>
          <a:ext cx="454981" cy="503862"/>
        </p:xfrm>
        <a:graphic>
          <a:graphicData uri="http://schemas.openxmlformats.org/presentationml/2006/ole">
            <mc:AlternateContent xmlns:mc="http://schemas.openxmlformats.org/markup-compatibility/2006">
              <mc:Choice xmlns:v="urn:schemas-microsoft-com:vml" Requires="v">
                <p:oleObj spid="_x0000_s10245" name="Equation" r:id="rId8" imgW="355320" imgH="393480" progId="Equation.DSMT4">
                  <p:embed/>
                </p:oleObj>
              </mc:Choice>
              <mc:Fallback>
                <p:oleObj name="Equation" r:id="rId8" imgW="355320" imgH="393480" progId="Equation.DSMT4">
                  <p:embed/>
                  <p:pic>
                    <p:nvPicPr>
                      <p:cNvPr id="0" name=""/>
                      <p:cNvPicPr/>
                      <p:nvPr/>
                    </p:nvPicPr>
                    <p:blipFill>
                      <a:blip r:embed="rId9"/>
                      <a:stretch>
                        <a:fillRect/>
                      </a:stretch>
                    </p:blipFill>
                    <p:spPr>
                      <a:xfrm>
                        <a:off x="6934200" y="4267200"/>
                        <a:ext cx="454981" cy="503862"/>
                      </a:xfrm>
                      <a:prstGeom prst="rect">
                        <a:avLst/>
                      </a:prstGeom>
                    </p:spPr>
                  </p:pic>
                </p:oleObj>
              </mc:Fallback>
            </mc:AlternateContent>
          </a:graphicData>
        </a:graphic>
      </p:graphicFrame>
      <p:sp>
        <p:nvSpPr>
          <p:cNvPr id="18" name="Content Placeholder 17"/>
          <p:cNvSpPr>
            <a:spLocks noGrp="1"/>
          </p:cNvSpPr>
          <p:nvPr>
            <p:ph idx="25"/>
          </p:nvPr>
        </p:nvSpPr>
        <p:spPr>
          <a:xfrm>
            <a:off x="1162755" y="4895873"/>
            <a:ext cx="3445386" cy="278295"/>
          </a:xfrm>
        </p:spPr>
        <p:txBody>
          <a:bodyPr>
            <a:normAutofit fontScale="92500"/>
          </a:bodyPr>
          <a:lstStyle/>
          <a:p>
            <a:pPr marL="0" indent="0">
              <a:buNone/>
            </a:pPr>
            <a:r>
              <a:rPr lang="en-US" sz="1800" dirty="0"/>
              <a:t>in effect dropping the linear term,</a:t>
            </a:r>
            <a:endParaRPr lang="en-IN" sz="1800" dirty="0"/>
          </a:p>
        </p:txBody>
      </p:sp>
      <p:graphicFrame>
        <p:nvGraphicFramePr>
          <p:cNvPr id="22" name="Content Placeholder 21" descr="1 over 2 times, n"/>
          <p:cNvGraphicFramePr>
            <a:graphicFrameLocks noGrp="1" noChangeAspect="1"/>
          </p:cNvGraphicFramePr>
          <p:nvPr>
            <p:ph idx="21"/>
            <p:extLst>
              <p:ext uri="{D42A27DB-BD31-4B8C-83A1-F6EECF244321}">
                <p14:modId xmlns:p14="http://schemas.microsoft.com/office/powerpoint/2010/main" val="386354527"/>
              </p:ext>
            </p:extLst>
          </p:nvPr>
        </p:nvGraphicFramePr>
        <p:xfrm>
          <a:off x="4546476" y="4773896"/>
          <a:ext cx="365983" cy="513779"/>
        </p:xfrm>
        <a:graphic>
          <a:graphicData uri="http://schemas.openxmlformats.org/presentationml/2006/ole">
            <mc:AlternateContent xmlns:mc="http://schemas.openxmlformats.org/markup-compatibility/2006">
              <mc:Choice xmlns:v="urn:schemas-microsoft-com:vml" Requires="v">
                <p:oleObj spid="_x0000_s10246" name="Equation" r:id="rId10" imgW="279360" imgH="393480" progId="Equation.DSMT4">
                  <p:embed/>
                </p:oleObj>
              </mc:Choice>
              <mc:Fallback>
                <p:oleObj name="Equation" r:id="rId10" imgW="279360" imgH="393480" progId="Equation.DSMT4">
                  <p:embed/>
                  <p:pic>
                    <p:nvPicPr>
                      <p:cNvPr id="0" name=""/>
                      <p:cNvPicPr/>
                      <p:nvPr/>
                    </p:nvPicPr>
                    <p:blipFill>
                      <a:blip r:embed="rId11"/>
                      <a:stretch>
                        <a:fillRect/>
                      </a:stretch>
                    </p:blipFill>
                    <p:spPr>
                      <a:xfrm>
                        <a:off x="4546476" y="4773896"/>
                        <a:ext cx="365983" cy="513779"/>
                      </a:xfrm>
                      <a:prstGeom prst="rect">
                        <a:avLst/>
                      </a:prstGeom>
                    </p:spPr>
                  </p:pic>
                </p:oleObj>
              </mc:Fallback>
            </mc:AlternateContent>
          </a:graphicData>
        </a:graphic>
      </p:graphicFrame>
      <p:sp>
        <p:nvSpPr>
          <p:cNvPr id="12" name="Content Placeholder 11"/>
          <p:cNvSpPr>
            <a:spLocks noGrp="1"/>
          </p:cNvSpPr>
          <p:nvPr>
            <p:ph idx="19"/>
          </p:nvPr>
        </p:nvSpPr>
        <p:spPr>
          <a:xfrm>
            <a:off x="4948451" y="4882622"/>
            <a:ext cx="2095500" cy="279399"/>
          </a:xfrm>
        </p:spPr>
        <p:txBody>
          <a:bodyPr>
            <a:normAutofit/>
          </a:bodyPr>
          <a:lstStyle/>
          <a:p>
            <a:pPr marL="0" indent="0">
              <a:buNone/>
            </a:pPr>
            <a:r>
              <a:rPr lang="en-US" sz="1800" dirty="0"/>
              <a:t>from consideration</a:t>
            </a:r>
            <a:endParaRPr lang="en-IN" sz="1800" dirty="0"/>
          </a:p>
        </p:txBody>
      </p:sp>
      <p:sp>
        <p:nvSpPr>
          <p:cNvPr id="10" name="Content Placeholder 9"/>
          <p:cNvSpPr>
            <a:spLocks noGrp="1"/>
          </p:cNvSpPr>
          <p:nvPr>
            <p:ph idx="17"/>
          </p:nvPr>
        </p:nvSpPr>
        <p:spPr>
          <a:xfrm>
            <a:off x="633646" y="5452307"/>
            <a:ext cx="3826660" cy="261131"/>
          </a:xfrm>
        </p:spPr>
        <p:txBody>
          <a:bodyPr>
            <a:normAutofit fontScale="77500" lnSpcReduction="20000"/>
          </a:bodyPr>
          <a:lstStyle/>
          <a:p>
            <a:pPr marL="514800">
              <a:spcBef>
                <a:spcPts val="1000"/>
              </a:spcBef>
            </a:pPr>
            <a:r>
              <a:rPr lang="en-US" dirty="0"/>
              <a:t>You can also drop the coefficient</a:t>
            </a:r>
            <a:endParaRPr lang="en-IN" dirty="0"/>
          </a:p>
        </p:txBody>
      </p:sp>
      <p:graphicFrame>
        <p:nvGraphicFramePr>
          <p:cNvPr id="25" name="Content Placeholder 24" descr="1 over 2"/>
          <p:cNvGraphicFramePr>
            <a:graphicFrameLocks noGrp="1" noChangeAspect="1"/>
          </p:cNvGraphicFramePr>
          <p:nvPr>
            <p:ph idx="20"/>
            <p:extLst>
              <p:ext uri="{D42A27DB-BD31-4B8C-83A1-F6EECF244321}">
                <p14:modId xmlns:p14="http://schemas.microsoft.com/office/powerpoint/2010/main" val="1416878657"/>
              </p:ext>
            </p:extLst>
          </p:nvPr>
        </p:nvGraphicFramePr>
        <p:xfrm>
          <a:off x="4343400" y="5278322"/>
          <a:ext cx="210824" cy="539986"/>
        </p:xfrm>
        <a:graphic>
          <a:graphicData uri="http://schemas.openxmlformats.org/presentationml/2006/ole">
            <mc:AlternateContent xmlns:mc="http://schemas.openxmlformats.org/markup-compatibility/2006">
              <mc:Choice xmlns:v="urn:schemas-microsoft-com:vml" Requires="v">
                <p:oleObj spid="_x0000_s10247" name="Equation" r:id="rId12" imgW="152280" imgH="393480" progId="Equation.DSMT4">
                  <p:embed/>
                </p:oleObj>
              </mc:Choice>
              <mc:Fallback>
                <p:oleObj name="Equation" r:id="rId12" imgW="152280" imgH="393480" progId="Equation.DSMT4">
                  <p:embed/>
                  <p:pic>
                    <p:nvPicPr>
                      <p:cNvPr id="0" name=""/>
                      <p:cNvPicPr/>
                      <p:nvPr/>
                    </p:nvPicPr>
                    <p:blipFill>
                      <a:blip r:embed="rId13"/>
                      <a:stretch>
                        <a:fillRect/>
                      </a:stretch>
                    </p:blipFill>
                    <p:spPr>
                      <a:xfrm>
                        <a:off x="4343400" y="5278322"/>
                        <a:ext cx="210824" cy="539986"/>
                      </a:xfrm>
                      <a:prstGeom prst="rect">
                        <a:avLst/>
                      </a:prstGeom>
                    </p:spPr>
                  </p:pic>
                </p:oleObj>
              </mc:Fallback>
            </mc:AlternateContent>
          </a:graphicData>
        </a:graphic>
      </p:graphicFrame>
      <p:sp>
        <p:nvSpPr>
          <p:cNvPr id="8" name="Content Placeholder 7"/>
          <p:cNvSpPr>
            <a:spLocks noGrp="1"/>
          </p:cNvSpPr>
          <p:nvPr>
            <p:ph idx="15"/>
          </p:nvPr>
        </p:nvSpPr>
        <p:spPr>
          <a:xfrm>
            <a:off x="4614717" y="5437457"/>
            <a:ext cx="2857540" cy="301350"/>
          </a:xfrm>
        </p:spPr>
        <p:txBody>
          <a:bodyPr>
            <a:normAutofit/>
          </a:bodyPr>
          <a:lstStyle/>
          <a:p>
            <a:pPr marL="0" indent="0">
              <a:buNone/>
            </a:pPr>
            <a:r>
              <a:rPr lang="en-US" sz="1800" dirty="0"/>
              <a:t>because the ratio between</a:t>
            </a:r>
            <a:endParaRPr lang="en-IN" sz="1800" dirty="0"/>
          </a:p>
        </p:txBody>
      </p:sp>
      <p:graphicFrame>
        <p:nvGraphicFramePr>
          <p:cNvPr id="24" name="Content Placeholder 23" descr="1 over 2 times, n squared and n squared."/>
          <p:cNvGraphicFramePr>
            <a:graphicFrameLocks noGrp="1" noChangeAspect="1"/>
          </p:cNvGraphicFramePr>
          <p:nvPr>
            <p:ph idx="18"/>
            <p:extLst>
              <p:ext uri="{D42A27DB-BD31-4B8C-83A1-F6EECF244321}">
                <p14:modId xmlns:p14="http://schemas.microsoft.com/office/powerpoint/2010/main" val="3257128382"/>
              </p:ext>
            </p:extLst>
          </p:nvPr>
        </p:nvGraphicFramePr>
        <p:xfrm>
          <a:off x="7472256" y="5284890"/>
          <a:ext cx="1137571" cy="550827"/>
        </p:xfrm>
        <a:graphic>
          <a:graphicData uri="http://schemas.openxmlformats.org/presentationml/2006/ole">
            <mc:AlternateContent xmlns:mc="http://schemas.openxmlformats.org/markup-compatibility/2006">
              <mc:Choice xmlns:v="urn:schemas-microsoft-com:vml" Requires="v">
                <p:oleObj spid="_x0000_s10248" name="Equation" r:id="rId14" imgW="812520" imgH="393480" progId="Equation.DSMT4">
                  <p:embed/>
                </p:oleObj>
              </mc:Choice>
              <mc:Fallback>
                <p:oleObj name="Equation" r:id="rId14" imgW="812520" imgH="393480" progId="Equation.DSMT4">
                  <p:embed/>
                  <p:pic>
                    <p:nvPicPr>
                      <p:cNvPr id="0" name=""/>
                      <p:cNvPicPr/>
                      <p:nvPr/>
                    </p:nvPicPr>
                    <p:blipFill>
                      <a:blip r:embed="rId15"/>
                      <a:stretch>
                        <a:fillRect/>
                      </a:stretch>
                    </p:blipFill>
                    <p:spPr>
                      <a:xfrm>
                        <a:off x="7472256" y="5284890"/>
                        <a:ext cx="1137571" cy="550827"/>
                      </a:xfrm>
                      <a:prstGeom prst="rect">
                        <a:avLst/>
                      </a:prstGeom>
                    </p:spPr>
                  </p:pic>
                </p:oleObj>
              </mc:Fallback>
            </mc:AlternateContent>
          </a:graphicData>
        </a:graphic>
      </p:graphicFrame>
      <p:sp>
        <p:nvSpPr>
          <p:cNvPr id="15" name="Content Placeholder 14"/>
          <p:cNvSpPr>
            <a:spLocks noGrp="1"/>
          </p:cNvSpPr>
          <p:nvPr>
            <p:ph idx="22"/>
          </p:nvPr>
        </p:nvSpPr>
        <p:spPr>
          <a:xfrm>
            <a:off x="1167638" y="5800045"/>
            <a:ext cx="3115270" cy="298958"/>
          </a:xfrm>
        </p:spPr>
        <p:txBody>
          <a:bodyPr>
            <a:noAutofit/>
          </a:bodyPr>
          <a:lstStyle/>
          <a:p>
            <a:pPr marL="0" indent="0">
              <a:buNone/>
            </a:pPr>
            <a:r>
              <a:rPr lang="en-US" sz="1800" dirty="0"/>
              <a:t>does not change as n grows</a:t>
            </a:r>
            <a:endParaRPr lang="en-IN" sz="1800"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289382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Big-O-Notation</a:t>
            </a:r>
            <a:r>
              <a:rPr lang="en-US" dirty="0"/>
              <a:t> </a:t>
            </a:r>
            <a:r>
              <a:rPr lang="en-US" sz="2000" dirty="0"/>
              <a:t>(2 of 2)</a:t>
            </a:r>
          </a:p>
        </p:txBody>
      </p:sp>
      <p:sp>
        <p:nvSpPr>
          <p:cNvPr id="3" name="Content Placeholder 2"/>
          <p:cNvSpPr>
            <a:spLocks noGrp="1"/>
          </p:cNvSpPr>
          <p:nvPr>
            <p:ph idx="1"/>
          </p:nvPr>
        </p:nvSpPr>
        <p:spPr>
          <a:xfrm>
            <a:off x="628650" y="1825625"/>
            <a:ext cx="7886700" cy="2441575"/>
          </a:xfrm>
        </p:spPr>
        <p:txBody>
          <a:bodyPr/>
          <a:lstStyle/>
          <a:p>
            <a:pPr marL="291600" indent="-291600">
              <a:spcBef>
                <a:spcPts val="1000"/>
              </a:spcBef>
            </a:pPr>
            <a:r>
              <a:rPr lang="en-US" dirty="0"/>
              <a:t>One notation used to express the efficiency or computational complexity of an algorithm is called </a:t>
            </a:r>
            <a:r>
              <a:rPr lang="en-US" i="1" dirty="0"/>
              <a:t>big-O notation:</a:t>
            </a:r>
          </a:p>
          <a:p>
            <a:pPr lvl="1">
              <a:spcBef>
                <a:spcPts val="1000"/>
              </a:spcBef>
            </a:pPr>
            <a:r>
              <a:rPr lang="en-US" dirty="0"/>
              <a:t>“O” stands for “on the order of,” a reference to the order of complexity of the work of the algorithm</a:t>
            </a:r>
          </a:p>
          <a:p>
            <a:pPr marL="291600" indent="-291600">
              <a:spcBef>
                <a:spcPts val="1000"/>
              </a:spcBef>
            </a:pPr>
            <a:r>
              <a:rPr lang="en-US" dirty="0"/>
              <a:t>For example,</a:t>
            </a:r>
          </a:p>
          <a:p>
            <a:pPr lvl="1">
              <a:spcBef>
                <a:spcPts val="1000"/>
              </a:spcBef>
            </a:pPr>
            <a:r>
              <a:rPr lang="en-US" dirty="0"/>
              <a:t>The order of complexity of a linear-time algorithm is O</a:t>
            </a:r>
            <a:r>
              <a:rPr lang="en-US" i="1" dirty="0"/>
              <a:t>(n)</a:t>
            </a:r>
          </a:p>
          <a:p>
            <a:pPr lvl="1">
              <a:spcBef>
                <a:spcPts val="1000"/>
              </a:spcBef>
            </a:pPr>
            <a:r>
              <a:rPr lang="en-US" dirty="0"/>
              <a:t>Big-O notation formalizes our discussion of orders of complexity</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3053256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Role of the Constant of Proportionality</a:t>
            </a:r>
          </a:p>
        </p:txBody>
      </p:sp>
      <p:sp>
        <p:nvSpPr>
          <p:cNvPr id="3" name="Content Placeholder 2"/>
          <p:cNvSpPr>
            <a:spLocks noGrp="1"/>
          </p:cNvSpPr>
          <p:nvPr>
            <p:ph idx="1"/>
          </p:nvPr>
        </p:nvSpPr>
        <p:spPr>
          <a:xfrm>
            <a:off x="628650" y="1825625"/>
            <a:ext cx="7886700" cy="2974975"/>
          </a:xfrm>
        </p:spPr>
        <p:txBody>
          <a:bodyPr>
            <a:normAutofit lnSpcReduction="10000"/>
          </a:bodyPr>
          <a:lstStyle/>
          <a:p>
            <a:pPr marL="291600" indent="-291600">
              <a:lnSpc>
                <a:spcPct val="100000"/>
              </a:lnSpc>
              <a:spcBef>
                <a:spcPts val="1000"/>
              </a:spcBef>
            </a:pPr>
            <a:r>
              <a:rPr lang="en-US" dirty="0"/>
              <a:t>Constant of proportionality</a:t>
            </a:r>
          </a:p>
          <a:p>
            <a:pPr lvl="1">
              <a:lnSpc>
                <a:spcPct val="100000"/>
              </a:lnSpc>
              <a:spcBef>
                <a:spcPts val="1000"/>
              </a:spcBef>
            </a:pPr>
            <a:r>
              <a:rPr lang="en-US" dirty="0"/>
              <a:t>Involves the terms and coefficients that are usually ignored during the big-O analysis</a:t>
            </a:r>
          </a:p>
          <a:p>
            <a:pPr marL="291600" indent="-291600">
              <a:lnSpc>
                <a:spcPct val="100000"/>
              </a:lnSpc>
              <a:spcBef>
                <a:spcPts val="1000"/>
              </a:spcBef>
            </a:pPr>
            <a:r>
              <a:rPr lang="en-US" dirty="0"/>
              <a:t>For example,</a:t>
            </a:r>
          </a:p>
          <a:p>
            <a:pPr lvl="1">
              <a:lnSpc>
                <a:spcPct val="100000"/>
              </a:lnSpc>
              <a:spcBef>
                <a:spcPts val="1000"/>
              </a:spcBef>
            </a:pPr>
            <a:r>
              <a:rPr lang="en-US" dirty="0"/>
              <a:t>The work performed by a linear time algorithm might be expressed as </a:t>
            </a:r>
            <a:r>
              <a:rPr lang="en-US" i="1" dirty="0"/>
              <a:t>work</a:t>
            </a:r>
            <a:r>
              <a:rPr lang="en-US" dirty="0"/>
              <a:t> = 2 * </a:t>
            </a:r>
            <a:r>
              <a:rPr lang="en-US" i="1" dirty="0"/>
              <a:t>size</a:t>
            </a:r>
            <a:r>
              <a:rPr lang="en-US" dirty="0"/>
              <a:t>, where the constant of proportionality, 2 in this case, is </a:t>
            </a:r>
            <a:r>
              <a:rPr lang="en-US" i="1" dirty="0"/>
              <a:t>work </a:t>
            </a:r>
            <a:r>
              <a:rPr lang="en-US" dirty="0"/>
              <a:t>/ </a:t>
            </a:r>
            <a:r>
              <a:rPr lang="en-US" i="1" dirty="0"/>
              <a:t>size</a:t>
            </a:r>
          </a:p>
          <a:p>
            <a:pPr marL="291600" indent="-291600">
              <a:lnSpc>
                <a:spcPct val="100000"/>
              </a:lnSpc>
              <a:spcBef>
                <a:spcPts val="1000"/>
              </a:spcBef>
            </a:pPr>
            <a:r>
              <a:rPr lang="en-US" dirty="0"/>
              <a:t>Try to determine the constant of proportionality for the first algorithm discussed in this chapter – the code:</a:t>
            </a:r>
            <a:endParaRPr lang="en-US" dirty="0">
              <a:latin typeface="Courier New" panose="02070309020205020404" pitchFamily="49" charset="0"/>
              <a:cs typeface="Courier New" panose="02070309020205020404" pitchFamily="49" charset="0"/>
            </a:endParaRPr>
          </a:p>
        </p:txBody>
      </p:sp>
      <p:sp>
        <p:nvSpPr>
          <p:cNvPr id="5" name="Content Placeholder 4"/>
          <p:cNvSpPr>
            <a:spLocks noGrp="1"/>
          </p:cNvSpPr>
          <p:nvPr>
            <p:ph sz="quarter" idx="12"/>
          </p:nvPr>
        </p:nvSpPr>
        <p:spPr>
          <a:xfrm>
            <a:off x="593140" y="4846824"/>
            <a:ext cx="4817060" cy="1143000"/>
          </a:xfrm>
        </p:spPr>
        <p:txBody>
          <a:bodyPr>
            <a:normAutofit lnSpcReduction="10000"/>
          </a:bodyPr>
          <a:lstStyle/>
          <a:p>
            <a:pPr marL="342900" lvl="1" indent="0">
              <a:buNone/>
            </a:pPr>
            <a:r>
              <a:rPr lang="en-US" b="1" dirty="0">
                <a:latin typeface="Courier New" panose="02070309020205020404" pitchFamily="49" charset="0"/>
                <a:cs typeface="Courier New" panose="02070309020205020404" pitchFamily="49" charset="0"/>
              </a:rPr>
              <a:t>work = 1</a:t>
            </a:r>
            <a:endParaRPr lang="en-US" dirty="0">
              <a:latin typeface="Courier New" panose="02070309020205020404" pitchFamily="49" charset="0"/>
              <a:cs typeface="Courier New" panose="02070309020205020404" pitchFamily="49" charset="0"/>
            </a:endParaRPr>
          </a:p>
          <a:p>
            <a:pPr marL="342900" lvl="1" indent="0">
              <a:buNone/>
            </a:pPr>
            <a:r>
              <a:rPr lang="en-US" b="1" dirty="0">
                <a:latin typeface="Courier New" panose="02070309020205020404" pitchFamily="49" charset="0"/>
                <a:cs typeface="Courier New" panose="02070309020205020404" pitchFamily="49" charset="0"/>
              </a:rPr>
              <a:t>for x in range(</a:t>
            </a:r>
            <a:r>
              <a:rPr lang="en-US" b="1" dirty="0" err="1">
                <a:latin typeface="Courier New" panose="02070309020205020404" pitchFamily="49" charset="0"/>
                <a:cs typeface="Courier New" panose="02070309020205020404" pitchFamily="49" charset="0"/>
              </a:rPr>
              <a:t>problemSize</a:t>
            </a:r>
            <a:r>
              <a:rPr lang="en-US" b="1" dirty="0">
                <a:latin typeface="Courier New" panose="02070309020205020404" pitchFamily="49" charset="0"/>
                <a:cs typeface="Courier New" panose="02070309020205020404" pitchFamily="49" charset="0"/>
              </a:rPr>
              <a:t>):</a:t>
            </a:r>
            <a:endParaRPr lang="en-US" dirty="0">
              <a:latin typeface="Courier New" panose="02070309020205020404" pitchFamily="49" charset="0"/>
              <a:cs typeface="Courier New" panose="02070309020205020404" pitchFamily="49" charset="0"/>
            </a:endParaRPr>
          </a:p>
          <a:p>
            <a:pPr marL="342900" lvl="1" indent="0">
              <a:buNone/>
            </a:pPr>
            <a:r>
              <a:rPr lang="en-US" b="1" dirty="0">
                <a:latin typeface="Courier New" panose="02070309020205020404" pitchFamily="49" charset="0"/>
                <a:cs typeface="Courier New" panose="02070309020205020404" pitchFamily="49" charset="0"/>
              </a:rPr>
              <a:t>    work += 1</a:t>
            </a:r>
            <a:endParaRPr lang="en-US" dirty="0">
              <a:latin typeface="Courier New" panose="02070309020205020404" pitchFamily="49" charset="0"/>
              <a:cs typeface="Courier New" panose="02070309020205020404" pitchFamily="49" charset="0"/>
            </a:endParaRPr>
          </a:p>
          <a:p>
            <a:pPr marL="342900" lvl="1" indent="0">
              <a:buNone/>
            </a:pPr>
            <a:r>
              <a:rPr lang="en-US" b="1" dirty="0">
                <a:latin typeface="Courier New" panose="02070309020205020404" pitchFamily="49" charset="0"/>
                <a:cs typeface="Courier New" panose="02070309020205020404" pitchFamily="49" charset="0"/>
              </a:rPr>
              <a:t>    work -= 1&lt;/</a:t>
            </a:r>
            <a:endParaRPr lang="en-IN" dirty="0"/>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864969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Search Algorithms</a:t>
            </a:r>
          </a:p>
        </p:txBody>
      </p:sp>
      <p:sp>
        <p:nvSpPr>
          <p:cNvPr id="3" name="Content Placeholder 2"/>
          <p:cNvSpPr>
            <a:spLocks noGrp="1"/>
          </p:cNvSpPr>
          <p:nvPr>
            <p:ph idx="1"/>
          </p:nvPr>
        </p:nvSpPr>
        <p:spPr>
          <a:xfrm>
            <a:off x="628650" y="1825625"/>
            <a:ext cx="7886700" cy="2365375"/>
          </a:xfrm>
        </p:spPr>
        <p:txBody>
          <a:bodyPr/>
          <a:lstStyle/>
          <a:p>
            <a:pPr marL="291600" indent="-291600">
              <a:spcBef>
                <a:spcPts val="1000"/>
              </a:spcBef>
            </a:pPr>
            <a:r>
              <a:rPr lang="en-US" dirty="0"/>
              <a:t>This section covers several algorithms that can be used for searching and sorting lists</a:t>
            </a:r>
          </a:p>
          <a:p>
            <a:pPr marL="291600" indent="-291600">
              <a:spcBef>
                <a:spcPts val="1000"/>
              </a:spcBef>
            </a:pPr>
            <a:r>
              <a:rPr lang="en-US" dirty="0"/>
              <a:t>You will</a:t>
            </a:r>
          </a:p>
          <a:p>
            <a:pPr lvl="1">
              <a:spcBef>
                <a:spcPts val="1000"/>
              </a:spcBef>
            </a:pPr>
            <a:r>
              <a:rPr lang="en-US" dirty="0"/>
              <a:t>Learn the design of an algorithm</a:t>
            </a:r>
          </a:p>
          <a:p>
            <a:pPr lvl="1">
              <a:spcBef>
                <a:spcPts val="1000"/>
              </a:spcBef>
            </a:pPr>
            <a:r>
              <a:rPr lang="en-US" dirty="0"/>
              <a:t>See its implementation as a Python function</a:t>
            </a:r>
          </a:p>
          <a:p>
            <a:pPr lvl="1">
              <a:spcBef>
                <a:spcPts val="1000"/>
              </a:spcBef>
            </a:pPr>
            <a:r>
              <a:rPr lang="en-US" dirty="0"/>
              <a:t>See an analysis of the algorithm’s computational complexity</a:t>
            </a:r>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624600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Search for the Minimum</a:t>
            </a:r>
          </a:p>
        </p:txBody>
      </p:sp>
      <p:sp>
        <p:nvSpPr>
          <p:cNvPr id="3" name="Content Placeholder 2"/>
          <p:cNvSpPr>
            <a:spLocks noGrp="1"/>
          </p:cNvSpPr>
          <p:nvPr>
            <p:ph idx="1"/>
          </p:nvPr>
        </p:nvSpPr>
        <p:spPr>
          <a:xfrm>
            <a:off x="628650" y="1825625"/>
            <a:ext cx="7886700" cy="307975"/>
          </a:xfrm>
        </p:spPr>
        <p:txBody>
          <a:bodyPr/>
          <a:lstStyle/>
          <a:p>
            <a:pPr marL="291600" indent="-291600">
              <a:spcBef>
                <a:spcPts val="1000"/>
              </a:spcBef>
            </a:pPr>
            <a:r>
              <a:rPr lang="en-US" dirty="0"/>
              <a:t>Python code for algorithm in function </a:t>
            </a:r>
            <a:r>
              <a:rPr lang="en-US" b="1" dirty="0">
                <a:latin typeface="Courier New" panose="02070309020205020404" pitchFamily="49" charset="0"/>
                <a:cs typeface="Courier New" panose="02070309020205020404" pitchFamily="49" charset="0"/>
              </a:rPr>
              <a:t>indexOfMin</a:t>
            </a:r>
            <a:r>
              <a:rPr lang="en-US" dirty="0"/>
              <a:t>:</a:t>
            </a:r>
          </a:p>
        </p:txBody>
      </p:sp>
      <p:sp>
        <p:nvSpPr>
          <p:cNvPr id="5" name="Content Placeholder 4"/>
          <p:cNvSpPr>
            <a:spLocks noGrp="1"/>
          </p:cNvSpPr>
          <p:nvPr>
            <p:ph sz="quarter" idx="12"/>
          </p:nvPr>
        </p:nvSpPr>
        <p:spPr>
          <a:xfrm>
            <a:off x="761817" y="2286000"/>
            <a:ext cx="6553383" cy="2133600"/>
          </a:xfrm>
        </p:spPr>
        <p:txBody>
          <a:bodyPr>
            <a:normAutofit lnSpcReduction="10000"/>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indexOfMin</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panose="02070309020205020404" pitchFamily="49" charset="0"/>
                <a:ea typeface="MS Mincho"/>
                <a:cs typeface="Bank Gothic Bold"/>
              </a:rPr>
              <a:t>    </a:t>
            </a:r>
            <a:r>
              <a:rPr lang="en-US" b="1" dirty="0">
                <a:solidFill>
                  <a:srgbClr val="006800"/>
                </a:solidFill>
                <a:latin typeface="Courier New" panose="02070309020205020404" pitchFamily="49" charset="0"/>
                <a:ea typeface="MS Mincho"/>
                <a:cs typeface="Bank Gothic Bold"/>
              </a:rPr>
              <a:t>"""Returns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index</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minimum</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item."""</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minIndex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currentIndex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currentIndex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err="1">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currentIndex</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minIndex</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minIndex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currentIndex</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currentIndex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342900" lvl="1" indent="0">
              <a:buNone/>
            </a:pPr>
            <a:r>
              <a:rPr lang="en-US" b="1" dirty="0">
                <a:solidFill>
                  <a:srgbClr val="FF6600"/>
                </a:solidFill>
                <a:latin typeface="Courier New" panose="02070309020205020404" pitchFamily="49" charset="0"/>
                <a:ea typeface="MS Mincho"/>
              </a:rPr>
              <a:t>   </a:t>
            </a:r>
            <a:r>
              <a:rPr lang="en-US" b="1" dirty="0">
                <a:solidFill>
                  <a:srgbClr val="8A3800"/>
                </a:solidFill>
                <a:latin typeface="Courier New" panose="02070309020205020404" pitchFamily="49" charset="0"/>
                <a:ea typeface="MS Mincho"/>
              </a:rPr>
              <a:t>return</a:t>
            </a:r>
            <a:r>
              <a:rPr lang="en-US" b="1" dirty="0">
                <a:latin typeface="Times" panose="02020603050405020304" pitchFamily="18" charset="0"/>
                <a:ea typeface="MS Mincho"/>
              </a:rPr>
              <a:t> </a:t>
            </a:r>
            <a:r>
              <a:rPr lang="en-US" b="1" dirty="0" err="1">
                <a:latin typeface="Courier New" panose="02070309020205020404" pitchFamily="49" charset="0"/>
                <a:ea typeface="MS Mincho"/>
              </a:rPr>
              <a:t>minIndex</a:t>
            </a:r>
            <a:endParaRPr lang="en-IN" dirty="0"/>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124061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Sequential Search of a List</a:t>
            </a:r>
          </a:p>
        </p:txBody>
      </p:sp>
      <p:sp>
        <p:nvSpPr>
          <p:cNvPr id="3" name="Content Placeholder 2"/>
          <p:cNvSpPr>
            <a:spLocks noGrp="1"/>
          </p:cNvSpPr>
          <p:nvPr>
            <p:ph idx="1"/>
          </p:nvPr>
        </p:nvSpPr>
        <p:spPr>
          <a:xfrm>
            <a:off x="628650" y="1807869"/>
            <a:ext cx="7886700" cy="307975"/>
          </a:xfrm>
        </p:spPr>
        <p:txBody>
          <a:bodyPr/>
          <a:lstStyle/>
          <a:p>
            <a:pPr marL="291600" indent="-291600">
              <a:spcBef>
                <a:spcPts val="1000"/>
              </a:spcBef>
            </a:pPr>
            <a:r>
              <a:rPr lang="en-US" dirty="0"/>
              <a:t>Python code for a sequential search function:</a:t>
            </a:r>
          </a:p>
        </p:txBody>
      </p:sp>
      <p:sp>
        <p:nvSpPr>
          <p:cNvPr id="5" name="Content Placeholder 4"/>
          <p:cNvSpPr>
            <a:spLocks noGrp="1"/>
          </p:cNvSpPr>
          <p:nvPr>
            <p:ph sz="quarter" idx="12"/>
          </p:nvPr>
        </p:nvSpPr>
        <p:spPr>
          <a:xfrm>
            <a:off x="770878" y="2274200"/>
            <a:ext cx="7391400" cy="2292624"/>
          </a:xfrm>
        </p:spPr>
        <p:txBody>
          <a:bodyPr>
            <a:normAutofit/>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err="1">
                <a:solidFill>
                  <a:srgbClr val="0000FF"/>
                </a:solidFill>
                <a:latin typeface="Courier New" panose="02070309020205020404" pitchFamily="49" charset="0"/>
                <a:ea typeface="MS Mincho"/>
                <a:cs typeface="Bank Gothic Bold"/>
              </a:rPr>
              <a:t>sequentialSearch</a:t>
            </a:r>
            <a:r>
              <a:rPr lang="en-US" b="1" dirty="0">
                <a:latin typeface="Courier New" panose="02070309020205020404" pitchFamily="49" charset="0"/>
                <a:ea typeface="MS Mincho"/>
                <a:cs typeface="Bank Gothic Bold"/>
              </a:rPr>
              <a:t>(target,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panose="02070309020205020404" pitchFamily="49" charset="0"/>
                <a:ea typeface="MS Mincho"/>
                <a:cs typeface="Bank Gothic Bold"/>
              </a:rPr>
              <a:t>    </a:t>
            </a:r>
            <a:r>
              <a:rPr lang="en-US" b="1" dirty="0">
                <a:solidFill>
                  <a:srgbClr val="006800"/>
                </a:solidFill>
                <a:latin typeface="Courier New" panose="02070309020205020404" pitchFamily="49" charset="0"/>
                <a:ea typeface="MS Mincho"/>
                <a:cs typeface="Bank Gothic Bold"/>
              </a:rPr>
              <a:t>"""Returns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position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target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item</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found,</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panose="02070309020205020404" pitchFamily="49" charset="0"/>
                <a:ea typeface="MS Mincho"/>
                <a:cs typeface="Bank Gothic Bold"/>
              </a:rPr>
              <a:t>    or</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-1</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otherwise."""</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position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position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err="1">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target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[position]:</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position</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position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342900" lvl="1" indent="0">
              <a:buNone/>
            </a:pPr>
            <a:r>
              <a:rPr lang="en-US" b="1" dirty="0">
                <a:solidFill>
                  <a:srgbClr val="FF6600"/>
                </a:solidFill>
                <a:latin typeface="Courier New" panose="02070309020205020404" pitchFamily="49" charset="0"/>
                <a:ea typeface="MS Mincho"/>
              </a:rPr>
              <a:t>   </a:t>
            </a:r>
            <a:r>
              <a:rPr lang="en-US" b="1" dirty="0">
                <a:solidFill>
                  <a:srgbClr val="8A3800"/>
                </a:solidFill>
                <a:latin typeface="Courier New" panose="02070309020205020404" pitchFamily="49" charset="0"/>
                <a:ea typeface="MS Mincho"/>
              </a:rPr>
              <a:t>return</a:t>
            </a:r>
            <a:r>
              <a:rPr lang="en-US" b="1" dirty="0">
                <a:latin typeface="Times" panose="02020603050405020304" pitchFamily="18" charset="0"/>
                <a:ea typeface="MS Mincho"/>
              </a:rPr>
              <a:t> </a:t>
            </a:r>
            <a:r>
              <a:rPr lang="en-US" b="1" dirty="0">
                <a:latin typeface="Courier New" panose="02070309020205020404" pitchFamily="49" charset="0"/>
                <a:ea typeface="MS Mincho"/>
              </a:rPr>
              <a:t>-1</a:t>
            </a:r>
            <a:endParaRPr lang="en-IN" dirty="0"/>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00591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77874"/>
          </a:xfrm>
        </p:spPr>
        <p:txBody>
          <a:bodyPr/>
          <a:lstStyle/>
          <a:p>
            <a:r>
              <a:rPr lang="en-US" b="1" dirty="0"/>
              <a:t>Best-Case, Worst-Case, and Average-Case Performance</a:t>
            </a:r>
          </a:p>
        </p:txBody>
      </p:sp>
      <p:sp>
        <p:nvSpPr>
          <p:cNvPr id="3" name="Content Placeholder 2"/>
          <p:cNvSpPr>
            <a:spLocks noGrp="1"/>
          </p:cNvSpPr>
          <p:nvPr>
            <p:ph idx="1"/>
          </p:nvPr>
        </p:nvSpPr>
        <p:spPr>
          <a:xfrm>
            <a:off x="628650" y="1529000"/>
            <a:ext cx="7886700" cy="4490800"/>
          </a:xfrm>
        </p:spPr>
        <p:txBody>
          <a:bodyPr>
            <a:normAutofit lnSpcReduction="10000"/>
          </a:bodyPr>
          <a:lstStyle/>
          <a:p>
            <a:pPr marL="291600" indent="-291600">
              <a:spcBef>
                <a:spcPts val="1000"/>
              </a:spcBef>
            </a:pPr>
            <a:r>
              <a:rPr lang="en-US" dirty="0"/>
              <a:t>The performance of some algorithms depends on the placement of the data processed:</a:t>
            </a:r>
          </a:p>
          <a:p>
            <a:pPr lvl="1">
              <a:spcBef>
                <a:spcPts val="1000"/>
              </a:spcBef>
            </a:pPr>
            <a:r>
              <a:rPr lang="en-US" dirty="0"/>
              <a:t>The sequential search algorithm does less work to find a target at the beginning of a list than at the end of the list</a:t>
            </a:r>
          </a:p>
          <a:p>
            <a:pPr marL="291600" indent="-291600">
              <a:spcBef>
                <a:spcPts val="1000"/>
              </a:spcBef>
            </a:pPr>
            <a:r>
              <a:rPr lang="en-US" dirty="0"/>
              <a:t>Analysis of a sequential search considers three cases:</a:t>
            </a:r>
          </a:p>
          <a:p>
            <a:pPr lvl="1">
              <a:spcBef>
                <a:spcPts val="1000"/>
              </a:spcBef>
            </a:pPr>
            <a:r>
              <a:rPr lang="en-US" dirty="0"/>
              <a:t>In the worst case, the target item is at the end of the list or not in the list at all:</a:t>
            </a:r>
          </a:p>
          <a:p>
            <a:pPr lvl="2">
              <a:spcBef>
                <a:spcPts val="1000"/>
              </a:spcBef>
            </a:pPr>
            <a:r>
              <a:rPr lang="en-US" dirty="0"/>
              <a:t>Algorithm must visit every item and perform </a:t>
            </a:r>
            <a:r>
              <a:rPr lang="en-US" i="1" dirty="0"/>
              <a:t>n </a:t>
            </a:r>
            <a:r>
              <a:rPr lang="en-US" dirty="0"/>
              <a:t>iterations for a list of size </a:t>
            </a:r>
            <a:r>
              <a:rPr lang="en-US" i="1" dirty="0"/>
              <a:t>n</a:t>
            </a:r>
            <a:endParaRPr lang="en-US" dirty="0"/>
          </a:p>
          <a:p>
            <a:pPr lvl="2">
              <a:spcBef>
                <a:spcPts val="1000"/>
              </a:spcBef>
            </a:pPr>
            <a:r>
              <a:rPr lang="en-US" dirty="0"/>
              <a:t>Thus, the worst-case complexity of a sequential search is O(</a:t>
            </a:r>
            <a:r>
              <a:rPr lang="en-US" i="1" dirty="0"/>
              <a:t>n</a:t>
            </a:r>
            <a:r>
              <a:rPr lang="en-US" dirty="0"/>
              <a:t>)</a:t>
            </a:r>
          </a:p>
          <a:p>
            <a:pPr lvl="1">
              <a:spcBef>
                <a:spcPts val="1000"/>
              </a:spcBef>
            </a:pPr>
            <a:r>
              <a:rPr lang="en-US" dirty="0"/>
              <a:t>In the best case, the algorithm finds the target at the first position, after making one iteration, for an O(1) complexity</a:t>
            </a:r>
          </a:p>
          <a:p>
            <a:pPr lvl="1">
              <a:spcBef>
                <a:spcPts val="1000"/>
              </a:spcBef>
            </a:pPr>
            <a:r>
              <a:rPr lang="en-US" dirty="0"/>
              <a:t>To determine the average case, add the number of iterations required to find the target at each possible position and divide the sum by </a:t>
            </a:r>
            <a:r>
              <a:rPr lang="en-US" i="1" dirty="0"/>
              <a:t>n:</a:t>
            </a:r>
            <a:endParaRPr lang="en-US" dirty="0"/>
          </a:p>
          <a:p>
            <a:pPr lvl="2"/>
            <a:r>
              <a:rPr lang="en-US" dirty="0"/>
              <a:t>Thus, the algorithm performs</a:t>
            </a:r>
          </a:p>
        </p:txBody>
      </p:sp>
      <p:graphicFrame>
        <p:nvGraphicFramePr>
          <p:cNvPr id="7" name="Content Placeholder 6" descr="(n + n minus 1 + n minus 2 + ellipsis + 1), over n, or (n + 1), over 2 iterations."/>
          <p:cNvGraphicFramePr>
            <a:graphicFrameLocks noGrp="1" noChangeAspect="1"/>
          </p:cNvGraphicFramePr>
          <p:nvPr>
            <p:ph sz="quarter" idx="12"/>
            <p:extLst>
              <p:ext uri="{D42A27DB-BD31-4B8C-83A1-F6EECF244321}">
                <p14:modId xmlns:p14="http://schemas.microsoft.com/office/powerpoint/2010/main" val="4202846158"/>
              </p:ext>
            </p:extLst>
          </p:nvPr>
        </p:nvGraphicFramePr>
        <p:xfrm>
          <a:off x="4114800" y="5516249"/>
          <a:ext cx="3004729" cy="427351"/>
        </p:xfrm>
        <a:graphic>
          <a:graphicData uri="http://schemas.openxmlformats.org/presentationml/2006/ole">
            <mc:AlternateContent xmlns:mc="http://schemas.openxmlformats.org/markup-compatibility/2006">
              <mc:Choice xmlns:v="urn:schemas-microsoft-com:vml" Requires="v">
                <p:oleObj spid="_x0000_s2210" name="Equation" r:id="rId4" imgW="3035160" imgH="431640" progId="Equation.DSMT4">
                  <p:embed/>
                </p:oleObj>
              </mc:Choice>
              <mc:Fallback>
                <p:oleObj name="Equation" r:id="rId4" imgW="3035160" imgH="431640" progId="Equation.DSMT4">
                  <p:embed/>
                  <p:pic>
                    <p:nvPicPr>
                      <p:cNvPr id="0" name=""/>
                      <p:cNvPicPr/>
                      <p:nvPr/>
                    </p:nvPicPr>
                    <p:blipFill>
                      <a:blip r:embed="rId5"/>
                      <a:stretch>
                        <a:fillRect/>
                      </a:stretch>
                    </p:blipFill>
                    <p:spPr>
                      <a:xfrm>
                        <a:off x="4114800" y="5516249"/>
                        <a:ext cx="3004729" cy="427351"/>
                      </a:xfrm>
                      <a:prstGeom prst="rect">
                        <a:avLst/>
                      </a:prstGeom>
                    </p:spPr>
                  </p:pic>
                </p:oleObj>
              </mc:Fallback>
            </mc:AlternateContent>
          </a:graphicData>
        </a:graphic>
      </p:graphicFrame>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075817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Binary Search of a Sorted List </a:t>
            </a:r>
            <a:r>
              <a:rPr lang="en-US" sz="2000" dirty="0"/>
              <a:t>(1 of 2)</a:t>
            </a:r>
          </a:p>
        </p:txBody>
      </p:sp>
      <p:sp>
        <p:nvSpPr>
          <p:cNvPr id="3" name="Content Placeholder 2"/>
          <p:cNvSpPr>
            <a:spLocks noGrp="1"/>
          </p:cNvSpPr>
          <p:nvPr>
            <p:ph idx="1"/>
          </p:nvPr>
        </p:nvSpPr>
        <p:spPr>
          <a:xfrm>
            <a:off x="628650" y="1825625"/>
            <a:ext cx="7886700" cy="307975"/>
          </a:xfrm>
        </p:spPr>
        <p:txBody>
          <a:bodyPr/>
          <a:lstStyle/>
          <a:p>
            <a:pPr marL="291600" indent="-291600">
              <a:spcBef>
                <a:spcPts val="1000"/>
              </a:spcBef>
            </a:pPr>
            <a:r>
              <a:rPr lang="en-US" dirty="0"/>
              <a:t>Python code for the binary search function:</a:t>
            </a:r>
          </a:p>
        </p:txBody>
      </p:sp>
      <p:sp>
        <p:nvSpPr>
          <p:cNvPr id="5" name="Content Placeholder 4"/>
          <p:cNvSpPr>
            <a:spLocks noGrp="1"/>
          </p:cNvSpPr>
          <p:nvPr>
            <p:ph sz="quarter" idx="12"/>
          </p:nvPr>
        </p:nvSpPr>
        <p:spPr>
          <a:xfrm>
            <a:off x="770878" y="2255958"/>
            <a:ext cx="7162800" cy="3074342"/>
          </a:xfrm>
        </p:spPr>
        <p:txBody>
          <a:bodyPr>
            <a:normAutofit/>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err="1">
                <a:solidFill>
                  <a:srgbClr val="0000FF"/>
                </a:solidFill>
                <a:latin typeface="Courier New" panose="02070309020205020404" pitchFamily="49" charset="0"/>
                <a:ea typeface="MS Mincho"/>
                <a:cs typeface="Bank Gothic Bold"/>
              </a:rPr>
              <a:t>binarySearch</a:t>
            </a:r>
            <a:r>
              <a:rPr lang="en-US" b="1" dirty="0">
                <a:latin typeface="Courier New" panose="02070309020205020404" pitchFamily="49" charset="0"/>
                <a:ea typeface="MS Mincho"/>
                <a:cs typeface="Bank Gothic Bold"/>
              </a:rPr>
              <a:t>(target,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sortedLyst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right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sortedLyst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midpoint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2</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target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sortedLyst</a:t>
            </a:r>
            <a:r>
              <a:rPr lang="en-US" b="1" dirty="0">
                <a:latin typeface="Courier New" panose="02070309020205020404" pitchFamily="49" charset="0"/>
                <a:ea typeface="MS Mincho"/>
                <a:cs typeface="Bank Gothic Bold"/>
              </a:rPr>
              <a:t>[midpoint]:</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midpoint</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err="1">
                <a:solidFill>
                  <a:srgbClr val="8A3800"/>
                </a:solidFill>
                <a:latin typeface="Courier New" panose="02070309020205020404" pitchFamily="49" charset="0"/>
                <a:ea typeface="MS Mincho"/>
                <a:cs typeface="Bank Gothic Bold"/>
              </a:rPr>
              <a:t>elif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target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sortedLyst</a:t>
            </a:r>
            <a:r>
              <a:rPr lang="en-US" b="1" dirty="0">
                <a:latin typeface="Courier New" panose="02070309020205020404" pitchFamily="49" charset="0"/>
                <a:ea typeface="MS Mincho"/>
                <a:cs typeface="Bank Gothic Bold"/>
              </a:rPr>
              <a:t>[midpoint]: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right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midpoint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else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midpoint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342900" lvl="1" indent="0">
              <a:buNone/>
            </a:pPr>
            <a:r>
              <a:rPr lang="en-US" b="1" dirty="0">
                <a:solidFill>
                  <a:srgbClr val="FF6600"/>
                </a:solidFill>
                <a:latin typeface="Courier New" panose="02070309020205020404" pitchFamily="49" charset="0"/>
                <a:ea typeface="MS Mincho"/>
              </a:rPr>
              <a:t>   </a:t>
            </a:r>
            <a:r>
              <a:rPr lang="en-US" b="1" dirty="0">
                <a:solidFill>
                  <a:srgbClr val="8A3800"/>
                </a:solidFill>
                <a:latin typeface="Courier New" panose="02070309020205020404" pitchFamily="49" charset="0"/>
                <a:ea typeface="MS Mincho"/>
              </a:rPr>
              <a:t>return</a:t>
            </a:r>
            <a:r>
              <a:rPr lang="en-US" b="1" dirty="0">
                <a:solidFill>
                  <a:srgbClr val="8A3800"/>
                </a:solidFill>
                <a:latin typeface="Times" panose="02020603050405020304" pitchFamily="18" charset="0"/>
                <a:ea typeface="MS Mincho"/>
              </a:rPr>
              <a:t> </a:t>
            </a:r>
            <a:r>
              <a:rPr lang="en-US" b="1" dirty="0">
                <a:latin typeface="Courier New" panose="02070309020205020404" pitchFamily="49" charset="0"/>
                <a:ea typeface="MS Mincho"/>
              </a:rPr>
              <a:t>-1</a:t>
            </a:r>
            <a:endParaRPr lang="en-IN" dirty="0"/>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550180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Binary Search of a Sorted List </a:t>
            </a:r>
            <a:r>
              <a:rPr lang="en-US" sz="2000" dirty="0"/>
              <a:t>(2 of 2)</a:t>
            </a:r>
          </a:p>
        </p:txBody>
      </p:sp>
      <p:sp>
        <p:nvSpPr>
          <p:cNvPr id="3" name="Content Placeholder 2"/>
          <p:cNvSpPr>
            <a:spLocks noGrp="1"/>
          </p:cNvSpPr>
          <p:nvPr>
            <p:ph idx="1"/>
          </p:nvPr>
        </p:nvSpPr>
        <p:spPr>
          <a:xfrm>
            <a:off x="628650" y="1825625"/>
            <a:ext cx="8210550" cy="460375"/>
          </a:xfrm>
        </p:spPr>
        <p:txBody>
          <a:bodyPr/>
          <a:lstStyle/>
          <a:p>
            <a:pPr marL="0" indent="0">
              <a:spcBef>
                <a:spcPts val="1000"/>
              </a:spcBef>
              <a:buNone/>
            </a:pPr>
            <a:r>
              <a:rPr lang="en-IN" b="1" dirty="0"/>
              <a:t>Figure 3-7: </a:t>
            </a:r>
            <a:r>
              <a:rPr lang="en-IN" dirty="0"/>
              <a:t>The items of a list visited during a binary search for 10</a:t>
            </a:r>
            <a:endParaRPr lang="en-US" dirty="0"/>
          </a:p>
        </p:txBody>
      </p:sp>
      <p:pic>
        <p:nvPicPr>
          <p:cNvPr id="7" name="Content Placeholder 6" descr="Illustration shows how items in a list are visited in a binary search for the item 10. Comparison 1. Numbers from 1 to 9 in a row in boxes. The number 5 is compared here. Comparison 2. The numbers from 1 to 9 are split into two rows. 1 to 4 in a row and 6 to 9 in another row. The number 7 is compared. Comparison 3. The numbers 1 to 4 are split into two rows. 1 in a row of its own and the numbers 3 and 4 in another row. The numbers 6 to 9 are split into two rows. 6 in a row of its own and the numbers 8 and 9 in another row. The number 8 is compared. Comparison 4. The row with 3 and 4 is split into just the number 4. The row with 8 and 9 is split into just the number 9. Number 9 is compared."/>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2070079" y="2489820"/>
            <a:ext cx="4821721" cy="3016520"/>
          </a:xfrm>
        </p:spPr>
      </p:pic>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7066541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Comparing Data Items </a:t>
            </a:r>
            <a:r>
              <a:rPr lang="en-US" sz="2000" dirty="0"/>
              <a:t>(1 of 3)</a:t>
            </a:r>
          </a:p>
        </p:txBody>
      </p:sp>
      <p:sp>
        <p:nvSpPr>
          <p:cNvPr id="3" name="Content Placeholder 2"/>
          <p:cNvSpPr>
            <a:spLocks noGrp="1"/>
          </p:cNvSpPr>
          <p:nvPr>
            <p:ph idx="1"/>
          </p:nvPr>
        </p:nvSpPr>
        <p:spPr>
          <a:xfrm>
            <a:off x="628650" y="1825625"/>
            <a:ext cx="7886700" cy="3813175"/>
          </a:xfrm>
        </p:spPr>
        <p:txBody>
          <a:bodyPr/>
          <a:lstStyle/>
          <a:p>
            <a:pPr marL="291600" indent="-291600">
              <a:spcBef>
                <a:spcPts val="1000"/>
              </a:spcBef>
            </a:pPr>
            <a:r>
              <a:rPr lang="en-US" dirty="0"/>
              <a:t>To allow algorithms to use the comparison operators </a:t>
            </a:r>
            <a:r>
              <a:rPr lang="en-US" b="1" dirty="0">
                <a:latin typeface="Courier New" panose="02070309020205020404" pitchFamily="49" charset="0"/>
                <a:cs typeface="Courier New" panose="02070309020205020404" pitchFamily="49" charset="0"/>
              </a:rPr>
              <a:t>==</a:t>
            </a:r>
            <a:r>
              <a:rPr lang="en-US" dirty="0"/>
              <a:t>, </a:t>
            </a:r>
            <a:r>
              <a:rPr lang="en-US" b="1" dirty="0">
                <a:latin typeface="Courier New" panose="02070309020205020404" pitchFamily="49" charset="0"/>
                <a:cs typeface="Courier New" panose="02070309020205020404" pitchFamily="49" charset="0"/>
              </a:rPr>
              <a:t>&lt;</a:t>
            </a:r>
            <a:r>
              <a:rPr lang="en-US" dirty="0"/>
              <a:t>, and </a:t>
            </a:r>
            <a:r>
              <a:rPr lang="en-US" b="1" dirty="0">
                <a:latin typeface="Courier New" panose="02070309020205020404" pitchFamily="49" charset="0"/>
                <a:cs typeface="Courier New" panose="02070309020205020404" pitchFamily="49" charset="0"/>
              </a:rPr>
              <a:t>&gt;</a:t>
            </a:r>
            <a:r>
              <a:rPr lang="en-US" dirty="0"/>
              <a:t> with a new class of objects,</a:t>
            </a:r>
          </a:p>
          <a:p>
            <a:pPr lvl="1">
              <a:spcBef>
                <a:spcPts val="1000"/>
              </a:spcBef>
            </a:pPr>
            <a:r>
              <a:rPr lang="en-US" dirty="0"/>
              <a:t>The programmer should define the </a:t>
            </a:r>
            <a:r>
              <a:rPr lang="en-US" b="1" dirty="0">
                <a:latin typeface="Courier New" panose="02070309020205020404" pitchFamily="49" charset="0"/>
                <a:cs typeface="Courier New" panose="02070309020205020404" pitchFamily="49" charset="0"/>
              </a:rPr>
              <a:t>__</a:t>
            </a:r>
            <a:r>
              <a:rPr lang="en-US" b="1" dirty="0" err="1">
                <a:latin typeface="Courier New" panose="02070309020205020404" pitchFamily="49" charset="0"/>
                <a:cs typeface="Courier New" panose="02070309020205020404" pitchFamily="49" charset="0"/>
              </a:rPr>
              <a:t>eq</a:t>
            </a:r>
            <a:r>
              <a:rPr lang="en-US" b="1" dirty="0">
                <a:latin typeface="Courier New" panose="02070309020205020404" pitchFamily="49" charset="0"/>
                <a:cs typeface="Courier New" panose="02070309020205020404" pitchFamily="49" charset="0"/>
              </a:rPr>
              <a:t>__, __</a:t>
            </a:r>
            <a:r>
              <a:rPr lang="en-US" b="1" dirty="0" err="1">
                <a:latin typeface="Courier New" panose="02070309020205020404" pitchFamily="49" charset="0"/>
                <a:cs typeface="Courier New" panose="02070309020205020404" pitchFamily="49" charset="0"/>
              </a:rPr>
              <a:t>lt</a:t>
            </a:r>
            <a:r>
              <a:rPr lang="en-US" b="1" dirty="0">
                <a:latin typeface="Courier New" panose="02070309020205020404" pitchFamily="49" charset="0"/>
                <a:cs typeface="Courier New" panose="02070309020205020404" pitchFamily="49" charset="0"/>
              </a:rPr>
              <a:t>__, </a:t>
            </a:r>
            <a:r>
              <a:rPr lang="en-US" dirty="0"/>
              <a:t>and </a:t>
            </a:r>
            <a:r>
              <a:rPr lang="en-US" b="1" dirty="0">
                <a:latin typeface="Courier New" panose="02070309020205020404" pitchFamily="49" charset="0"/>
                <a:cs typeface="Courier New" panose="02070309020205020404" pitchFamily="49" charset="0"/>
              </a:rPr>
              <a:t>__gt__</a:t>
            </a:r>
            <a:r>
              <a:rPr lang="en-US" dirty="0">
                <a:latin typeface="Courier New" panose="02070309020205020404" pitchFamily="49" charset="0"/>
                <a:cs typeface="Courier New" panose="02070309020205020404" pitchFamily="49" charset="0"/>
              </a:rPr>
              <a:t> </a:t>
            </a:r>
            <a:r>
              <a:rPr lang="en-US" dirty="0"/>
              <a:t>methods in that class</a:t>
            </a:r>
          </a:p>
          <a:p>
            <a:pPr marL="291600" indent="-291600">
              <a:spcBef>
                <a:spcPts val="1000"/>
              </a:spcBef>
            </a:pPr>
            <a:r>
              <a:rPr lang="en-US" dirty="0"/>
              <a:t>If you do this, the methods for the other comparison operators will automatically be provided</a:t>
            </a:r>
          </a:p>
          <a:p>
            <a:pPr marL="291600" indent="-291600">
              <a:spcBef>
                <a:spcPts val="1000"/>
              </a:spcBef>
            </a:pPr>
            <a:r>
              <a:rPr lang="en-US" dirty="0"/>
              <a:t>The header of </a:t>
            </a:r>
            <a:r>
              <a:rPr lang="en-US" b="1" dirty="0">
                <a:latin typeface="Courier New" panose="02070309020205020404" pitchFamily="49" charset="0"/>
                <a:cs typeface="Courier New" panose="02070309020205020404" pitchFamily="49" charset="0"/>
              </a:rPr>
              <a:t>__lt__ </a:t>
            </a:r>
            <a:r>
              <a:rPr lang="en-US" dirty="0"/>
              <a:t>is the following:</a:t>
            </a:r>
          </a:p>
          <a:p>
            <a:pPr lvl="1">
              <a:spcBef>
                <a:spcPts val="1000"/>
              </a:spcBef>
            </a:pPr>
            <a:r>
              <a:rPr lang="en-US" b="1" dirty="0">
                <a:latin typeface="Courier New" panose="02070309020205020404" pitchFamily="49" charset="0"/>
                <a:cs typeface="Courier New" panose="02070309020205020404" pitchFamily="49" charset="0"/>
              </a:rPr>
              <a:t>def __lt__(self, other):</a:t>
            </a:r>
            <a:endParaRPr lang="en-US" dirty="0">
              <a:latin typeface="Courier New" panose="02070309020205020404" pitchFamily="49" charset="0"/>
              <a:cs typeface="Courier New" panose="02070309020205020404" pitchFamily="49" charset="0"/>
            </a:endParaRPr>
          </a:p>
          <a:p>
            <a:pPr marL="291600" indent="-291600">
              <a:spcBef>
                <a:spcPts val="1000"/>
              </a:spcBef>
            </a:pPr>
            <a:r>
              <a:rPr lang="en-US" dirty="0"/>
              <a:t>This method returns </a:t>
            </a:r>
            <a:r>
              <a:rPr lang="en-US" b="1" dirty="0">
                <a:latin typeface="Courier New" panose="02070309020205020404" pitchFamily="49" charset="0"/>
                <a:cs typeface="Courier New" panose="02070309020205020404" pitchFamily="49" charset="0"/>
              </a:rPr>
              <a:t>True</a:t>
            </a:r>
            <a:r>
              <a:rPr lang="en-US" dirty="0"/>
              <a:t> if </a:t>
            </a:r>
            <a:r>
              <a:rPr lang="en-US" b="1" dirty="0">
                <a:latin typeface="Courier New" panose="02070309020205020404" pitchFamily="49" charset="0"/>
                <a:cs typeface="Courier New" panose="02070309020205020404" pitchFamily="49" charset="0"/>
              </a:rPr>
              <a:t>self</a:t>
            </a:r>
            <a:r>
              <a:rPr lang="en-US" dirty="0"/>
              <a:t> is less than </a:t>
            </a:r>
            <a:r>
              <a:rPr lang="en-US" b="1" dirty="0">
                <a:latin typeface="Courier New" panose="02070309020205020404" pitchFamily="49" charset="0"/>
                <a:cs typeface="Courier New" panose="02070309020205020404" pitchFamily="49" charset="0"/>
              </a:rPr>
              <a:t>other</a:t>
            </a:r>
            <a:r>
              <a:rPr lang="en-US" dirty="0"/>
              <a:t>, or </a:t>
            </a:r>
            <a:r>
              <a:rPr lang="en-US" b="1" dirty="0">
                <a:latin typeface="Courier New" panose="02070309020205020404" pitchFamily="49" charset="0"/>
                <a:cs typeface="Courier New" panose="02070309020205020404" pitchFamily="49" charset="0"/>
              </a:rPr>
              <a:t>False</a:t>
            </a:r>
            <a:r>
              <a:rPr lang="en-US" dirty="0"/>
              <a:t> otherwise</a:t>
            </a:r>
          </a:p>
        </p:txBody>
      </p:sp>
      <p:sp>
        <p:nvSpPr>
          <p:cNvPr id="5"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079193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Comparing Data Items </a:t>
            </a:r>
            <a:r>
              <a:rPr lang="en-US" sz="2000" dirty="0"/>
              <a:t>(2 of 3)</a:t>
            </a:r>
          </a:p>
        </p:txBody>
      </p:sp>
      <p:sp>
        <p:nvSpPr>
          <p:cNvPr id="3" name="Content Placeholder 2"/>
          <p:cNvSpPr>
            <a:spLocks noGrp="1"/>
          </p:cNvSpPr>
          <p:nvPr>
            <p:ph idx="1"/>
          </p:nvPr>
        </p:nvSpPr>
        <p:spPr>
          <a:xfrm>
            <a:off x="628650" y="1825625"/>
            <a:ext cx="7886700" cy="979719"/>
          </a:xfrm>
        </p:spPr>
        <p:txBody>
          <a:bodyPr>
            <a:normAutofit fontScale="92500"/>
          </a:bodyPr>
          <a:lstStyle/>
          <a:p>
            <a:r>
              <a:rPr lang="en-US" dirty="0"/>
              <a:t>The criteria for comparing the objects depend on their internal structure and on the manner in which they should be ordered</a:t>
            </a:r>
          </a:p>
          <a:p>
            <a:r>
              <a:rPr lang="en-US" dirty="0"/>
              <a:t>For example:</a:t>
            </a:r>
          </a:p>
        </p:txBody>
      </p:sp>
      <p:sp>
        <p:nvSpPr>
          <p:cNvPr id="5" name="Content Placeholder 4"/>
          <p:cNvSpPr>
            <a:spLocks noGrp="1"/>
          </p:cNvSpPr>
          <p:nvPr>
            <p:ph sz="quarter" idx="12"/>
          </p:nvPr>
        </p:nvSpPr>
        <p:spPr>
          <a:xfrm>
            <a:off x="646406" y="2954044"/>
            <a:ext cx="7600950" cy="2940728"/>
          </a:xfrm>
        </p:spPr>
        <p:txBody>
          <a:bodyPr>
            <a:normAutofit fontScale="92500" lnSpcReduction="10000"/>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class</a:t>
            </a:r>
            <a:r>
              <a:rPr lang="en-US" b="1" dirty="0">
                <a:latin typeface="Times" panose="02020603050405020304" pitchFamily="18" charset="0"/>
                <a:ea typeface="MS Mincho"/>
                <a:cs typeface="Bank Gothic Bold"/>
              </a:rPr>
              <a:t> </a:t>
            </a:r>
            <a:r>
              <a:rPr lang="en-US" b="1" dirty="0" err="1">
                <a:solidFill>
                  <a:srgbClr val="0000FF"/>
                </a:solidFill>
                <a:latin typeface="Courier New" panose="02070309020205020404" pitchFamily="49" charset="0"/>
                <a:ea typeface="MS Mincho"/>
                <a:cs typeface="Bank Gothic Bold"/>
              </a:rPr>
              <a:t>SavingsAccount</a:t>
            </a:r>
            <a:r>
              <a:rPr lang="en-US" b="1" dirty="0">
                <a:latin typeface="Courier New" panose="02070309020205020404" pitchFamily="49" charset="0"/>
                <a:ea typeface="MS Mincho"/>
                <a:cs typeface="Bank Gothic Bold"/>
              </a:rPr>
              <a:t>(</a:t>
            </a:r>
            <a:r>
              <a:rPr lang="en-US" b="1" dirty="0">
                <a:solidFill>
                  <a:srgbClr val="660066"/>
                </a:solidFill>
                <a:latin typeface="Courier New" panose="02070309020205020404" pitchFamily="49" charset="0"/>
                <a:ea typeface="MS Mincho"/>
                <a:cs typeface="Bank Gothic Bold"/>
              </a:rPr>
              <a:t>object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panose="02070309020205020404" pitchFamily="49"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"""This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class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represents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savings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account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panose="02070309020205020404" pitchFamily="49" charset="0"/>
                <a:ea typeface="MS Mincho"/>
                <a:cs typeface="Bank Gothic Bold"/>
              </a:rPr>
              <a:t>    with</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owner</a:t>
            </a:r>
            <a:r>
              <a:rPr lang="en-US" b="1" dirty="0">
                <a:solidFill>
                  <a:srgbClr val="006800"/>
                </a:solidFill>
                <a:latin typeface="Times" panose="02020603050405020304" pitchFamily="18" charset="0"/>
                <a:ea typeface="MS Mincho"/>
                <a:cs typeface="Bank Gothic Bold"/>
              </a:rPr>
              <a:t>’</a:t>
            </a:r>
            <a:r>
              <a:rPr lang="en-US" b="1" dirty="0">
                <a:solidFill>
                  <a:srgbClr val="006800"/>
                </a:solidFill>
                <a:latin typeface="Courier New" panose="02070309020205020404" pitchFamily="49" charset="0"/>
                <a:ea typeface="MS Mincho"/>
                <a:cs typeface="Bank Gothic Bold"/>
              </a:rPr>
              <a: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name,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PIN,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and</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balance."""</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a:t>
            </a:r>
            <a:r>
              <a:rPr lang="en-US" b="1" dirty="0" err="1">
                <a:solidFill>
                  <a:srgbClr val="0000FF"/>
                </a:solidFill>
                <a:latin typeface="Courier New" panose="02070309020205020404" pitchFamily="49" charset="0"/>
                <a:ea typeface="MS Mincho"/>
                <a:cs typeface="Bank Gothic Bold"/>
              </a:rPr>
              <a:t>init</a:t>
            </a:r>
            <a:r>
              <a:rPr lang="en-US" b="1" dirty="0">
                <a:solidFill>
                  <a:srgbClr val="0000FF"/>
                </a:solidFill>
                <a:latin typeface="Courier New" panose="02070309020205020404" pitchFamily="49" charset="0"/>
                <a:ea typeface="MS Mincho"/>
                <a:cs typeface="Bank Gothic Bold"/>
              </a:rPr>
              <a:t>__</a:t>
            </a:r>
            <a:r>
              <a:rPr lang="en-US" b="1" dirty="0">
                <a:latin typeface="Courier New" panose="02070309020205020404" pitchFamily="49" charset="0"/>
                <a:ea typeface="MS Mincho"/>
                <a:cs typeface="Bank Gothic Bold"/>
              </a:rPr>
              <a:t>(self,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name,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pin,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balance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0.0):</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self.name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name</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self.pin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pin</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self.balance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balance</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a:t>
            </a:r>
            <a:r>
              <a:rPr lang="en-US" b="1" dirty="0" err="1">
                <a:solidFill>
                  <a:srgbClr val="0000FF"/>
                </a:solidFill>
                <a:latin typeface="Courier New" panose="02070309020205020404" pitchFamily="49" charset="0"/>
                <a:ea typeface="MS Mincho"/>
                <a:cs typeface="Bank Gothic Bold"/>
              </a:rPr>
              <a:t>lt</a:t>
            </a:r>
            <a:r>
              <a:rPr lang="en-US" b="1" dirty="0">
                <a:solidFill>
                  <a:srgbClr val="0000FF"/>
                </a:solidFill>
                <a:latin typeface="Courier New" panose="02070309020205020404" pitchFamily="49" charset="0"/>
                <a:ea typeface="MS Mincho"/>
                <a:cs typeface="Bank Gothic Bold"/>
              </a:rPr>
              <a:t>__</a:t>
            </a:r>
            <a:r>
              <a:rPr lang="en-US" b="1" dirty="0">
                <a:latin typeface="Courier New" panose="02070309020205020404" pitchFamily="49" charset="0"/>
                <a:ea typeface="MS Mincho"/>
                <a:cs typeface="Bank Gothic Bold"/>
              </a:rPr>
              <a:t>(self,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other):</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self.name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other.name</a:t>
            </a:r>
            <a:endParaRPr lang="en-US" sz="1300" dirty="0">
              <a:latin typeface="Bank Gothic Bold"/>
              <a:ea typeface="MS Mincho"/>
              <a:cs typeface="Bank Gothic Bold"/>
            </a:endParaRPr>
          </a:p>
          <a:p>
            <a:pPr marL="542925" lvl="1" indent="0">
              <a:spcBef>
                <a:spcPts val="0"/>
              </a:spcBef>
              <a:buNone/>
            </a:pPr>
            <a:r>
              <a:rPr lang="en-US" b="1" dirty="0">
                <a:solidFill>
                  <a:srgbClr val="FF0000"/>
                </a:solidFill>
                <a:latin typeface="Courier New" panose="02070309020205020404" pitchFamily="49" charset="0"/>
                <a:ea typeface="MS Mincho"/>
                <a:cs typeface="Bank Gothic Bold"/>
              </a:rPr>
              <a:t> </a:t>
            </a:r>
            <a:endParaRPr lang="en-US" sz="1300" dirty="0">
              <a:latin typeface="Bank Gothic Bold"/>
              <a:ea typeface="MS Mincho"/>
              <a:cs typeface="Bank Gothic Bold"/>
            </a:endParaRPr>
          </a:p>
          <a:p>
            <a:pPr marL="342900" lvl="1" indent="0">
              <a:buNone/>
            </a:pPr>
            <a:r>
              <a:rPr lang="en-US" b="1" dirty="0">
                <a:solidFill>
                  <a:srgbClr val="FF0000"/>
                </a:solidFill>
                <a:latin typeface="Courier New" panose="02070309020205020404" pitchFamily="49" charset="0"/>
                <a:ea typeface="MS Mincho"/>
              </a:rPr>
              <a:t>   </a:t>
            </a:r>
            <a:r>
              <a:rPr lang="en-US" b="1" dirty="0">
                <a:solidFill>
                  <a:srgbClr val="C00000"/>
                </a:solidFill>
                <a:latin typeface="Courier New" panose="02070309020205020404" pitchFamily="49" charset="0"/>
                <a:ea typeface="MS Mincho"/>
              </a:rPr>
              <a:t>#</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Other methods,</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including</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__</a:t>
            </a:r>
            <a:r>
              <a:rPr lang="en-US" b="1" dirty="0" err="1">
                <a:solidFill>
                  <a:srgbClr val="C00000"/>
                </a:solidFill>
                <a:latin typeface="Courier New" panose="02070309020205020404" pitchFamily="49" charset="0"/>
                <a:ea typeface="MS Mincho"/>
              </a:rPr>
              <a:t>eq</a:t>
            </a:r>
            <a:r>
              <a:rPr lang="en-US" b="1" dirty="0">
                <a:solidFill>
                  <a:srgbClr val="C00000"/>
                </a:solidFill>
                <a:latin typeface="Courier New" panose="02070309020205020404" pitchFamily="49" charset="0"/>
                <a:ea typeface="MS Mincho"/>
              </a:rPr>
              <a:t>__</a:t>
            </a:r>
            <a:endParaRPr lang="en-IN" dirty="0">
              <a:solidFill>
                <a:srgbClr val="C00000"/>
              </a:solidFill>
            </a:endParaRPr>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31350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Comparing Data Items </a:t>
            </a:r>
            <a:r>
              <a:rPr lang="en-US" sz="2000" dirty="0"/>
              <a:t>(3 of 3)</a:t>
            </a:r>
          </a:p>
        </p:txBody>
      </p:sp>
      <p:sp>
        <p:nvSpPr>
          <p:cNvPr id="3" name="Content Placeholder 2"/>
          <p:cNvSpPr>
            <a:spLocks noGrp="1"/>
          </p:cNvSpPr>
          <p:nvPr>
            <p:ph idx="1"/>
          </p:nvPr>
        </p:nvSpPr>
        <p:spPr/>
        <p:txBody>
          <a:bodyPr>
            <a:normAutofit lnSpcReduction="10000"/>
          </a:bodyPr>
          <a:lstStyle/>
          <a:p>
            <a:pPr marL="171450" lvl="1" indent="0">
              <a:spcBef>
                <a:spcPts val="0"/>
              </a:spcBef>
              <a:buNone/>
            </a:pPr>
            <a:r>
              <a:rPr lang="en-US" b="1" dirty="0">
                <a:latin typeface="Courier New" panose="02070309020205020404" pitchFamily="49" charset="0"/>
                <a:ea typeface="MS Mincho"/>
                <a:cs typeface="Bank Gothic Bold"/>
              </a:rPr>
              <a:t>&lt;CDTX&gt;&gt;&gt;&gt;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SavingsAccount(</a:t>
            </a:r>
            <a:r>
              <a:rPr lang="en-US" b="1" dirty="0">
                <a:solidFill>
                  <a:srgbClr val="006800"/>
                </a:solidFill>
                <a:latin typeface="Courier New" panose="02070309020205020404" pitchFamily="49" charset="0"/>
                <a:ea typeface="MS Mincho"/>
                <a:cs typeface="Bank Gothic Bold"/>
              </a:rPr>
              <a:t>"Ken",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"1000"</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s2</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SavingsAccount(</a:t>
            </a:r>
            <a:r>
              <a:rPr lang="en-US" b="1" dirty="0">
                <a:solidFill>
                  <a:srgbClr val="006800"/>
                </a:solidFill>
                <a:latin typeface="Courier New" panose="02070309020205020404" pitchFamily="49" charset="0"/>
                <a:ea typeface="MS Mincho"/>
                <a:cs typeface="Bank Gothic Bold"/>
              </a:rPr>
              <a:t>"Bill",</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"1001"</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30)</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s2</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False</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s2</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s1</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True</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s2</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True</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s2</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s1</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False</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s2</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s1</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False</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s3</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SavingsAccount(</a:t>
            </a:r>
            <a:r>
              <a:rPr lang="en-US" b="1" dirty="0">
                <a:solidFill>
                  <a:srgbClr val="006800"/>
                </a:solidFill>
                <a:latin typeface="Courier New" panose="02070309020205020404" pitchFamily="49" charset="0"/>
                <a:ea typeface="MS Mincho"/>
                <a:cs typeface="Bank Gothic Bold"/>
              </a:rPr>
              <a:t>"Ken",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"1000"</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s3</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True</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s4</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s1</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s4</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s1</a:t>
            </a:r>
            <a:endParaRPr lang="en-US" sz="1300" dirty="0">
              <a:latin typeface="Bank Gothic Bold"/>
              <a:ea typeface="MS Mincho"/>
              <a:cs typeface="Bank Gothic Bold"/>
            </a:endParaRPr>
          </a:p>
          <a:p>
            <a:pPr marL="342900" lvl="1" indent="0">
              <a:buNone/>
            </a:pPr>
            <a:r>
              <a:rPr lang="en-US" b="1" dirty="0">
                <a:solidFill>
                  <a:srgbClr val="0000FF"/>
                </a:solidFill>
                <a:latin typeface="Courier New" panose="02070309020205020404" pitchFamily="49" charset="0"/>
                <a:ea typeface="MS Mincho"/>
              </a:rPr>
              <a:t>True</a:t>
            </a:r>
            <a:endParaRPr lang="en-US" dirty="0"/>
          </a:p>
        </p:txBody>
      </p:sp>
      <p:sp>
        <p:nvSpPr>
          <p:cNvPr id="5"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934077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Basic Sort Algorithms</a:t>
            </a:r>
          </a:p>
        </p:txBody>
      </p:sp>
      <p:sp>
        <p:nvSpPr>
          <p:cNvPr id="3" name="Content Placeholder 2"/>
          <p:cNvSpPr>
            <a:spLocks noGrp="1"/>
          </p:cNvSpPr>
          <p:nvPr>
            <p:ph idx="1"/>
          </p:nvPr>
        </p:nvSpPr>
        <p:spPr>
          <a:xfrm>
            <a:off x="628650" y="1825626"/>
            <a:ext cx="7886700" cy="1361458"/>
          </a:xfrm>
        </p:spPr>
        <p:txBody>
          <a:bodyPr>
            <a:normAutofit/>
          </a:bodyPr>
          <a:lstStyle/>
          <a:p>
            <a:pPr marL="291600" indent="-291600">
              <a:spcBef>
                <a:spcPts val="1000"/>
              </a:spcBef>
            </a:pPr>
            <a:r>
              <a:rPr lang="en-US" dirty="0"/>
              <a:t>Each of the Python sort functions that are developed operates on a list of integers and uses a </a:t>
            </a:r>
            <a:r>
              <a:rPr lang="en-US" b="1" dirty="0">
                <a:latin typeface="Courier New" panose="02070309020205020404" pitchFamily="49" charset="0"/>
                <a:cs typeface="Courier New" panose="02070309020205020404" pitchFamily="49" charset="0"/>
              </a:rPr>
              <a:t>swap</a:t>
            </a:r>
            <a:r>
              <a:rPr lang="en-US" dirty="0"/>
              <a:t> function to exchange the positions of two items in the list</a:t>
            </a:r>
          </a:p>
          <a:p>
            <a:pPr marL="291600" indent="-291600">
              <a:spcBef>
                <a:spcPts val="1000"/>
              </a:spcBef>
            </a:pPr>
            <a:r>
              <a:rPr lang="en-US" dirty="0"/>
              <a:t>Here is the code for that function:</a:t>
            </a:r>
          </a:p>
        </p:txBody>
      </p:sp>
      <p:sp>
        <p:nvSpPr>
          <p:cNvPr id="5" name="Content Placeholder 4"/>
          <p:cNvSpPr>
            <a:spLocks noGrp="1"/>
          </p:cNvSpPr>
          <p:nvPr>
            <p:ph sz="quarter" idx="12"/>
          </p:nvPr>
        </p:nvSpPr>
        <p:spPr>
          <a:xfrm>
            <a:off x="761815" y="3262543"/>
            <a:ext cx="7753350" cy="1905000"/>
          </a:xfrm>
        </p:spPr>
        <p:txBody>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swap</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j):</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panose="02070309020205020404" pitchFamily="49" charset="0"/>
                <a:ea typeface="MS Mincho"/>
                <a:cs typeface="Bank Gothic Bold"/>
              </a:rPr>
              <a:t>    </a:t>
            </a:r>
            <a:r>
              <a:rPr lang="en-US" b="1" dirty="0">
                <a:solidFill>
                  <a:srgbClr val="006800"/>
                </a:solidFill>
                <a:latin typeface="Courier New" panose="02070309020205020404" pitchFamily="49" charset="0"/>
                <a:ea typeface="MS Mincho"/>
                <a:cs typeface="Bank Gothic Bold"/>
              </a:rPr>
              <a:t>"""Exchanges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items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positions</a:t>
            </a:r>
            <a:r>
              <a:rPr lang="en-US" b="1" dirty="0">
                <a:solidFill>
                  <a:srgbClr val="006800"/>
                </a:solidFill>
                <a:latin typeface="Times" panose="02020603050405020304" pitchFamily="18" charset="0"/>
                <a:ea typeface="MS Mincho"/>
                <a:cs typeface="Bank Gothic Bold"/>
              </a:rPr>
              <a:t> </a:t>
            </a:r>
            <a:r>
              <a:rPr lang="en-US" b="1" dirty="0" err="1">
                <a:solidFill>
                  <a:srgbClr val="006800"/>
                </a:solidFill>
                <a:latin typeface="Courier New" panose="02070309020205020404" pitchFamily="49" charset="0"/>
                <a:ea typeface="MS Mincho"/>
                <a:cs typeface="Bank Gothic Bold"/>
              </a:rPr>
              <a:t>i</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and</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j."""</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FF0000"/>
                </a:solidFill>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You</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could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say</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lyst</a:t>
            </a:r>
            <a:r>
              <a:rPr lang="en-US" b="1" dirty="0">
                <a:solidFill>
                  <a:srgbClr val="C00000"/>
                </a:solidFill>
                <a:latin typeface="Courier New" panose="02070309020205020404" pitchFamily="49" charset="0"/>
                <a:ea typeface="MS Mincho"/>
                <a:cs typeface="Bank Gothic Bold"/>
              </a:rPr>
              <a:t>[</a:t>
            </a:r>
            <a:r>
              <a:rPr lang="en-US" b="1" dirty="0" err="1">
                <a:solidFill>
                  <a:srgbClr val="C00000"/>
                </a:solidFill>
                <a:latin typeface="Courier New" panose="02070309020205020404" pitchFamily="49" charset="0"/>
                <a:ea typeface="MS Mincho"/>
                <a:cs typeface="Bank Gothic Bold"/>
              </a:rPr>
              <a:t>i</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lyst</a:t>
            </a:r>
            <a:r>
              <a:rPr lang="en-US" b="1" dirty="0">
                <a:solidFill>
                  <a:srgbClr val="C00000"/>
                </a:solidFill>
                <a:latin typeface="Courier New" panose="02070309020205020404" pitchFamily="49" charset="0"/>
                <a:ea typeface="MS Mincho"/>
                <a:cs typeface="Bank Gothic Bold"/>
              </a:rPr>
              <a:t>[j]</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lyst</a:t>
            </a:r>
            <a:r>
              <a:rPr lang="en-US" b="1" dirty="0">
                <a:solidFill>
                  <a:srgbClr val="C00000"/>
                </a:solidFill>
                <a:latin typeface="Courier New" panose="02070309020205020404" pitchFamily="49" charset="0"/>
                <a:ea typeface="MS Mincho"/>
                <a:cs typeface="Bank Gothic Bold"/>
              </a:rPr>
              <a:t>[j],</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lyst</a:t>
            </a:r>
            <a:r>
              <a:rPr lang="en-US" b="1" dirty="0">
                <a:solidFill>
                  <a:srgbClr val="C00000"/>
                </a:solidFill>
                <a:latin typeface="Courier New" panose="02070309020205020404" pitchFamily="49" charset="0"/>
                <a:ea typeface="MS Mincho"/>
                <a:cs typeface="Bank Gothic Bold"/>
              </a:rPr>
              <a:t>[</a:t>
            </a:r>
            <a:r>
              <a:rPr lang="en-US" b="1" dirty="0" err="1">
                <a:solidFill>
                  <a:srgbClr val="C00000"/>
                </a:solidFill>
                <a:latin typeface="Courier New" panose="02070309020205020404" pitchFamily="49" charset="0"/>
                <a:ea typeface="MS Mincho"/>
                <a:cs typeface="Bank Gothic Bold"/>
              </a:rPr>
              <a:t>i</a:t>
            </a:r>
            <a:r>
              <a:rPr lang="en-US" b="1" dirty="0">
                <a:solidFill>
                  <a:srgbClr val="C00000"/>
                </a:solidFill>
                <a:latin typeface="Courier New" panose="02070309020205020404" pitchFamily="49" charset="0"/>
                <a:ea typeface="MS Mincho"/>
                <a:cs typeface="Bank Gothic Bold"/>
              </a:rPr>
              <a:t>]</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but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following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code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shows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what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really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going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on</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temp</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[j]</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a:t>
            </a:r>
            <a:r>
              <a:rPr lang="en-US" b="1" dirty="0" err="1">
                <a:latin typeface="Courier New" panose="02070309020205020404" pitchFamily="49" charset="0"/>
                <a:ea typeface="MS Mincho"/>
              </a:rPr>
              <a:t>lyst</a:t>
            </a:r>
            <a:r>
              <a:rPr lang="en-US" b="1" dirty="0">
                <a:latin typeface="Courier New" panose="02070309020205020404" pitchFamily="49" charset="0"/>
                <a:ea typeface="MS Mincho"/>
              </a:rPr>
              <a:t>[j]</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temp</a:t>
            </a:r>
            <a:endParaRPr lang="en-IN" dirty="0"/>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506848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Selection Sort </a:t>
            </a:r>
            <a:r>
              <a:rPr lang="en-US" sz="2000" dirty="0"/>
              <a:t>(1 of 2)</a:t>
            </a:r>
          </a:p>
        </p:txBody>
      </p:sp>
      <p:sp>
        <p:nvSpPr>
          <p:cNvPr id="3" name="Content Placeholder 2"/>
          <p:cNvSpPr>
            <a:spLocks noGrp="1"/>
          </p:cNvSpPr>
          <p:nvPr>
            <p:ph idx="1"/>
          </p:nvPr>
        </p:nvSpPr>
        <p:spPr>
          <a:xfrm>
            <a:off x="628650" y="1825625"/>
            <a:ext cx="7886700" cy="1298575"/>
          </a:xfrm>
        </p:spPr>
        <p:txBody>
          <a:bodyPr/>
          <a:lstStyle/>
          <a:p>
            <a:pPr marL="291600" indent="-291600">
              <a:spcBef>
                <a:spcPts val="1000"/>
              </a:spcBef>
            </a:pPr>
            <a:r>
              <a:rPr lang="en-US" dirty="0"/>
              <a:t>Figure 3.8 shows the states of a list of five items after each search and swap pass of a selection sort:</a:t>
            </a:r>
          </a:p>
          <a:p>
            <a:pPr lvl="1">
              <a:spcBef>
                <a:spcPts val="1000"/>
              </a:spcBef>
            </a:pPr>
            <a:r>
              <a:rPr lang="en-US" dirty="0"/>
              <a:t>The two items just swapped on each pass have asterisks next to them and the sorted portion of the list is shaded</a:t>
            </a:r>
          </a:p>
        </p:txBody>
      </p:sp>
      <p:sp>
        <p:nvSpPr>
          <p:cNvPr id="5" name="Content Placeholder 4"/>
          <p:cNvSpPr>
            <a:spLocks noGrp="1"/>
          </p:cNvSpPr>
          <p:nvPr>
            <p:ph sz="quarter" idx="12"/>
          </p:nvPr>
        </p:nvSpPr>
        <p:spPr>
          <a:xfrm>
            <a:off x="628650" y="3224813"/>
            <a:ext cx="7296150" cy="381000"/>
          </a:xfrm>
        </p:spPr>
        <p:txBody>
          <a:bodyPr/>
          <a:lstStyle/>
          <a:p>
            <a:pPr marL="0" indent="0">
              <a:spcBef>
                <a:spcPts val="1000"/>
              </a:spcBef>
              <a:buNone/>
            </a:pPr>
            <a:r>
              <a:rPr lang="en-IN" b="1" dirty="0"/>
              <a:t>Figure 3-8: </a:t>
            </a:r>
            <a:r>
              <a:rPr lang="en-IN" dirty="0"/>
              <a:t>A trace of data during a selection sort</a:t>
            </a:r>
          </a:p>
        </p:txBody>
      </p:sp>
      <p:pic>
        <p:nvPicPr>
          <p:cNvPr id="7" name="Content Placeholder 6" descr="Illustration shows table with trace of data during a selection sort. It has 5 rows and 5 columns. The columns have the following headings from left to right: Unsorted list, after 1st pass, after 2nd pass, after 3rd pass, after 4th pass.  The row entries are as follows. Row 1: 5, 1*, 1, 1, 1. Row 2: 3, 3, 2*, 2, 2. Row 3: 1, 5*, 5, 3*, 3. Row 4: 2, 2, 3*, 5*, 4*. Row 5: 4, 4, 4, 4, 5*"/>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442615" y="3779894"/>
            <a:ext cx="5625410" cy="2082260"/>
          </a:xfrm>
        </p:spPr>
      </p:pic>
      <p:sp>
        <p:nvSpPr>
          <p:cNvPr id="8"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957610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09380"/>
          </a:xfrm>
        </p:spPr>
        <p:txBody>
          <a:bodyPr/>
          <a:lstStyle/>
          <a:p>
            <a:r>
              <a:rPr lang="en-US" b="1" dirty="0"/>
              <a:t>Selection Sort </a:t>
            </a:r>
            <a:r>
              <a:rPr lang="en-US" sz="2000" dirty="0"/>
              <a:t>(2 of 2)</a:t>
            </a:r>
          </a:p>
        </p:txBody>
      </p:sp>
      <p:sp>
        <p:nvSpPr>
          <p:cNvPr id="3" name="Content Placeholder 2"/>
          <p:cNvSpPr>
            <a:spLocks noGrp="1"/>
          </p:cNvSpPr>
          <p:nvPr>
            <p:ph idx="1"/>
          </p:nvPr>
        </p:nvSpPr>
        <p:spPr>
          <a:xfrm>
            <a:off x="628650" y="1825625"/>
            <a:ext cx="7886700" cy="384175"/>
          </a:xfrm>
        </p:spPr>
        <p:txBody>
          <a:bodyPr>
            <a:normAutofit/>
          </a:bodyPr>
          <a:lstStyle/>
          <a:p>
            <a:pPr marL="291600" indent="-291600">
              <a:spcBef>
                <a:spcPts val="1000"/>
              </a:spcBef>
            </a:pPr>
            <a:r>
              <a:rPr lang="en-US" dirty="0"/>
              <a:t>Python function for a selection sort:</a:t>
            </a:r>
          </a:p>
        </p:txBody>
      </p:sp>
      <p:sp>
        <p:nvSpPr>
          <p:cNvPr id="5" name="Content Placeholder 4"/>
          <p:cNvSpPr>
            <a:spLocks noGrp="1"/>
          </p:cNvSpPr>
          <p:nvPr>
            <p:ph sz="quarter" idx="12"/>
          </p:nvPr>
        </p:nvSpPr>
        <p:spPr>
          <a:xfrm>
            <a:off x="762000" y="2286000"/>
            <a:ext cx="8153400" cy="3124200"/>
          </a:xfrm>
        </p:spPr>
        <p:txBody>
          <a:bodyPr>
            <a:normAutofit/>
          </a:bodyPr>
          <a:lstStyle/>
          <a:p>
            <a:pPr marL="171450" marR="1828800" lvl="1" indent="0">
              <a:spcBef>
                <a:spcPts val="0"/>
              </a:spcBef>
              <a:buNone/>
            </a:pPr>
            <a:r>
              <a:rPr lang="da-DK" b="1" dirty="0">
                <a:solidFill>
                  <a:srgbClr val="8A3800"/>
                </a:solidFill>
                <a:latin typeface="Courier New" panose="02070309020205020404" pitchFamily="49" charset="0"/>
                <a:ea typeface="MS Mincho"/>
                <a:cs typeface="Bank Gothic Bold"/>
              </a:rPr>
              <a:t>def</a:t>
            </a:r>
            <a:r>
              <a:rPr lang="da-DK" b="1" dirty="0">
                <a:latin typeface="Times" panose="02020603050405020304" pitchFamily="18" charset="0"/>
                <a:ea typeface="MS Mincho"/>
                <a:cs typeface="Bank Gothic Bold"/>
              </a:rPr>
              <a:t> </a:t>
            </a:r>
            <a:r>
              <a:rPr lang="da-DK" b="1" dirty="0">
                <a:solidFill>
                  <a:srgbClr val="0000FF"/>
                </a:solidFill>
                <a:latin typeface="Courier New" panose="02070309020205020404" pitchFamily="49" charset="0"/>
                <a:ea typeface="MS Mincho"/>
                <a:cs typeface="Bank Gothic Bold"/>
              </a:rPr>
              <a:t>selectionSort</a:t>
            </a:r>
            <a:r>
              <a:rPr lang="da-DK" b="1" dirty="0">
                <a:latin typeface="Courier New" panose="02070309020205020404" pitchFamily="49" charset="0"/>
                <a:ea typeface="MS Mincho"/>
                <a:cs typeface="Bank Gothic Bold"/>
              </a:rPr>
              <a:t>(lyst):</a:t>
            </a:r>
            <a:endParaRPr lang="en-US" sz="1300" dirty="0">
              <a:latin typeface="Bank Gothic Bold"/>
              <a:ea typeface="MS Mincho"/>
              <a:cs typeface="Bank Gothic Bold"/>
            </a:endParaRPr>
          </a:p>
          <a:p>
            <a:pPr marL="171450" marR="1828800" lvl="1" indent="0">
              <a:spcBef>
                <a:spcPts val="0"/>
              </a:spcBef>
              <a:buNone/>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Do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1</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searches</a:t>
            </a:r>
            <a:endParaRPr lang="en-US" sz="1300" dirty="0">
              <a:solidFill>
                <a:srgbClr val="C00000"/>
              </a:solidFill>
              <a:latin typeface="Bank Gothic Bold"/>
              <a:ea typeface="MS Mincho"/>
              <a:cs typeface="Bank Gothic Bold"/>
            </a:endParaRPr>
          </a:p>
          <a:p>
            <a:pPr marL="171450" marR="5461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minIndex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for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smallest</a:t>
            </a:r>
            <a:endParaRPr lang="en-US" sz="1300" dirty="0">
              <a:solidFill>
                <a:srgbClr val="C00000"/>
              </a:solidFill>
              <a:latin typeface="Bank Gothic Bold"/>
              <a:ea typeface="MS Mincho"/>
              <a:cs typeface="Bank Gothic Bold"/>
            </a:endParaRPr>
          </a:p>
          <a:p>
            <a:pPr marL="171450" marR="1828800" lvl="1" indent="0">
              <a:spcBef>
                <a:spcPts val="0"/>
              </a:spcBef>
              <a:buNone/>
            </a:pPr>
            <a:r>
              <a:rPr lang="en-US" b="1" dirty="0">
                <a:latin typeface="Courier New" panose="02070309020205020404" pitchFamily="49" charset="0"/>
                <a:ea typeface="MS Mincho"/>
                <a:cs typeface="Bank Gothic Bold"/>
              </a:rPr>
              <a:t>        j</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marR="54610" lvl="1" indent="0">
              <a:spcBef>
                <a:spcPts val="0"/>
              </a:spcBef>
              <a:buNone/>
              <a:tabLst>
                <a:tab pos="3200400" algn="l"/>
              </a:tabLst>
            </a:pPr>
            <a:r>
              <a:rPr lang="en-US" b="1" dirty="0">
                <a:solidFill>
                  <a:srgbClr val="8A3800"/>
                </a:solidFill>
                <a:latin typeface="Courier New" panose="02070309020205020404" pitchFamily="49" charset="0"/>
                <a:ea typeface="MS Mincho"/>
                <a:cs typeface="Bank Gothic Bold"/>
              </a:rPr>
              <a:t>        while</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j</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Start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search</a:t>
            </a:r>
            <a:endParaRPr lang="en-US" sz="1300" dirty="0">
              <a:solidFill>
                <a:srgbClr val="C00000"/>
              </a:solidFill>
              <a:latin typeface="Bank Gothic Bold"/>
              <a:ea typeface="MS Mincho"/>
              <a:cs typeface="Bank Gothic Bold"/>
            </a:endParaRPr>
          </a:p>
          <a:p>
            <a:pPr marL="171450" marR="1828800" lvl="1" indent="0">
              <a:spcBef>
                <a:spcPts val="0"/>
              </a:spcBef>
              <a:buNone/>
            </a:pPr>
            <a:r>
              <a:rPr lang="en-US" b="1" dirty="0">
                <a:solidFill>
                  <a:srgbClr val="FF6600"/>
                </a:solidFill>
                <a:latin typeface="Courier New" panose="02070309020205020404" pitchFamily="49" charset="0"/>
                <a:ea typeface="MS Mincho"/>
                <a:cs typeface="Bank Gothic Bold"/>
              </a:rPr>
              <a:t>            </a:t>
            </a:r>
            <a:r>
              <a:rPr lang="nb-NO" b="1" dirty="0">
                <a:solidFill>
                  <a:srgbClr val="8A3800"/>
                </a:solidFill>
                <a:latin typeface="Courier New" panose="02070309020205020404" pitchFamily="49" charset="0"/>
                <a:ea typeface="MS Mincho"/>
                <a:cs typeface="Bank Gothic Bold"/>
              </a:rPr>
              <a:t>if</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lyst[j]</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&lt;</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lyst[minIndex]:</a:t>
            </a:r>
            <a:endParaRPr lang="en-US" sz="1300" dirty="0">
              <a:latin typeface="Bank Gothic Bold"/>
              <a:ea typeface="MS Mincho"/>
              <a:cs typeface="Bank Gothic Bold"/>
            </a:endParaRPr>
          </a:p>
          <a:p>
            <a:pPr marL="171450" marR="1828800" lvl="1" indent="0">
              <a:spcBef>
                <a:spcPts val="0"/>
              </a:spcBef>
              <a:buNone/>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minIndex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j</a:t>
            </a:r>
            <a:endParaRPr lang="en-US" sz="1300" dirty="0">
              <a:latin typeface="Bank Gothic Bold"/>
              <a:ea typeface="MS Mincho"/>
              <a:cs typeface="Bank Gothic Bold"/>
            </a:endParaRPr>
          </a:p>
          <a:p>
            <a:pPr marL="171450" marR="1828800" lvl="1" indent="0">
              <a:spcBef>
                <a:spcPts val="0"/>
              </a:spcBef>
              <a:buNone/>
            </a:pPr>
            <a:r>
              <a:rPr lang="en-US" b="1" dirty="0">
                <a:latin typeface="Courier New" panose="02070309020205020404" pitchFamily="49" charset="0"/>
                <a:ea typeface="MS Mincho"/>
                <a:cs typeface="Bank Gothic Bold"/>
              </a:rPr>
              <a:t>            j</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marR="5461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minIndex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Exchange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needed</a:t>
            </a:r>
            <a:endParaRPr lang="en-US" sz="1300" dirty="0">
              <a:solidFill>
                <a:srgbClr val="C00000"/>
              </a:solidFill>
              <a:latin typeface="Bank Gothic Bold"/>
              <a:ea typeface="MS Mincho"/>
              <a:cs typeface="Bank Gothic Bold"/>
            </a:endParaRPr>
          </a:p>
          <a:p>
            <a:pPr marL="171450" marR="1828800" lvl="1" indent="0">
              <a:spcBef>
                <a:spcPts val="0"/>
              </a:spcBef>
              <a:buNone/>
            </a:pPr>
            <a:r>
              <a:rPr lang="en-US" b="1" dirty="0">
                <a:latin typeface="Courier New" panose="02070309020205020404" pitchFamily="49" charset="0"/>
                <a:ea typeface="MS Mincho"/>
                <a:cs typeface="Bank Gothic Bold"/>
              </a:rPr>
              <a:t>            swap(</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minIndex</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a:t>
            </a:r>
            <a:r>
              <a:rPr lang="en-US" b="1" dirty="0" err="1">
                <a:latin typeface="Courier New" panose="02070309020205020404" pitchFamily="49" charset="0"/>
                <a:ea typeface="MS Mincho"/>
              </a:rPr>
              <a:t>i</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1</a:t>
            </a:r>
            <a:endParaRPr lang="en-IN" dirty="0"/>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970509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Bubble Sort </a:t>
            </a:r>
            <a:r>
              <a:rPr lang="en-US" sz="2000" dirty="0"/>
              <a:t>(1 of 2)</a:t>
            </a:r>
          </a:p>
        </p:txBody>
      </p:sp>
      <p:sp>
        <p:nvSpPr>
          <p:cNvPr id="3" name="Content Placeholder 2"/>
          <p:cNvSpPr>
            <a:spLocks noGrp="1"/>
          </p:cNvSpPr>
          <p:nvPr>
            <p:ph idx="1"/>
          </p:nvPr>
        </p:nvSpPr>
        <p:spPr>
          <a:xfrm>
            <a:off x="628650" y="1825625"/>
            <a:ext cx="7886700" cy="1298575"/>
          </a:xfrm>
        </p:spPr>
        <p:txBody>
          <a:bodyPr/>
          <a:lstStyle/>
          <a:p>
            <a:pPr marL="291600" indent="-291600">
              <a:spcBef>
                <a:spcPts val="1000"/>
              </a:spcBef>
            </a:pPr>
            <a:r>
              <a:rPr lang="en-US" dirty="0"/>
              <a:t>Figure 3.9 shows a trace of the bubbling process through a list of five items:</a:t>
            </a:r>
          </a:p>
          <a:p>
            <a:pPr lvl="1">
              <a:spcBef>
                <a:spcPts val="1000"/>
              </a:spcBef>
            </a:pPr>
            <a:r>
              <a:rPr lang="en-US" dirty="0"/>
              <a:t>This process makes four passes through a nested loop to bubble the largest item down to the end of the list</a:t>
            </a:r>
          </a:p>
        </p:txBody>
      </p:sp>
      <p:sp>
        <p:nvSpPr>
          <p:cNvPr id="5" name="Content Placeholder 4"/>
          <p:cNvSpPr>
            <a:spLocks noGrp="1"/>
          </p:cNvSpPr>
          <p:nvPr>
            <p:ph sz="quarter" idx="12"/>
          </p:nvPr>
        </p:nvSpPr>
        <p:spPr>
          <a:xfrm>
            <a:off x="628650" y="3227033"/>
            <a:ext cx="7277100" cy="365319"/>
          </a:xfrm>
        </p:spPr>
        <p:txBody>
          <a:bodyPr/>
          <a:lstStyle/>
          <a:p>
            <a:pPr marL="0" indent="0">
              <a:spcBef>
                <a:spcPts val="1000"/>
              </a:spcBef>
              <a:buNone/>
            </a:pPr>
            <a:r>
              <a:rPr lang="en-IN" b="1" dirty="0"/>
              <a:t>Figure 3-9: </a:t>
            </a:r>
            <a:r>
              <a:rPr lang="en-IN" dirty="0"/>
              <a:t>A trace of data during a bubble sort</a:t>
            </a:r>
          </a:p>
        </p:txBody>
      </p:sp>
      <p:pic>
        <p:nvPicPr>
          <p:cNvPr id="9" name="Content Placeholder 8" descr="Illustration shows table with trace of data during a bubble sort. It has 5 rows and 5 columns. The columns have the following headings from left to right: Unsorted list, after 1st pass, after 2nd pass, after 3rd pass, after 4th pass.  The row entries are as follows. Row 1: 5, 4*, 4, 4, 4. Row 2: 4, 5*, 2*, 2, 2. Row 3: 2, 2, 5*, 1*, 1. Row 4: 1, 1, 1, 5*, 3*. Row 5: 3, 3, 3, 3, 5*."/>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376656" y="3776156"/>
            <a:ext cx="5685838" cy="2102157"/>
          </a:xfrm>
        </p:spPr>
      </p:pic>
      <p:sp>
        <p:nvSpPr>
          <p:cNvPr id="7"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022304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Bubble Sort </a:t>
            </a:r>
            <a:r>
              <a:rPr lang="en-US" sz="2000" dirty="0"/>
              <a:t>(2 of 2)</a:t>
            </a:r>
          </a:p>
        </p:txBody>
      </p:sp>
      <p:sp>
        <p:nvSpPr>
          <p:cNvPr id="3" name="Content Placeholder 2"/>
          <p:cNvSpPr>
            <a:spLocks noGrp="1"/>
          </p:cNvSpPr>
          <p:nvPr>
            <p:ph idx="1"/>
          </p:nvPr>
        </p:nvSpPr>
        <p:spPr>
          <a:xfrm>
            <a:off x="628650" y="1825625"/>
            <a:ext cx="7886700" cy="1069975"/>
          </a:xfrm>
        </p:spPr>
        <p:txBody>
          <a:bodyPr>
            <a:normAutofit/>
          </a:bodyPr>
          <a:lstStyle/>
          <a:p>
            <a:pPr marL="291600" indent="-291600">
              <a:spcBef>
                <a:spcPts val="1000"/>
              </a:spcBef>
            </a:pPr>
            <a:r>
              <a:rPr lang="en-US" dirty="0"/>
              <a:t>You can make a minor adjustment to the bubble sort to improve its best-case performance to linear</a:t>
            </a:r>
          </a:p>
          <a:p>
            <a:pPr marL="291600" indent="-291600">
              <a:spcBef>
                <a:spcPts val="1000"/>
              </a:spcBef>
            </a:pPr>
            <a:r>
              <a:rPr lang="en-US" dirty="0"/>
              <a:t>Modified bubble sort function:</a:t>
            </a:r>
          </a:p>
        </p:txBody>
      </p:sp>
      <p:sp>
        <p:nvSpPr>
          <p:cNvPr id="5" name="Content Placeholder 4"/>
          <p:cNvSpPr>
            <a:spLocks noGrp="1"/>
          </p:cNvSpPr>
          <p:nvPr>
            <p:ph sz="quarter" idx="12"/>
          </p:nvPr>
        </p:nvSpPr>
        <p:spPr>
          <a:xfrm>
            <a:off x="749422" y="3017956"/>
            <a:ext cx="7620000" cy="2849443"/>
          </a:xfrm>
        </p:spPr>
        <p:txBody>
          <a:bodyPr>
            <a:normAutofit fontScale="92500" lnSpcReduction="10000"/>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err="1">
                <a:solidFill>
                  <a:srgbClr val="0000FF"/>
                </a:solidFill>
                <a:latin typeface="Courier New" panose="02070309020205020404" pitchFamily="49" charset="0"/>
                <a:ea typeface="MS Mincho"/>
                <a:cs typeface="Bank Gothic Bold"/>
              </a:rPr>
              <a:t>bubbleSortWithTweak</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swapped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False</a:t>
            </a:r>
            <a:endParaRPr lang="en-US" sz="1300" dirty="0">
              <a:solidFill>
                <a:srgbClr val="8A3800"/>
              </a:solidFill>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Exchange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needed</a:t>
            </a:r>
            <a:endParaRPr lang="en-US" sz="1300" dirty="0">
              <a:solidFill>
                <a:srgbClr val="C00000"/>
              </a:solidFill>
              <a:latin typeface="Bank Gothic Bold"/>
              <a:ea typeface="MS Mincho"/>
              <a:cs typeface="Bank Gothic Bold"/>
            </a:endParaRPr>
          </a:p>
          <a:p>
            <a:pPr marL="171450" lvl="1" indent="0">
              <a:spcBef>
                <a:spcPts val="0"/>
              </a:spcBef>
              <a:buNone/>
              <a:tabLst>
                <a:tab pos="3200400" algn="l"/>
              </a:tabLst>
            </a:pPr>
            <a:r>
              <a:rPr lang="da-DK" b="1" dirty="0">
                <a:latin typeface="Courier New" panose="02070309020205020404" pitchFamily="49" charset="0"/>
                <a:ea typeface="MS Mincho"/>
                <a:cs typeface="Bank Gothic Bold"/>
              </a:rPr>
              <a:t>                swap(lyst,</a:t>
            </a:r>
            <a:r>
              <a:rPr lang="da-DK" b="1" dirty="0">
                <a:latin typeface="Times" panose="02020603050405020304" pitchFamily="18" charset="0"/>
                <a:ea typeface="MS Mincho"/>
                <a:cs typeface="Bank Gothic Bold"/>
              </a:rPr>
              <a:t> </a:t>
            </a:r>
            <a:r>
              <a:rPr lang="da-DK" b="1" dirty="0">
                <a:latin typeface="Courier New" panose="02070309020205020404" pitchFamily="49" charset="0"/>
                <a:ea typeface="MS Mincho"/>
                <a:cs typeface="Bank Gothic Bold"/>
              </a:rPr>
              <a:t>i,</a:t>
            </a:r>
            <a:r>
              <a:rPr lang="da-DK" b="1" dirty="0">
                <a:latin typeface="Times" panose="02020603050405020304" pitchFamily="18" charset="0"/>
                <a:ea typeface="MS Mincho"/>
                <a:cs typeface="Bank Gothic Bold"/>
              </a:rPr>
              <a:t> </a:t>
            </a:r>
            <a:r>
              <a:rPr lang="da-DK" b="1" dirty="0">
                <a:latin typeface="Courier New" panose="02070309020205020404" pitchFamily="49" charset="0"/>
                <a:ea typeface="MS Mincho"/>
                <a:cs typeface="Bank Gothic Bold"/>
              </a:rPr>
              <a:t>i</a:t>
            </a:r>
            <a:r>
              <a:rPr lang="da-DK" b="1" dirty="0">
                <a:latin typeface="Times" panose="02020603050405020304" pitchFamily="18" charset="0"/>
                <a:ea typeface="MS Mincho"/>
                <a:cs typeface="Bank Gothic Bold"/>
              </a:rPr>
              <a:t> </a:t>
            </a:r>
            <a:r>
              <a:rPr lang="da-DK" b="1" dirty="0">
                <a:latin typeface="Courier New" panose="02070309020205020404" pitchFamily="49" charset="0"/>
                <a:ea typeface="MS Mincho"/>
                <a:cs typeface="Bank Gothic Bold"/>
              </a:rPr>
              <a:t>-</a:t>
            </a:r>
            <a:r>
              <a:rPr lang="da-DK" b="1" dirty="0">
                <a:latin typeface="Times" panose="02020603050405020304" pitchFamily="18" charset="0"/>
                <a:ea typeface="MS Mincho"/>
                <a:cs typeface="Bank Gothic Bold"/>
              </a:rPr>
              <a:t> </a:t>
            </a:r>
            <a:r>
              <a:rPr lang="da-DK"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da-DK" b="1" dirty="0">
                <a:latin typeface="Courier New" panose="02070309020205020404" pitchFamily="49" charset="0"/>
                <a:ea typeface="MS Mincho"/>
                <a:cs typeface="Bank Gothic Bold"/>
              </a:rPr>
              <a:t>                swapped</a:t>
            </a:r>
            <a:r>
              <a:rPr lang="da-DK" b="1" dirty="0">
                <a:latin typeface="Times" panose="02020603050405020304" pitchFamily="18" charset="0"/>
                <a:ea typeface="MS Mincho"/>
                <a:cs typeface="Bank Gothic Bold"/>
              </a:rPr>
              <a:t> </a:t>
            </a:r>
            <a:r>
              <a:rPr lang="da-DK" b="1" dirty="0">
                <a:latin typeface="Courier New" panose="02070309020205020404" pitchFamily="49" charset="0"/>
                <a:ea typeface="MS Mincho"/>
                <a:cs typeface="Bank Gothic Bold"/>
              </a:rPr>
              <a:t>=</a:t>
            </a:r>
            <a:r>
              <a:rPr lang="da-DK" b="1" dirty="0">
                <a:latin typeface="Times" panose="02020603050405020304" pitchFamily="18" charset="0"/>
                <a:ea typeface="MS Mincho"/>
                <a:cs typeface="Bank Gothic Bold"/>
              </a:rPr>
              <a:t> </a:t>
            </a:r>
            <a:r>
              <a:rPr lang="da-DK" b="1" dirty="0">
                <a:solidFill>
                  <a:srgbClr val="8A3800"/>
                </a:solidFill>
                <a:latin typeface="Courier New" panose="02070309020205020404" pitchFamily="49" charset="0"/>
                <a:ea typeface="MS Mincho"/>
                <a:cs typeface="Bank Gothic Bold"/>
              </a:rPr>
              <a:t>True</a:t>
            </a:r>
            <a:endParaRPr lang="en-US" sz="1300" dirty="0">
              <a:solidFill>
                <a:srgbClr val="8A3800"/>
              </a:solidFill>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not</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swapped:</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Return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swaps</a:t>
            </a:r>
            <a:endParaRPr lang="en-US" sz="1300" dirty="0">
              <a:solidFill>
                <a:srgbClr val="C00000"/>
              </a:solidFill>
              <a:latin typeface="Bank Gothic Bold"/>
              <a:ea typeface="MS Mincho"/>
              <a:cs typeface="Bank Gothic Bold"/>
            </a:endParaRPr>
          </a:p>
          <a:p>
            <a:pPr marL="342900" lvl="1" indent="0">
              <a:buNone/>
            </a:pPr>
            <a:r>
              <a:rPr lang="en-US" b="1" dirty="0">
                <a:latin typeface="Courier New" panose="02070309020205020404" pitchFamily="49" charset="0"/>
                <a:ea typeface="MS Mincho"/>
              </a:rPr>
              <a:t>       n</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1</a:t>
            </a:r>
            <a:endParaRPr lang="en-IN" dirty="0"/>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717906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Insertion Sort </a:t>
            </a:r>
            <a:r>
              <a:rPr lang="en-US" sz="2000" dirty="0"/>
              <a:t>(1 of 3)</a:t>
            </a:r>
          </a:p>
        </p:txBody>
      </p:sp>
      <p:sp>
        <p:nvSpPr>
          <p:cNvPr id="3" name="Content Placeholder 2"/>
          <p:cNvSpPr>
            <a:spLocks noGrp="1"/>
          </p:cNvSpPr>
          <p:nvPr>
            <p:ph idx="1"/>
          </p:nvPr>
        </p:nvSpPr>
        <p:spPr/>
        <p:txBody>
          <a:bodyPr>
            <a:normAutofit fontScale="92500" lnSpcReduction="20000"/>
          </a:bodyPr>
          <a:lstStyle/>
          <a:p>
            <a:pPr marL="291600" indent="-291600">
              <a:lnSpc>
                <a:spcPct val="100000"/>
              </a:lnSpc>
              <a:spcBef>
                <a:spcPts val="1000"/>
              </a:spcBef>
            </a:pPr>
            <a:r>
              <a:rPr lang="en-US" dirty="0"/>
              <a:t>An insertion sort attempts to exploit the partial ordering of the list in a different way</a:t>
            </a:r>
          </a:p>
          <a:p>
            <a:pPr marL="291600" indent="-291600">
              <a:lnSpc>
                <a:spcPct val="100000"/>
              </a:lnSpc>
              <a:spcBef>
                <a:spcPts val="1000"/>
              </a:spcBef>
            </a:pPr>
            <a:r>
              <a:rPr lang="en-US" dirty="0"/>
              <a:t>The strategy:</a:t>
            </a:r>
          </a:p>
          <a:p>
            <a:pPr lvl="1">
              <a:spcBef>
                <a:spcPts val="1000"/>
              </a:spcBef>
            </a:pPr>
            <a:r>
              <a:rPr lang="en-US" dirty="0"/>
              <a:t>On the </a:t>
            </a:r>
            <a:r>
              <a:rPr lang="en-US" i="1" dirty="0"/>
              <a:t>i</a:t>
            </a:r>
            <a:r>
              <a:rPr lang="en-US" dirty="0"/>
              <a:t>th pass through the list, where </a:t>
            </a:r>
            <a:r>
              <a:rPr lang="en-US" i="1" dirty="0"/>
              <a:t>i </a:t>
            </a:r>
            <a:r>
              <a:rPr lang="en-US" dirty="0"/>
              <a:t>ranges from 1 to </a:t>
            </a:r>
            <a:r>
              <a:rPr lang="en-US" i="1" dirty="0"/>
              <a:t>n </a:t>
            </a:r>
            <a:r>
              <a:rPr lang="en-US" dirty="0">
                <a:latin typeface="Arial" panose="020B0604020202020204" pitchFamily="34" charset="0"/>
                <a:cs typeface="Arial" panose="020B0604020202020204" pitchFamily="34" charset="0"/>
              </a:rPr>
              <a:t>−</a:t>
            </a:r>
            <a:r>
              <a:rPr lang="en-US" dirty="0"/>
              <a:t> 1, the </a:t>
            </a:r>
            <a:r>
              <a:rPr lang="en-US" i="1" dirty="0"/>
              <a:t>i</a:t>
            </a:r>
            <a:r>
              <a:rPr lang="en-US" dirty="0"/>
              <a:t>th item should be inserted into its proper place among the first </a:t>
            </a:r>
            <a:r>
              <a:rPr lang="en-US" i="1" dirty="0"/>
              <a:t>i </a:t>
            </a:r>
            <a:r>
              <a:rPr lang="en-US" dirty="0"/>
              <a:t>items in the list</a:t>
            </a:r>
          </a:p>
          <a:p>
            <a:pPr lvl="1">
              <a:spcBef>
                <a:spcPts val="1000"/>
              </a:spcBef>
            </a:pPr>
            <a:r>
              <a:rPr lang="en-US" dirty="0"/>
              <a:t>After the </a:t>
            </a:r>
            <a:r>
              <a:rPr lang="en-US" i="1" dirty="0"/>
              <a:t>i</a:t>
            </a:r>
            <a:r>
              <a:rPr lang="en-US" dirty="0"/>
              <a:t>th pass, the first </a:t>
            </a:r>
            <a:r>
              <a:rPr lang="en-US" i="1" dirty="0"/>
              <a:t>i </a:t>
            </a:r>
            <a:r>
              <a:rPr lang="en-US" dirty="0"/>
              <a:t>items should be in sorted order:</a:t>
            </a:r>
          </a:p>
          <a:p>
            <a:pPr lvl="2">
              <a:spcBef>
                <a:spcPts val="1000"/>
              </a:spcBef>
            </a:pPr>
            <a:r>
              <a:rPr lang="en-US" dirty="0"/>
              <a:t>This process is analogous to the way in which many people organize playing cards in their hands. That is, if you hold the first </a:t>
            </a:r>
            <a:r>
              <a:rPr lang="en-US" i="1" dirty="0" err="1"/>
              <a:t>i</a:t>
            </a:r>
            <a:r>
              <a:rPr lang="en-US" i="1" dirty="0"/>
              <a:t> </a:t>
            </a:r>
            <a:r>
              <a:rPr lang="en-US" dirty="0">
                <a:latin typeface="Arial" panose="020B0604020202020204" pitchFamily="34" charset="0"/>
                <a:cs typeface="Arial" panose="020B0604020202020204" pitchFamily="34" charset="0"/>
              </a:rPr>
              <a:t>−</a:t>
            </a:r>
            <a:r>
              <a:rPr lang="en-US" dirty="0"/>
              <a:t> 1 cards in order, you pick the </a:t>
            </a:r>
            <a:r>
              <a:rPr lang="en-US" i="1" dirty="0"/>
              <a:t>i</a:t>
            </a:r>
            <a:r>
              <a:rPr lang="en-US" dirty="0"/>
              <a:t>th card and compare it to these cards until its proper spot is found</a:t>
            </a:r>
          </a:p>
          <a:p>
            <a:pPr lvl="1">
              <a:spcBef>
                <a:spcPts val="1000"/>
              </a:spcBef>
            </a:pPr>
            <a:r>
              <a:rPr lang="en-US" dirty="0"/>
              <a:t>Insertion sort consists of two loops:</a:t>
            </a:r>
          </a:p>
          <a:p>
            <a:pPr lvl="2">
              <a:spcBef>
                <a:spcPts val="1000"/>
              </a:spcBef>
            </a:pPr>
            <a:r>
              <a:rPr lang="en-US" dirty="0"/>
              <a:t>The outer loop traverses the positions from 1 to </a:t>
            </a:r>
            <a:r>
              <a:rPr lang="en-US" i="1" dirty="0"/>
              <a:t>n </a:t>
            </a:r>
            <a:r>
              <a:rPr lang="en-US" dirty="0">
                <a:latin typeface="Arial" panose="020B0604020202020204" pitchFamily="34" charset="0"/>
                <a:cs typeface="Arial" panose="020B0604020202020204" pitchFamily="34" charset="0"/>
              </a:rPr>
              <a:t>−</a:t>
            </a:r>
            <a:r>
              <a:rPr lang="en-US" dirty="0"/>
              <a:t> 1</a:t>
            </a:r>
          </a:p>
          <a:p>
            <a:pPr lvl="2">
              <a:spcBef>
                <a:spcPts val="1000"/>
              </a:spcBef>
            </a:pPr>
            <a:r>
              <a:rPr lang="en-US" dirty="0"/>
              <a:t>For each position </a:t>
            </a:r>
            <a:r>
              <a:rPr lang="en-US" i="1" dirty="0"/>
              <a:t>i </a:t>
            </a:r>
            <a:r>
              <a:rPr lang="en-US" dirty="0"/>
              <a:t>in this loop, you save the item and start the inner loop at position </a:t>
            </a:r>
            <a:r>
              <a:rPr lang="en-US" i="1" dirty="0" err="1"/>
              <a:t>i</a:t>
            </a:r>
            <a:r>
              <a:rPr lang="en-US" i="1" dirty="0"/>
              <a:t> </a:t>
            </a:r>
            <a:r>
              <a:rPr lang="en-US" dirty="0">
                <a:latin typeface="Arial" panose="020B0604020202020204" pitchFamily="34" charset="0"/>
                <a:cs typeface="Arial" panose="020B0604020202020204" pitchFamily="34" charset="0"/>
              </a:rPr>
              <a:t>−</a:t>
            </a:r>
            <a:r>
              <a:rPr lang="en-US" dirty="0"/>
              <a:t> 1</a:t>
            </a:r>
          </a:p>
          <a:p>
            <a:pPr lvl="2">
              <a:spcBef>
                <a:spcPts val="1000"/>
              </a:spcBef>
            </a:pPr>
            <a:r>
              <a:rPr lang="en-US" dirty="0"/>
              <a:t>For each position </a:t>
            </a:r>
            <a:r>
              <a:rPr lang="en-US" i="1" dirty="0"/>
              <a:t>j </a:t>
            </a:r>
            <a:r>
              <a:rPr lang="en-US" dirty="0"/>
              <a:t>in this loop, you move the item to position </a:t>
            </a:r>
            <a:r>
              <a:rPr lang="en-US" i="1" dirty="0"/>
              <a:t>j </a:t>
            </a:r>
            <a:r>
              <a:rPr lang="en-US" dirty="0"/>
              <a:t>+ 1 until you find the insertion point for the saved (</a:t>
            </a:r>
            <a:r>
              <a:rPr lang="en-US" i="1" dirty="0"/>
              <a:t>i</a:t>
            </a:r>
            <a:r>
              <a:rPr lang="en-US" dirty="0"/>
              <a:t>th) item</a:t>
            </a:r>
          </a:p>
        </p:txBody>
      </p:sp>
      <p:sp>
        <p:nvSpPr>
          <p:cNvPr id="5"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862043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Insertion Sort </a:t>
            </a:r>
            <a:r>
              <a:rPr lang="en-US" sz="2000" dirty="0"/>
              <a:t>(2 of 3)</a:t>
            </a:r>
          </a:p>
        </p:txBody>
      </p:sp>
      <p:sp>
        <p:nvSpPr>
          <p:cNvPr id="3" name="Content Placeholder 2"/>
          <p:cNvSpPr>
            <a:spLocks noGrp="1"/>
          </p:cNvSpPr>
          <p:nvPr>
            <p:ph idx="1"/>
          </p:nvPr>
        </p:nvSpPr>
        <p:spPr>
          <a:xfrm>
            <a:off x="628650" y="1825625"/>
            <a:ext cx="7886700" cy="307975"/>
          </a:xfrm>
        </p:spPr>
        <p:txBody>
          <a:bodyPr>
            <a:normAutofit/>
          </a:bodyPr>
          <a:lstStyle/>
          <a:p>
            <a:pPr marL="291600" indent="-291600">
              <a:spcBef>
                <a:spcPts val="1000"/>
              </a:spcBef>
            </a:pPr>
            <a:r>
              <a:rPr lang="en-US" dirty="0"/>
              <a:t>Code for the </a:t>
            </a:r>
            <a:r>
              <a:rPr lang="en-US" b="1" dirty="0">
                <a:latin typeface="Courier New" panose="02070309020205020404" pitchFamily="49" charset="0"/>
                <a:cs typeface="Courier New" panose="02070309020205020404" pitchFamily="49" charset="0"/>
              </a:rPr>
              <a:t>insertionSort</a:t>
            </a:r>
            <a:r>
              <a:rPr lang="en-US" dirty="0"/>
              <a:t> function:</a:t>
            </a:r>
          </a:p>
        </p:txBody>
      </p:sp>
      <p:sp>
        <p:nvSpPr>
          <p:cNvPr id="5" name="Content Placeholder 4"/>
          <p:cNvSpPr>
            <a:spLocks noGrp="1"/>
          </p:cNvSpPr>
          <p:nvPr>
            <p:ph sz="quarter" idx="12"/>
          </p:nvPr>
        </p:nvSpPr>
        <p:spPr>
          <a:xfrm>
            <a:off x="762000" y="2286000"/>
            <a:ext cx="7315200" cy="3276600"/>
          </a:xfrm>
        </p:spPr>
        <p:txBody>
          <a:bodyPr>
            <a:normAutofit/>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solidFill>
                  <a:srgbClr val="8A3800"/>
                </a:solidFill>
                <a:latin typeface="Times" panose="02020603050405020304" pitchFamily="18" charset="0"/>
                <a:ea typeface="MS Mincho"/>
                <a:cs typeface="Bank Gothic Bold"/>
              </a:rPr>
              <a:t> </a:t>
            </a:r>
            <a:r>
              <a:rPr lang="en-US" b="1" dirty="0" err="1">
                <a:solidFill>
                  <a:srgbClr val="0000FF"/>
                </a:solidFill>
                <a:latin typeface="Courier New" panose="02070309020205020404" pitchFamily="49" charset="0"/>
                <a:ea typeface="MS Mincho"/>
                <a:cs typeface="Bank Gothic Bold"/>
              </a:rPr>
              <a:t>insertionSort</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tabLst>
                <a:tab pos="3200400" algn="l"/>
              </a:tabLst>
            </a:pPr>
            <a:r>
              <a:rPr lang="nb-NO" b="1" dirty="0">
                <a:latin typeface="Courier New" panose="02070309020205020404" pitchFamily="49" charset="0"/>
                <a:ea typeface="MS Mincho"/>
                <a:cs typeface="Bank Gothic Bold"/>
              </a:rPr>
              <a:t>    i</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nb-NO" b="1" dirty="0">
                <a:solidFill>
                  <a:srgbClr val="FF6600"/>
                </a:solidFill>
                <a:latin typeface="Courier New" panose="02070309020205020404" pitchFamily="49" charset="0"/>
                <a:ea typeface="MS Mincho"/>
                <a:cs typeface="Bank Gothic Bold"/>
              </a:rPr>
              <a:t>    </a:t>
            </a:r>
            <a:r>
              <a:rPr lang="nb-NO" b="1" dirty="0">
                <a:solidFill>
                  <a:srgbClr val="8A3800"/>
                </a:solidFill>
                <a:latin typeface="Courier New" panose="02070309020205020404" pitchFamily="49" charset="0"/>
                <a:ea typeface="MS Mincho"/>
                <a:cs typeface="Bank Gothic Bold"/>
              </a:rPr>
              <a:t>while</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i</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&lt;</a:t>
            </a:r>
            <a:r>
              <a:rPr lang="nb-NO" b="1" dirty="0">
                <a:latin typeface="Times" panose="02020603050405020304" pitchFamily="18" charset="0"/>
                <a:ea typeface="MS Mincho"/>
                <a:cs typeface="Bank Gothic Bold"/>
              </a:rPr>
              <a:t> </a:t>
            </a:r>
            <a:r>
              <a:rPr lang="nb-NO" b="1" dirty="0">
                <a:solidFill>
                  <a:srgbClr val="660066"/>
                </a:solidFill>
                <a:latin typeface="Courier New" panose="02070309020205020404" pitchFamily="49" charset="0"/>
                <a:ea typeface="MS Mincho"/>
                <a:cs typeface="Bank Gothic Bold"/>
              </a:rPr>
              <a:t>len</a:t>
            </a:r>
            <a:r>
              <a:rPr lang="nb-NO" b="1" dirty="0">
                <a:latin typeface="Courier New" panose="02070309020205020404" pitchFamily="49" charset="0"/>
                <a:ea typeface="MS Mincho"/>
                <a:cs typeface="Bank Gothic Bold"/>
              </a:rPr>
              <a:t>(lyst):</a:t>
            </a:r>
            <a:endParaRPr lang="en-US" sz="1300" dirty="0">
              <a:latin typeface="Bank Gothic Bold"/>
              <a:ea typeface="MS Mincho"/>
              <a:cs typeface="Bank Gothic Bold"/>
            </a:endParaRPr>
          </a:p>
          <a:p>
            <a:pPr marL="171450" lvl="1" indent="0">
              <a:spcBef>
                <a:spcPts val="0"/>
              </a:spcBef>
              <a:buNone/>
              <a:tabLst>
                <a:tab pos="3200400" algn="l"/>
              </a:tabLst>
            </a:pPr>
            <a:r>
              <a:rPr lang="nb-NO" b="1" dirty="0">
                <a:latin typeface="Courier New" panose="02070309020205020404" pitchFamily="49" charset="0"/>
                <a:ea typeface="MS Mincho"/>
                <a:cs typeface="Bank Gothic Bold"/>
              </a:rPr>
              <a:t>        itemToInsert</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lyst[i]</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j</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 while</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j</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 if</a:t>
            </a:r>
            <a:r>
              <a:rPr lang="en-US" b="1" dirty="0">
                <a:solidFill>
                  <a:srgbClr val="8A3800"/>
                </a:solidFill>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itemToInsert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[j]:</a:t>
            </a:r>
            <a:endParaRPr lang="en-US" sz="1300" dirty="0">
              <a:latin typeface="Bank Gothic Bold"/>
              <a:ea typeface="MS Mincho"/>
              <a:cs typeface="Bank Gothic Bold"/>
            </a:endParaRPr>
          </a:p>
          <a:p>
            <a:pPr marL="171450" lvl="1" indent="0">
              <a:spcBef>
                <a:spcPts val="0"/>
              </a:spcBef>
              <a:buNone/>
              <a:tabLst>
                <a:tab pos="3200400" algn="l"/>
              </a:tabLst>
            </a:pPr>
            <a:r>
              <a:rPr lang="nb-NO" b="1" dirty="0">
                <a:latin typeface="Courier New" panose="02070309020205020404" pitchFamily="49" charset="0"/>
                <a:ea typeface="MS Mincho"/>
                <a:cs typeface="Bank Gothic Bold"/>
              </a:rPr>
              <a:t>                lyst[j</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1]</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lyst[j]</a:t>
            </a:r>
            <a:endParaRPr lang="en-US" sz="1300" dirty="0">
              <a:latin typeface="Bank Gothic Bold"/>
              <a:ea typeface="MS Mincho"/>
              <a:cs typeface="Bank Gothic Bold"/>
            </a:endParaRPr>
          </a:p>
          <a:p>
            <a:pPr marL="171450" lvl="1" indent="0">
              <a:spcBef>
                <a:spcPts val="0"/>
              </a:spcBef>
              <a:buNone/>
              <a:tabLst>
                <a:tab pos="3200400" algn="l"/>
              </a:tabLst>
            </a:pPr>
            <a:r>
              <a:rPr lang="nb-NO" b="1" dirty="0">
                <a:latin typeface="Courier New" panose="02070309020205020404" pitchFamily="49" charset="0"/>
                <a:ea typeface="MS Mincho"/>
                <a:cs typeface="Bank Gothic Bold"/>
              </a:rPr>
              <a:t>                j</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nb-NO" b="1" dirty="0">
                <a:solidFill>
                  <a:srgbClr val="FF6600"/>
                </a:solidFill>
                <a:latin typeface="Courier New" panose="02070309020205020404" pitchFamily="49" charset="0"/>
                <a:ea typeface="MS Mincho"/>
                <a:cs typeface="Bank Gothic Bold"/>
              </a:rPr>
              <a:t>           </a:t>
            </a:r>
            <a:r>
              <a:rPr lang="nb-NO" b="1" dirty="0">
                <a:solidFill>
                  <a:srgbClr val="8A38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else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8A3800"/>
                </a:solidFill>
                <a:latin typeface="Courier New" panose="02070309020205020404" pitchFamily="49" charset="0"/>
                <a:ea typeface="MS Mincho"/>
                <a:cs typeface="Bank Gothic Bold"/>
              </a:rPr>
              <a:t>                break</a:t>
            </a:r>
            <a:endParaRPr lang="en-US" sz="1300" dirty="0">
              <a:solidFill>
                <a:srgbClr val="8A3800"/>
              </a:solidFill>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[j</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itemToInsert</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a:t>
            </a:r>
            <a:r>
              <a:rPr lang="en-US" b="1" dirty="0" err="1">
                <a:latin typeface="Courier New" panose="02070309020205020404" pitchFamily="49" charset="0"/>
                <a:ea typeface="MS Mincho"/>
              </a:rPr>
              <a:t>i</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1</a:t>
            </a:r>
            <a:endParaRPr lang="en-IN" dirty="0"/>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7989131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Insertion Sort </a:t>
            </a:r>
            <a:r>
              <a:rPr lang="en-US" sz="2000" dirty="0"/>
              <a:t>(3 of 3)</a:t>
            </a:r>
          </a:p>
        </p:txBody>
      </p:sp>
      <p:sp>
        <p:nvSpPr>
          <p:cNvPr id="3" name="Content Placeholder 2"/>
          <p:cNvSpPr>
            <a:spLocks noGrp="1"/>
          </p:cNvSpPr>
          <p:nvPr>
            <p:ph idx="1"/>
          </p:nvPr>
        </p:nvSpPr>
        <p:spPr>
          <a:xfrm>
            <a:off x="628650" y="1825625"/>
            <a:ext cx="7886700" cy="384175"/>
          </a:xfrm>
        </p:spPr>
        <p:txBody>
          <a:bodyPr>
            <a:normAutofit/>
          </a:bodyPr>
          <a:lstStyle/>
          <a:p>
            <a:pPr marL="0" indent="0">
              <a:spcBef>
                <a:spcPts val="1000"/>
              </a:spcBef>
              <a:buNone/>
            </a:pPr>
            <a:r>
              <a:rPr lang="en-IN" b="1" dirty="0"/>
              <a:t>Figure 3-10: </a:t>
            </a:r>
            <a:r>
              <a:rPr lang="en-IN" dirty="0"/>
              <a:t>A trace of data during insertion sort</a:t>
            </a:r>
            <a:endParaRPr lang="en-US" b="1" dirty="0">
              <a:solidFill>
                <a:srgbClr val="FF6600"/>
              </a:solidFill>
              <a:latin typeface="Courier New" panose="02070309020205020404" pitchFamily="49" charset="0"/>
              <a:ea typeface="MS Mincho"/>
              <a:cs typeface="Bank Gothic Bold"/>
            </a:endParaRPr>
          </a:p>
        </p:txBody>
      </p:sp>
      <p:pic>
        <p:nvPicPr>
          <p:cNvPr id="7" name="Content Placeholder 6" descr="Illustration shows table with trace of data during insertion sort. It has 5 rows and 5 columns. The columns have the following headings from left to right: Unsorted list, after 1st pass, after 2nd pass, after 3rd pass, after 4th pass.  The row entries are as follows. Row 1: 2, 2, 1*, 1, 1. Row 2: 5 with left pointing arrow, 5 with the words no insertion in parenthesis, 2, 2, 2. Row 3: 1, 1 with left pointing arrow, 5, 4*, 3*. Row 4: 4, 4, 4 with left pointing arrow, 5, 4. Row 5: 3, 3, 3, 3 with left pointing arrow, 5. "/>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200581" y="2576651"/>
            <a:ext cx="6727856" cy="2487412"/>
          </a:xfrm>
        </p:spPr>
      </p:pic>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708325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54074"/>
          </a:xfrm>
        </p:spPr>
        <p:txBody>
          <a:bodyPr/>
          <a:lstStyle/>
          <a:p>
            <a:r>
              <a:rPr lang="en-US" b="1" dirty="0"/>
              <a:t>Best-Case, Worst-Case, and Average-Case Performance Revisited</a:t>
            </a:r>
          </a:p>
        </p:txBody>
      </p:sp>
      <p:sp>
        <p:nvSpPr>
          <p:cNvPr id="3" name="Content Placeholder 2"/>
          <p:cNvSpPr>
            <a:spLocks noGrp="1"/>
          </p:cNvSpPr>
          <p:nvPr>
            <p:ph idx="1"/>
          </p:nvPr>
        </p:nvSpPr>
        <p:spPr/>
        <p:txBody>
          <a:bodyPr/>
          <a:lstStyle/>
          <a:p>
            <a:pPr marL="291600" lvl="0" indent="-291600">
              <a:spcBef>
                <a:spcPts val="1000"/>
              </a:spcBef>
            </a:pPr>
            <a:r>
              <a:rPr lang="en-US" dirty="0"/>
              <a:t>Best case</a:t>
            </a:r>
          </a:p>
          <a:p>
            <a:pPr lvl="1">
              <a:spcBef>
                <a:spcPts val="1000"/>
              </a:spcBef>
            </a:pPr>
            <a:r>
              <a:rPr lang="en-US" dirty="0"/>
              <a:t>Under what circumstances does an algorithm do the least amount of work? </a:t>
            </a:r>
          </a:p>
          <a:p>
            <a:pPr lvl="1">
              <a:spcBef>
                <a:spcPts val="1000"/>
              </a:spcBef>
            </a:pPr>
            <a:r>
              <a:rPr lang="en-US" dirty="0"/>
              <a:t>What is the algorithm’s complexity in this best case?</a:t>
            </a:r>
          </a:p>
          <a:p>
            <a:pPr marL="291600" lvl="0" indent="-291600">
              <a:spcBef>
                <a:spcPts val="1000"/>
              </a:spcBef>
            </a:pPr>
            <a:r>
              <a:rPr lang="en-US" dirty="0"/>
              <a:t>Worst case</a:t>
            </a:r>
          </a:p>
          <a:p>
            <a:pPr lvl="1">
              <a:spcBef>
                <a:spcPts val="1000"/>
              </a:spcBef>
            </a:pPr>
            <a:r>
              <a:rPr lang="en-US" dirty="0"/>
              <a:t>Under what circumstances does an algorithm do the most amount of work? </a:t>
            </a:r>
          </a:p>
          <a:p>
            <a:pPr lvl="1">
              <a:spcBef>
                <a:spcPts val="1000"/>
              </a:spcBef>
            </a:pPr>
            <a:r>
              <a:rPr lang="en-US" dirty="0"/>
              <a:t>What is the algorithm’s complexity in this worst case?</a:t>
            </a:r>
          </a:p>
          <a:p>
            <a:pPr marL="291600" indent="-291600">
              <a:spcBef>
                <a:spcPts val="1000"/>
              </a:spcBef>
            </a:pPr>
            <a:r>
              <a:rPr lang="en-US" dirty="0"/>
              <a:t>Average case</a:t>
            </a:r>
          </a:p>
          <a:p>
            <a:pPr lvl="1">
              <a:spcBef>
                <a:spcPts val="1000"/>
              </a:spcBef>
            </a:pPr>
            <a:r>
              <a:rPr lang="en-US" dirty="0"/>
              <a:t>Under what circumstances does an algorithm do a typical amount of work?</a:t>
            </a:r>
          </a:p>
          <a:p>
            <a:pPr lvl="1">
              <a:spcBef>
                <a:spcPts val="1000"/>
              </a:spcBef>
            </a:pPr>
            <a:r>
              <a:rPr lang="en-US" dirty="0"/>
              <a:t>What is the algorithm’s complexity in this typical case?</a:t>
            </a:r>
          </a:p>
        </p:txBody>
      </p:sp>
      <p:sp>
        <p:nvSpPr>
          <p:cNvPr id="5"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083275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Faster Sorting </a:t>
            </a:r>
            <a:r>
              <a:rPr lang="en-US" sz="2000" dirty="0"/>
              <a:t>(1 of 2)</a:t>
            </a:r>
          </a:p>
        </p:txBody>
      </p:sp>
      <p:sp>
        <p:nvSpPr>
          <p:cNvPr id="3" name="Content Placeholder 2"/>
          <p:cNvSpPr>
            <a:spLocks noGrp="1"/>
          </p:cNvSpPr>
          <p:nvPr>
            <p:ph idx="1"/>
          </p:nvPr>
        </p:nvSpPr>
        <p:spPr>
          <a:xfrm>
            <a:off x="628650" y="1825625"/>
            <a:ext cx="7886700" cy="2898775"/>
          </a:xfrm>
        </p:spPr>
        <p:txBody>
          <a:bodyPr/>
          <a:lstStyle/>
          <a:p>
            <a:pPr marL="291600" indent="-291600">
              <a:spcBef>
                <a:spcPts val="1000"/>
              </a:spcBef>
            </a:pPr>
            <a:r>
              <a:rPr lang="en-US" dirty="0"/>
              <a:t>The secret to these better algorithms is a divide-and-conquer strategy:</a:t>
            </a:r>
          </a:p>
          <a:p>
            <a:pPr lvl="1">
              <a:spcBef>
                <a:spcPts val="1000"/>
              </a:spcBef>
            </a:pPr>
            <a:r>
              <a:rPr lang="en-US" dirty="0"/>
              <a:t>Each algorithm finds a way of breaking the list into smaller sublists</a:t>
            </a:r>
          </a:p>
          <a:p>
            <a:pPr lvl="1">
              <a:spcBef>
                <a:spcPts val="1000"/>
              </a:spcBef>
            </a:pPr>
            <a:r>
              <a:rPr lang="en-US" dirty="0"/>
              <a:t>These sublists are then sorted recursively</a:t>
            </a:r>
          </a:p>
          <a:p>
            <a:pPr marL="291600" indent="-291600">
              <a:spcBef>
                <a:spcPts val="1000"/>
              </a:spcBef>
            </a:pPr>
            <a:r>
              <a:rPr lang="en-US" dirty="0"/>
              <a:t>Ideally, if the number of these subdivisions is log(</a:t>
            </a:r>
            <a:r>
              <a:rPr lang="en-US" i="1" dirty="0"/>
              <a:t>n</a:t>
            </a:r>
            <a:r>
              <a:rPr lang="en-US" dirty="0"/>
              <a:t>) and the amount of work needed to rearrange the data on each subdivision is </a:t>
            </a:r>
            <a:r>
              <a:rPr lang="en-US" i="1" dirty="0"/>
              <a:t>n,</a:t>
            </a:r>
            <a:endParaRPr lang="en-US" dirty="0"/>
          </a:p>
          <a:p>
            <a:pPr lvl="1">
              <a:spcBef>
                <a:spcPts val="1000"/>
              </a:spcBef>
            </a:pPr>
            <a:r>
              <a:rPr lang="en-US" dirty="0"/>
              <a:t>Then the total complexity of such a sort algorithm is O(</a:t>
            </a:r>
            <a:r>
              <a:rPr lang="en-US" i="1" dirty="0"/>
              <a:t>n </a:t>
            </a:r>
            <a:r>
              <a:rPr lang="en-US" dirty="0"/>
              <a:t>log </a:t>
            </a:r>
            <a:r>
              <a:rPr lang="en-US" i="1" dirty="0"/>
              <a:t>n</a:t>
            </a:r>
            <a:r>
              <a:rPr lang="en-US" dirty="0"/>
              <a:t>) </a:t>
            </a:r>
          </a:p>
        </p:txBody>
      </p:sp>
      <p:sp>
        <p:nvSpPr>
          <p:cNvPr id="5"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27525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14460"/>
          </a:xfrm>
        </p:spPr>
        <p:txBody>
          <a:bodyPr/>
          <a:lstStyle/>
          <a:p>
            <a:r>
              <a:rPr lang="en-US" b="1" dirty="0"/>
              <a:t>Faster Sorting </a:t>
            </a:r>
            <a:r>
              <a:rPr lang="en-US" sz="2000" dirty="0"/>
              <a:t>(2 of 2)</a:t>
            </a:r>
          </a:p>
        </p:txBody>
      </p:sp>
      <p:sp>
        <p:nvSpPr>
          <p:cNvPr id="3" name="Content Placeholder 2"/>
          <p:cNvSpPr>
            <a:spLocks noGrp="1"/>
          </p:cNvSpPr>
          <p:nvPr>
            <p:ph idx="1"/>
          </p:nvPr>
        </p:nvSpPr>
        <p:spPr>
          <a:xfrm>
            <a:off x="628650" y="1825625"/>
            <a:ext cx="4179205" cy="307975"/>
          </a:xfrm>
        </p:spPr>
        <p:txBody>
          <a:bodyPr>
            <a:normAutofit fontScale="92500"/>
          </a:bodyPr>
          <a:lstStyle/>
          <a:p>
            <a:pPr marL="291600" indent="-291600">
              <a:spcBef>
                <a:spcPts val="1000"/>
              </a:spcBef>
            </a:pPr>
            <a:r>
              <a:rPr lang="en-US" dirty="0"/>
              <a:t>Table 3.3 Comparing </a:t>
            </a:r>
            <a:r>
              <a:rPr lang="en-US" i="1" dirty="0"/>
              <a:t>n</a:t>
            </a:r>
            <a:r>
              <a:rPr lang="en-US" dirty="0"/>
              <a:t> log </a:t>
            </a:r>
            <a:r>
              <a:rPr lang="en-US" i="1" dirty="0"/>
              <a:t>n</a:t>
            </a:r>
            <a:r>
              <a:rPr lang="en-US" dirty="0"/>
              <a:t> and </a:t>
            </a:r>
            <a:endParaRPr lang="en-US" baseline="30000" dirty="0"/>
          </a:p>
        </p:txBody>
      </p:sp>
      <p:graphicFrame>
        <p:nvGraphicFramePr>
          <p:cNvPr id="10" name="Content Placeholder 9" descr="n squared"/>
          <p:cNvGraphicFramePr>
            <a:graphicFrameLocks noGrp="1" noChangeAspect="1"/>
          </p:cNvGraphicFramePr>
          <p:nvPr>
            <p:ph sz="quarter" idx="12"/>
            <p:extLst>
              <p:ext uri="{D42A27DB-BD31-4B8C-83A1-F6EECF244321}">
                <p14:modId xmlns:p14="http://schemas.microsoft.com/office/powerpoint/2010/main" val="1903508354"/>
              </p:ext>
            </p:extLst>
          </p:nvPr>
        </p:nvGraphicFramePr>
        <p:xfrm>
          <a:off x="4572000" y="1774730"/>
          <a:ext cx="331978" cy="331979"/>
        </p:xfrm>
        <a:graphic>
          <a:graphicData uri="http://schemas.openxmlformats.org/presentationml/2006/ole">
            <mc:AlternateContent xmlns:mc="http://schemas.openxmlformats.org/markup-compatibility/2006">
              <mc:Choice xmlns:v="urn:schemas-microsoft-com:vml" Requires="v">
                <p:oleObj spid="_x0000_s3251" name="Equation" r:id="rId4" imgW="190440" imgH="190440" progId="Equation.DSMT4">
                  <p:embed/>
                </p:oleObj>
              </mc:Choice>
              <mc:Fallback>
                <p:oleObj name="Equation" r:id="rId4" imgW="190440" imgH="190440" progId="Equation.DSMT4">
                  <p:embed/>
                  <p:pic>
                    <p:nvPicPr>
                      <p:cNvPr id="0" name=""/>
                      <p:cNvPicPr/>
                      <p:nvPr/>
                    </p:nvPicPr>
                    <p:blipFill>
                      <a:blip r:embed="rId5"/>
                      <a:stretch>
                        <a:fillRect/>
                      </a:stretch>
                    </p:blipFill>
                    <p:spPr>
                      <a:xfrm>
                        <a:off x="4572000" y="1774730"/>
                        <a:ext cx="331978" cy="331979"/>
                      </a:xfrm>
                      <a:prstGeom prst="rect">
                        <a:avLst/>
                      </a:prstGeom>
                    </p:spPr>
                  </p:pic>
                </p:oleObj>
              </mc:Fallback>
            </mc:AlternateContent>
          </a:graphicData>
        </a:graphic>
      </p:graphicFrame>
      <p:graphicFrame>
        <p:nvGraphicFramePr>
          <p:cNvPr id="11" name="Content Placeholder 10" descr="Table is accessible to screenreaders"/>
          <p:cNvGraphicFramePr>
            <a:graphicFrameLocks noGrp="1"/>
          </p:cNvGraphicFramePr>
          <p:nvPr>
            <p:ph sz="quarter" idx="13"/>
            <p:extLst>
              <p:ext uri="{D42A27DB-BD31-4B8C-83A1-F6EECF244321}">
                <p14:modId xmlns:p14="http://schemas.microsoft.com/office/powerpoint/2010/main" val="1565461873"/>
              </p:ext>
            </p:extLst>
          </p:nvPr>
        </p:nvGraphicFramePr>
        <p:xfrm>
          <a:off x="990600" y="2509520"/>
          <a:ext cx="6629400" cy="259588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912007490"/>
                    </a:ext>
                  </a:extLst>
                </a:gridCol>
                <a:gridCol w="2209800">
                  <a:extLst>
                    <a:ext uri="{9D8B030D-6E8A-4147-A177-3AD203B41FA5}">
                      <a16:colId xmlns:a16="http://schemas.microsoft.com/office/drawing/2014/main" val="3261009328"/>
                    </a:ext>
                  </a:extLst>
                </a:gridCol>
                <a:gridCol w="2209800">
                  <a:extLst>
                    <a:ext uri="{9D8B030D-6E8A-4147-A177-3AD203B41FA5}">
                      <a16:colId xmlns:a16="http://schemas.microsoft.com/office/drawing/2014/main" val="232781885"/>
                    </a:ext>
                  </a:extLst>
                </a:gridCol>
              </a:tblGrid>
              <a:tr h="370840">
                <a:tc>
                  <a:txBody>
                    <a:bodyPr/>
                    <a:lstStyle/>
                    <a:p>
                      <a:r>
                        <a:rPr lang="en-US" i="1" dirty="0">
                          <a:solidFill>
                            <a:schemeClr val="bg2">
                              <a:lumMod val="10000"/>
                            </a:schemeClr>
                          </a:solidFill>
                          <a:latin typeface="Open Sans" panose="020B0606030504020204"/>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i="1" dirty="0">
                          <a:solidFill>
                            <a:schemeClr val="bg2">
                              <a:lumMod val="10000"/>
                            </a:schemeClr>
                          </a:solidFill>
                          <a:latin typeface="Open Sans" panose="020B0606030504020204"/>
                        </a:rPr>
                        <a:t>n</a:t>
                      </a:r>
                      <a:r>
                        <a:rPr lang="en-US" dirty="0">
                          <a:solidFill>
                            <a:schemeClr val="bg2">
                              <a:lumMod val="10000"/>
                            </a:schemeClr>
                          </a:solidFill>
                          <a:latin typeface="Open Sans" panose="020B0606030504020204"/>
                        </a:rPr>
                        <a:t> log </a:t>
                      </a:r>
                      <a:r>
                        <a:rPr lang="en-US" sz="1350" b="1" i="1" kern="1200" dirty="0">
                          <a:solidFill>
                            <a:schemeClr val="bg2">
                              <a:lumMod val="10000"/>
                            </a:schemeClr>
                          </a:solidFill>
                          <a:latin typeface="Open Sans" panose="020B0606030504020204"/>
                          <a:ea typeface="+mn-ea"/>
                          <a:cs typeface="+mn-cs"/>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aseline="30000" dirty="0">
                          <a:solidFill>
                            <a:srgbClr val="0098D4"/>
                          </a:solidFill>
                          <a:latin typeface="Open Sans" panose="020B0606030504020204"/>
                        </a:rPr>
                        <a:t>n squared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4093638"/>
                  </a:ext>
                </a:extLst>
              </a:tr>
              <a:tr h="370840">
                <a:tc>
                  <a:txBody>
                    <a:bodyPr/>
                    <a:lstStyle/>
                    <a:p>
                      <a:r>
                        <a:rPr lang="en-US" dirty="0">
                          <a:latin typeface="Open Sans" panose="020B0606030504020204"/>
                        </a:rPr>
                        <a:t>512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4608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262,144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3532826"/>
                  </a:ext>
                </a:extLst>
              </a:tr>
              <a:tr h="370840">
                <a:tc>
                  <a:txBody>
                    <a:bodyPr/>
                    <a:lstStyle/>
                    <a:p>
                      <a:r>
                        <a:rPr lang="en-US" dirty="0">
                          <a:latin typeface="Open Sans" panose="020B0606030504020204"/>
                        </a:rPr>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10240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1,048,576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4726189"/>
                  </a:ext>
                </a:extLst>
              </a:tr>
              <a:tr h="370840">
                <a:tc>
                  <a:txBody>
                    <a:bodyPr/>
                    <a:lstStyle/>
                    <a:p>
                      <a:r>
                        <a:rPr lang="en-US" dirty="0">
                          <a:latin typeface="Open Sans" panose="020B0606030504020204"/>
                        </a:rPr>
                        <a:t>2048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22,458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4,194,304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0058766"/>
                  </a:ext>
                </a:extLst>
              </a:tr>
              <a:tr h="370840">
                <a:tc>
                  <a:txBody>
                    <a:bodyPr/>
                    <a:lstStyle/>
                    <a:p>
                      <a:r>
                        <a:rPr lang="en-US" dirty="0">
                          <a:latin typeface="Open Sans" panose="020B0606030504020204"/>
                        </a:rPr>
                        <a:t>8192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106,496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67.108,864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2989090"/>
                  </a:ext>
                </a:extLst>
              </a:tr>
              <a:tr h="370840">
                <a:tc>
                  <a:txBody>
                    <a:bodyPr/>
                    <a:lstStyle/>
                    <a:p>
                      <a:r>
                        <a:rPr lang="en-US" dirty="0">
                          <a:latin typeface="Open Sans" panose="020B0606030504020204"/>
                        </a:rPr>
                        <a:t>16,384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229,376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268,435,456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0164735"/>
                  </a:ext>
                </a:extLst>
              </a:tr>
              <a:tr h="370840">
                <a:tc>
                  <a:txBody>
                    <a:bodyPr/>
                    <a:lstStyle/>
                    <a:p>
                      <a:r>
                        <a:rPr lang="en-US" dirty="0">
                          <a:latin typeface="Open Sans" panose="020B0606030504020204"/>
                        </a:rPr>
                        <a:t>32,768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491,520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1,073,741,824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2257209"/>
                  </a:ext>
                </a:extLst>
              </a:tr>
            </a:tbl>
          </a:graphicData>
        </a:graphic>
      </p:graphicFrame>
      <p:graphicFrame>
        <p:nvGraphicFramePr>
          <p:cNvPr id="13" name="Content Placeholder 8" descr="Image description is in table cell"/>
          <p:cNvGraphicFramePr>
            <a:graphicFrameLocks noGrp="1" noChangeAspect="1"/>
          </p:cNvGraphicFramePr>
          <p:nvPr>
            <p:ph sz="quarter" idx="12"/>
            <p:extLst>
              <p:ext uri="{D42A27DB-BD31-4B8C-83A1-F6EECF244321}">
                <p14:modId xmlns:p14="http://schemas.microsoft.com/office/powerpoint/2010/main" val="134791395"/>
              </p:ext>
            </p:extLst>
          </p:nvPr>
        </p:nvGraphicFramePr>
        <p:xfrm>
          <a:off x="5573832" y="2559360"/>
          <a:ext cx="216805" cy="216805"/>
        </p:xfrm>
        <a:graphic>
          <a:graphicData uri="http://schemas.openxmlformats.org/presentationml/2006/ole">
            <mc:AlternateContent xmlns:mc="http://schemas.openxmlformats.org/markup-compatibility/2006">
              <mc:Choice xmlns:v="urn:schemas-microsoft-com:vml" Requires="v">
                <p:oleObj spid="_x0000_s3252" name="Equation" r:id="rId6" imgW="190440" imgH="190440" progId="Equation.DSMT4">
                  <p:embed/>
                </p:oleObj>
              </mc:Choice>
              <mc:Fallback>
                <p:oleObj name="Equation" r:id="rId6" imgW="190440" imgH="190440" progId="Equation.DSMT4">
                  <p:embed/>
                  <p:pic>
                    <p:nvPicPr>
                      <p:cNvPr id="7" name="Content Placeholder 8" descr="n to the power k,"/>
                      <p:cNvPicPr/>
                      <p:nvPr/>
                    </p:nvPicPr>
                    <p:blipFill>
                      <a:blip r:embed="rId7"/>
                      <a:stretch>
                        <a:fillRect/>
                      </a:stretch>
                    </p:blipFill>
                    <p:spPr>
                      <a:xfrm>
                        <a:off x="5573832" y="2559360"/>
                        <a:ext cx="216805" cy="216805"/>
                      </a:xfrm>
                      <a:prstGeom prst="rect">
                        <a:avLst/>
                      </a:prstGeom>
                    </p:spPr>
                  </p:pic>
                </p:oleObj>
              </mc:Fallback>
            </mc:AlternateContent>
          </a:graphicData>
        </a:graphic>
      </p:graphicFrame>
      <p:sp>
        <p:nvSpPr>
          <p:cNvPr id="8"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321787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Overview of Quicksort </a:t>
            </a:r>
            <a:r>
              <a:rPr lang="en-US" sz="2000" dirty="0"/>
              <a:t>(1 of 5)</a:t>
            </a:r>
          </a:p>
        </p:txBody>
      </p:sp>
      <p:sp>
        <p:nvSpPr>
          <p:cNvPr id="3" name="Content Placeholder 2"/>
          <p:cNvSpPr>
            <a:spLocks noGrp="1"/>
          </p:cNvSpPr>
          <p:nvPr>
            <p:ph idx="1"/>
          </p:nvPr>
        </p:nvSpPr>
        <p:spPr>
          <a:xfrm>
            <a:off x="628650" y="1825625"/>
            <a:ext cx="7886700" cy="4041775"/>
          </a:xfrm>
        </p:spPr>
        <p:txBody>
          <a:bodyPr/>
          <a:lstStyle/>
          <a:p>
            <a:pPr marL="291600" indent="-291600">
              <a:spcBef>
                <a:spcPts val="1000"/>
              </a:spcBef>
            </a:pPr>
            <a:r>
              <a:rPr lang="en-US" dirty="0"/>
              <a:t>Outline of the strategy used in the quicksort algorithm:</a:t>
            </a:r>
          </a:p>
          <a:p>
            <a:pPr lvl="1">
              <a:spcBef>
                <a:spcPts val="1000"/>
              </a:spcBef>
            </a:pPr>
            <a:r>
              <a:rPr lang="en-US" dirty="0"/>
              <a:t>Select the item at the list’s midpoint (called the pivot)</a:t>
            </a:r>
          </a:p>
          <a:p>
            <a:pPr lvl="1">
              <a:spcBef>
                <a:spcPts val="1000"/>
              </a:spcBef>
            </a:pPr>
            <a:r>
              <a:rPr lang="en-US" dirty="0"/>
              <a:t>Partition items in the list so that all items less than the pivot are moved to the left of the pivot (rest are moved to the right)</a:t>
            </a:r>
          </a:p>
          <a:p>
            <a:pPr lvl="1">
              <a:spcBef>
                <a:spcPts val="1000"/>
              </a:spcBef>
            </a:pPr>
            <a:r>
              <a:rPr lang="en-US" dirty="0"/>
              <a:t>Divide and conquer</a:t>
            </a:r>
          </a:p>
          <a:p>
            <a:pPr lvl="1">
              <a:spcBef>
                <a:spcPts val="1000"/>
              </a:spcBef>
            </a:pPr>
            <a:r>
              <a:rPr lang="en-US" dirty="0"/>
              <a:t>Process terminates each time it encounters a sublist with fewer than two items</a:t>
            </a:r>
          </a:p>
          <a:p>
            <a:pPr marL="291600" indent="-291600">
              <a:spcBef>
                <a:spcPts val="1000"/>
              </a:spcBef>
            </a:pPr>
            <a:r>
              <a:rPr lang="en-US" dirty="0"/>
              <a:t>Partitioning</a:t>
            </a:r>
          </a:p>
          <a:p>
            <a:pPr lvl="1">
              <a:spcBef>
                <a:spcPts val="1000"/>
              </a:spcBef>
            </a:pPr>
            <a:r>
              <a:rPr lang="en-US" dirty="0"/>
              <a:t>The most complicated part of the algorithm is partitioning the items in a sublist</a:t>
            </a:r>
          </a:p>
          <a:p>
            <a:pPr lvl="1">
              <a:spcBef>
                <a:spcPts val="1000"/>
              </a:spcBef>
            </a:pPr>
            <a:r>
              <a:rPr lang="en-US" dirty="0"/>
              <a:t>See Figures 3.11 and 3.12 on the following slides for an illustration of the steps</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893981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Overview of Quicksort </a:t>
            </a:r>
            <a:r>
              <a:rPr lang="en-US" sz="2000" dirty="0"/>
              <a:t>(2 of 5)</a:t>
            </a:r>
          </a:p>
        </p:txBody>
      </p:sp>
      <p:sp>
        <p:nvSpPr>
          <p:cNvPr id="3" name="Content Placeholder 2"/>
          <p:cNvSpPr>
            <a:spLocks noGrp="1"/>
          </p:cNvSpPr>
          <p:nvPr>
            <p:ph idx="1"/>
          </p:nvPr>
        </p:nvSpPr>
        <p:spPr>
          <a:xfrm>
            <a:off x="628650" y="1195311"/>
            <a:ext cx="7886700" cy="328690"/>
          </a:xfrm>
        </p:spPr>
        <p:txBody>
          <a:bodyPr/>
          <a:lstStyle/>
          <a:p>
            <a:pPr marL="0" indent="0">
              <a:spcBef>
                <a:spcPts val="1000"/>
              </a:spcBef>
              <a:buNone/>
            </a:pPr>
            <a:r>
              <a:rPr lang="en-IN" b="1" dirty="0"/>
              <a:t>Figure 3-11: </a:t>
            </a:r>
            <a:r>
              <a:rPr lang="en-IN" dirty="0"/>
              <a:t>Partitioning a sublist</a:t>
            </a:r>
            <a:endParaRPr lang="en-US" dirty="0"/>
          </a:p>
        </p:txBody>
      </p:sp>
      <p:pic>
        <p:nvPicPr>
          <p:cNvPr id="7" name="Content Placeholder 6" descr="The figure illustrates the steps as applied to the numbers 12, 19, 17, 18, 14, 11, 15, 13, and 16. In Step 1, the pivot is established and swapped with the last item. In Step 2, the boundary is established before the first item. In Steps 3 to 12, the sublist is scanned for items less than the pivot, these are swapped with the first item after the boundary, and the boundary is advanced. Notice that items to the left of the boundary are less than the pivot at all times. Finally, in Step 13, the pivot is swapped with the first item after the boundary, and the sublist has been successfully partitioned."/>
          <p:cNvPicPr>
            <a:picLocks noGrp="1" noChangeAspect="1"/>
          </p:cNvPicPr>
          <p:nvPr>
            <p:ph sz="quarter" idx="12"/>
          </p:nvPr>
        </p:nvPicPr>
        <p:blipFill>
          <a:blip r:embed="rId3" cstate="print">
            <a:extLst>
              <a:ext uri="{28A0092B-C50C-407E-A947-70E740481C1C}">
                <a14:useLocalDpi xmlns:a14="http://schemas.microsoft.com/office/drawing/2010/main" val="0"/>
              </a:ext>
            </a:extLst>
          </a:blip>
          <a:stretch>
            <a:fillRect/>
          </a:stretch>
        </p:blipFill>
        <p:spPr>
          <a:xfrm>
            <a:off x="1115031" y="1645581"/>
            <a:ext cx="6913936" cy="4425752"/>
          </a:xfrm>
        </p:spPr>
      </p:pic>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542866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Overview of Quicksort </a:t>
            </a:r>
            <a:r>
              <a:rPr lang="en-US" sz="2000" dirty="0"/>
              <a:t>(3 of 5)</a:t>
            </a:r>
          </a:p>
        </p:txBody>
      </p:sp>
      <p:sp>
        <p:nvSpPr>
          <p:cNvPr id="3" name="Content Placeholder 2"/>
          <p:cNvSpPr>
            <a:spLocks noGrp="1"/>
          </p:cNvSpPr>
          <p:nvPr>
            <p:ph idx="1"/>
          </p:nvPr>
        </p:nvSpPr>
        <p:spPr>
          <a:xfrm>
            <a:off x="628650" y="1825625"/>
            <a:ext cx="7886700" cy="384175"/>
          </a:xfrm>
        </p:spPr>
        <p:txBody>
          <a:bodyPr/>
          <a:lstStyle/>
          <a:p>
            <a:pPr marL="0" indent="0">
              <a:spcBef>
                <a:spcPts val="1000"/>
              </a:spcBef>
              <a:buNone/>
            </a:pPr>
            <a:r>
              <a:rPr lang="en-IN" b="1" dirty="0"/>
              <a:t>Figure 3-12: </a:t>
            </a:r>
            <a:r>
              <a:rPr lang="en-IN" dirty="0"/>
              <a:t>Partitioning a sublist</a:t>
            </a:r>
            <a:endParaRPr lang="en-US" dirty="0"/>
          </a:p>
        </p:txBody>
      </p:sp>
      <p:pic>
        <p:nvPicPr>
          <p:cNvPr id="7" name="Content Placeholder 6" descr="Illustration shows table with pivot item when a sublist is partitioned. It has 9 rows and two columns.  The columns have the following headings from left to right: List segment, pivot item.  The row entries are as follows. Row 1: 12 19 17 18 14 11 15 13 16, 14. Row 2: 12 11 13, 11. Row 3: 13 12, 13. Row 4: 12 Row 5: 16 19 15 17 18, 15. Row 6: 19 18 17 16, 18. Row 7: 16 17, 16. Row 8: 17. Row 9: 19."/>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965517" y="2462010"/>
            <a:ext cx="5212964" cy="3483135"/>
          </a:xfrm>
        </p:spPr>
      </p:pic>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003155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Overview of Quicksort </a:t>
            </a:r>
            <a:r>
              <a:rPr lang="en-US" sz="2000" dirty="0"/>
              <a:t>(4 of 5)</a:t>
            </a:r>
          </a:p>
        </p:txBody>
      </p:sp>
      <p:sp>
        <p:nvSpPr>
          <p:cNvPr id="3" name="Content Placeholder 2"/>
          <p:cNvSpPr>
            <a:spLocks noGrp="1"/>
          </p:cNvSpPr>
          <p:nvPr>
            <p:ph idx="1"/>
          </p:nvPr>
        </p:nvSpPr>
        <p:spPr>
          <a:xfrm>
            <a:off x="628650" y="1749425"/>
            <a:ext cx="7886700" cy="4270375"/>
          </a:xfrm>
        </p:spPr>
        <p:txBody>
          <a:bodyPr>
            <a:normAutofit lnSpcReduction="10000"/>
          </a:bodyPr>
          <a:lstStyle/>
          <a:p>
            <a:pPr marL="291600" indent="-291600">
              <a:spcBef>
                <a:spcPts val="1000"/>
              </a:spcBef>
            </a:pPr>
            <a:r>
              <a:rPr lang="en-US" dirty="0"/>
              <a:t>Complexity analysis of quicksort</a:t>
            </a:r>
          </a:p>
          <a:p>
            <a:pPr lvl="1">
              <a:spcBef>
                <a:spcPts val="1000"/>
              </a:spcBef>
            </a:pPr>
            <a:r>
              <a:rPr lang="en-US" dirty="0"/>
              <a:t>During the first partition operation, you scan all the items from the beginning of the list to its end</a:t>
            </a:r>
          </a:p>
          <a:p>
            <a:pPr lvl="1">
              <a:spcBef>
                <a:spcPts val="1000"/>
              </a:spcBef>
            </a:pPr>
            <a:r>
              <a:rPr lang="en-US" dirty="0"/>
              <a:t>The amount of work during this operation is proportional to </a:t>
            </a:r>
            <a:r>
              <a:rPr lang="en-US" i="1" dirty="0"/>
              <a:t>n</a:t>
            </a:r>
            <a:r>
              <a:rPr lang="en-US" dirty="0"/>
              <a:t>, the list’s length</a:t>
            </a:r>
          </a:p>
          <a:p>
            <a:pPr lvl="1">
              <a:spcBef>
                <a:spcPts val="1000"/>
              </a:spcBef>
            </a:pPr>
            <a:r>
              <a:rPr lang="en-US" dirty="0"/>
              <a:t>The amount of work after this partition is proportional to the left sublist’s length plus the right sublist’s length, which together yield </a:t>
            </a:r>
            <a:r>
              <a:rPr lang="en-US" i="1" dirty="0"/>
              <a:t>n </a:t>
            </a:r>
            <a:r>
              <a:rPr lang="en-US" dirty="0">
                <a:latin typeface="Arial" panose="020B0604020202020204" pitchFamily="34" charset="0"/>
                <a:cs typeface="Arial" panose="020B0604020202020204" pitchFamily="34" charset="0"/>
              </a:rPr>
              <a:t>−</a:t>
            </a:r>
            <a:r>
              <a:rPr lang="en-US" dirty="0"/>
              <a:t> 1</a:t>
            </a:r>
          </a:p>
          <a:p>
            <a:pPr lvl="1">
              <a:spcBef>
                <a:spcPts val="1000"/>
              </a:spcBef>
            </a:pPr>
            <a:r>
              <a:rPr lang="en-US" dirty="0"/>
              <a:t>When these sublists are divided, there are four pieces whose combined length is approximately </a:t>
            </a:r>
            <a:r>
              <a:rPr lang="en-US" i="1" dirty="0"/>
              <a:t>n</a:t>
            </a:r>
            <a:r>
              <a:rPr lang="en-US" dirty="0"/>
              <a:t>, so the combined work is proportional to </a:t>
            </a:r>
            <a:r>
              <a:rPr lang="en-US" i="1" dirty="0"/>
              <a:t>n </a:t>
            </a:r>
            <a:r>
              <a:rPr lang="en-US" dirty="0"/>
              <a:t>yet again</a:t>
            </a:r>
          </a:p>
          <a:p>
            <a:pPr lvl="1">
              <a:spcBef>
                <a:spcPts val="1000"/>
              </a:spcBef>
            </a:pPr>
            <a:r>
              <a:rPr lang="en-US" dirty="0"/>
              <a:t>As the list is divided into more pieces, the total work remains proportional to </a:t>
            </a:r>
            <a:r>
              <a:rPr lang="en-US" i="1" dirty="0"/>
              <a:t>n</a:t>
            </a:r>
            <a:r>
              <a:rPr lang="en-US" dirty="0"/>
              <a:t>.</a:t>
            </a:r>
          </a:p>
          <a:p>
            <a:pPr lvl="1">
              <a:spcBef>
                <a:spcPts val="1000"/>
              </a:spcBef>
            </a:pPr>
            <a:r>
              <a:rPr lang="en-US" dirty="0"/>
              <a:t>To complete the analysis, you need to determine how many times the lists are partitioned</a:t>
            </a:r>
          </a:p>
        </p:txBody>
      </p:sp>
      <p:sp>
        <p:nvSpPr>
          <p:cNvPr id="5"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175629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Overview of Quicksort </a:t>
            </a:r>
            <a:r>
              <a:rPr lang="en-US" sz="2000" dirty="0"/>
              <a:t>(5 of 5)</a:t>
            </a:r>
          </a:p>
        </p:txBody>
      </p:sp>
      <p:sp>
        <p:nvSpPr>
          <p:cNvPr id="3" name="Content Placeholder 2"/>
          <p:cNvSpPr>
            <a:spLocks noGrp="1"/>
          </p:cNvSpPr>
          <p:nvPr>
            <p:ph idx="1"/>
          </p:nvPr>
        </p:nvSpPr>
        <p:spPr>
          <a:xfrm>
            <a:off x="628650" y="1752600"/>
            <a:ext cx="7886700" cy="609599"/>
          </a:xfrm>
        </p:spPr>
        <p:txBody>
          <a:bodyPr>
            <a:normAutofit fontScale="92500" lnSpcReduction="10000"/>
          </a:bodyPr>
          <a:lstStyle/>
          <a:p>
            <a:pPr marL="0" indent="0">
              <a:lnSpc>
                <a:spcPct val="110000"/>
              </a:lnSpc>
              <a:spcBef>
                <a:spcPts val="1000"/>
              </a:spcBef>
              <a:buNone/>
            </a:pPr>
            <a:r>
              <a:rPr lang="en-IN" b="1" dirty="0"/>
              <a:t>Figure 3-13: </a:t>
            </a:r>
            <a:r>
              <a:rPr lang="en-IN" dirty="0"/>
              <a:t>A worst-case scenario for quicksort (arrows indicate pivot elements)</a:t>
            </a:r>
            <a:endParaRPr lang="en-US" dirty="0"/>
          </a:p>
        </p:txBody>
      </p:sp>
      <p:pic>
        <p:nvPicPr>
          <p:cNvPr id="7" name="Content Placeholder 6" descr="Illustration shows a worst-case scenario for quicksort with arrow indicating pivot elements. Figure shows numbers in 7 rows that are right-aligned. The following are the numbers in the rows. Row 1: 34 marked with arrow, 41, 56, 63, 772, 89, 95. Row 2: 41 marked with arrow, 56, 63, 72, 89, 95. Row 3: 56 marked with arrow, 63, 72, 89, 95. Row 4: 63 marked with arrow, 72, 89, 95. Row 5: 72 marked with arrow, 89, 95. Row 6: 89 marked with arrow, 95. Row 7: 95."/>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2768669" y="2797153"/>
            <a:ext cx="3127267" cy="3127267"/>
          </a:xfrm>
        </p:spPr>
      </p:pic>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442183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Implementation of Quicksort </a:t>
            </a:r>
            <a:r>
              <a:rPr lang="en-US" sz="2000" dirty="0"/>
              <a:t>(1 of 2)</a:t>
            </a:r>
          </a:p>
        </p:txBody>
      </p:sp>
      <p:sp>
        <p:nvSpPr>
          <p:cNvPr id="3" name="Content Placeholder 2"/>
          <p:cNvSpPr>
            <a:spLocks noGrp="1"/>
          </p:cNvSpPr>
          <p:nvPr>
            <p:ph idx="1"/>
          </p:nvPr>
        </p:nvSpPr>
        <p:spPr>
          <a:xfrm>
            <a:off x="628650" y="1825625"/>
            <a:ext cx="7886700" cy="2289175"/>
          </a:xfrm>
        </p:spPr>
        <p:txBody>
          <a:bodyPr>
            <a:normAutofit/>
          </a:bodyPr>
          <a:lstStyle/>
          <a:p>
            <a:pPr marL="291600" indent="-291600">
              <a:spcBef>
                <a:spcPts val="1000"/>
              </a:spcBef>
            </a:pPr>
            <a:r>
              <a:rPr lang="en-US" dirty="0"/>
              <a:t>The quicksort algorithm is most easily coded using a recursive approach</a:t>
            </a:r>
          </a:p>
          <a:p>
            <a:pPr marL="291600" indent="-291600">
              <a:spcBef>
                <a:spcPts val="1000"/>
              </a:spcBef>
            </a:pPr>
            <a:r>
              <a:rPr lang="en-US" dirty="0"/>
              <a:t>The following script defines a top-level </a:t>
            </a:r>
            <a:r>
              <a:rPr lang="en-US" b="1" dirty="0"/>
              <a:t>quicksort</a:t>
            </a:r>
            <a:r>
              <a:rPr lang="en-US" dirty="0"/>
              <a:t> function for the client, a recursive </a:t>
            </a:r>
            <a:r>
              <a:rPr lang="en-US" b="1" dirty="0"/>
              <a:t>quicksortHelper</a:t>
            </a:r>
            <a:r>
              <a:rPr lang="en-US" dirty="0"/>
              <a:t> function to hide the extra arguments for the endpoints of a sublist, and a </a:t>
            </a:r>
            <a:r>
              <a:rPr lang="en-US" b="1" dirty="0"/>
              <a:t>partition</a:t>
            </a:r>
            <a:r>
              <a:rPr lang="en-US" dirty="0"/>
              <a:t> function:</a:t>
            </a:r>
          </a:p>
          <a:p>
            <a:pPr lvl="1">
              <a:spcBef>
                <a:spcPts val="1000"/>
              </a:spcBef>
            </a:pPr>
            <a:r>
              <a:rPr lang="en-US" dirty="0"/>
              <a:t>Script is continued on the next slide</a:t>
            </a:r>
          </a:p>
        </p:txBody>
      </p:sp>
      <p:sp>
        <p:nvSpPr>
          <p:cNvPr id="5" name="Content Placeholder 4"/>
          <p:cNvSpPr>
            <a:spLocks noGrp="1"/>
          </p:cNvSpPr>
          <p:nvPr>
            <p:ph sz="quarter" idx="12"/>
          </p:nvPr>
        </p:nvSpPr>
        <p:spPr>
          <a:xfrm>
            <a:off x="838200" y="4249736"/>
            <a:ext cx="7467600" cy="1846264"/>
          </a:xfrm>
        </p:spPr>
        <p:txBody>
          <a:bodyPr>
            <a:normAutofit lnSpcReduction="10000"/>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quicksort</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quicksortHelper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err="1">
                <a:solidFill>
                  <a:srgbClr val="0000FF"/>
                </a:solidFill>
                <a:latin typeface="Courier New" panose="02070309020205020404" pitchFamily="49" charset="0"/>
                <a:ea typeface="MS Mincho"/>
                <a:cs typeface="Bank Gothic Bold"/>
              </a:rPr>
              <a:t>quicksortHelper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pivotLocation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partition(</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quicksortHelper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left,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pivotLocation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quicksortHelper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pivotLocation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endParaRPr lang="en-IN" dirty="0"/>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233154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Implementation of Quicksort </a:t>
            </a:r>
            <a:r>
              <a:rPr lang="en-US" sz="2000" dirty="0"/>
              <a:t>(2 of 2)</a:t>
            </a:r>
          </a:p>
        </p:txBody>
      </p:sp>
      <p:sp>
        <p:nvSpPr>
          <p:cNvPr id="3" name="Content Placeholder 2"/>
          <p:cNvSpPr>
            <a:spLocks noGrp="1"/>
          </p:cNvSpPr>
          <p:nvPr>
            <p:ph idx="1"/>
          </p:nvPr>
        </p:nvSpPr>
        <p:spPr>
          <a:xfrm>
            <a:off x="628650" y="1690689"/>
            <a:ext cx="7886700" cy="4351338"/>
          </a:xfrm>
        </p:spPr>
        <p:txBody>
          <a:bodyPr>
            <a:normAutofit fontScale="62500" lnSpcReduction="20000"/>
          </a:bodyPr>
          <a:lstStyle/>
          <a:p>
            <a:pPr marL="34290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partition</a:t>
            </a:r>
            <a:r>
              <a:rPr lang="en-US" b="1" dirty="0">
                <a:latin typeface="Courier New" panose="02070309020205020404" pitchFamily="49" charset="0"/>
                <a:ea typeface="MS Mincho"/>
                <a:cs typeface="Bank Gothic Bold"/>
              </a:rPr>
              <a:t>(lyst,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solidFill>
                  <a:srgbClr val="FF0000"/>
                </a:solidFill>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Find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pivot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exchange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with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last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a:t>
            </a:r>
            <a:endParaRPr lang="en-US" sz="1300" dirty="0">
              <a:solidFill>
                <a:srgbClr val="C00000"/>
              </a:solidFill>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middle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2</a:t>
            </a:r>
            <a:endParaRPr lang="en-US" sz="1300" dirty="0">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pivot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lyst[middle]</a:t>
            </a:r>
            <a:endParaRPr lang="en-US" sz="1300" dirty="0">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lyst[middle]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lyst[right]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lyst[right]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pivot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solidFill>
                  <a:srgbClr val="FF0000"/>
                </a:solidFill>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Set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boundary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point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first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a:t>
            </a:r>
            <a:endParaRPr lang="en-US" sz="1300" dirty="0">
              <a:solidFill>
                <a:srgbClr val="C00000"/>
              </a:solidFill>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boundary</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left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solidFill>
                  <a:srgbClr val="FF0000"/>
                </a:solidFill>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Move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less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than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pivot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left</a:t>
            </a:r>
            <a:endParaRPr lang="en-US" sz="1300" dirty="0">
              <a:solidFill>
                <a:srgbClr val="C00000"/>
              </a:solidFill>
              <a:latin typeface="Bank Gothic Bold"/>
              <a:ea typeface="MS Mincho"/>
              <a:cs typeface="Bank Gothic Bold"/>
            </a:endParaRPr>
          </a:p>
          <a:p>
            <a:pPr marL="34290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 for</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lyst[index]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pivot: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swap(lyst,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boundary)</a:t>
            </a:r>
            <a:endParaRPr lang="en-US" sz="1300" dirty="0">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boundary</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342900" lvl="1" indent="0">
              <a:spcBef>
                <a:spcPts val="0"/>
              </a:spcBef>
              <a:buNone/>
              <a:tabLst>
                <a:tab pos="3200400" algn="l"/>
              </a:tabLst>
            </a:pPr>
            <a:r>
              <a:rPr lang="en-US" b="1" dirty="0">
                <a:solidFill>
                  <a:srgbClr val="FF0000"/>
                </a:solidFill>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Exchange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pivot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boundary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a:t>
            </a:r>
            <a:endParaRPr lang="en-US" sz="1300" dirty="0">
              <a:solidFill>
                <a:srgbClr val="C00000"/>
              </a:solidFill>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swap</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(lyst,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boundary)</a:t>
            </a:r>
            <a:endParaRPr lang="en-US" sz="1300" dirty="0">
              <a:latin typeface="Bank Gothic Bold"/>
              <a:ea typeface="MS Mincho"/>
              <a:cs typeface="Bank Gothic Bold"/>
            </a:endParaRPr>
          </a:p>
          <a:p>
            <a:pPr marL="34290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boundary</a:t>
            </a:r>
            <a:endParaRPr lang="en-US" sz="1300" dirty="0">
              <a:latin typeface="Bank Gothic Bold"/>
              <a:ea typeface="MS Mincho"/>
              <a:cs typeface="Bank Gothic Bold"/>
            </a:endParaRPr>
          </a:p>
          <a:p>
            <a:pPr marL="342900" lvl="1" indent="0">
              <a:spcBef>
                <a:spcPts val="0"/>
              </a:spcBef>
              <a:buNone/>
            </a:pPr>
            <a:r>
              <a:rPr lang="en-US" dirty="0">
                <a:latin typeface="Bank Gothic Bold"/>
                <a:ea typeface="MS Mincho"/>
                <a:cs typeface="Bank Gothic Bold"/>
              </a:rPr>
              <a:t> </a:t>
            </a:r>
          </a:p>
          <a:p>
            <a:pPr marL="34290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Earlier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definition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swap</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function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goes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here</a:t>
            </a:r>
            <a:endParaRPr lang="en-US" sz="1300" dirty="0">
              <a:solidFill>
                <a:srgbClr val="C00000"/>
              </a:solidFill>
              <a:latin typeface="Bank Gothic Bold"/>
              <a:ea typeface="MS Mincho"/>
              <a:cs typeface="Bank Gothic Bold"/>
            </a:endParaRPr>
          </a:p>
          <a:p>
            <a:pPr marL="342900" lvl="1" indent="0">
              <a:spcBef>
                <a:spcPts val="0"/>
              </a:spcBef>
              <a:buNone/>
            </a:pPr>
            <a:r>
              <a:rPr lang="en-US" dirty="0">
                <a:latin typeface="Bank Gothic Bold"/>
                <a:ea typeface="MS Mincho"/>
                <a:cs typeface="Bank Gothic Bold"/>
              </a:rPr>
              <a:t> </a:t>
            </a:r>
          </a:p>
          <a:p>
            <a:pPr marL="342900" lvl="1" indent="0">
              <a:spcBef>
                <a:spcPts val="0"/>
              </a:spcBef>
              <a:buNone/>
            </a:pPr>
            <a:r>
              <a:rPr lang="en-US" b="1" dirty="0">
                <a:solidFill>
                  <a:srgbClr val="8A3800"/>
                </a:solidFill>
                <a:latin typeface="Courier New" panose="02070309020205020404" pitchFamily="49" charset="0"/>
                <a:ea typeface="MS Mincho"/>
                <a:cs typeface="Bank Gothic Bold"/>
              </a:rPr>
              <a:t>import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random</a:t>
            </a:r>
            <a:endParaRPr lang="en-US" sz="1300" dirty="0">
              <a:latin typeface="Bank Gothic Bold"/>
              <a:ea typeface="MS Mincho"/>
              <a:cs typeface="Bank Gothic Bold"/>
            </a:endParaRPr>
          </a:p>
          <a:p>
            <a:pPr marL="342900" lvl="1" indent="0">
              <a:spcBef>
                <a:spcPts val="0"/>
              </a:spcBef>
              <a:buNone/>
            </a:pPr>
            <a:r>
              <a:rPr lang="en-US" dirty="0">
                <a:latin typeface="Bank Gothic Bold"/>
                <a:ea typeface="MS Mincho"/>
                <a:cs typeface="Bank Gothic Bold"/>
              </a:rPr>
              <a:t> </a:t>
            </a:r>
          </a:p>
          <a:p>
            <a:pPr marL="342900" marR="182880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main</a:t>
            </a:r>
            <a:r>
              <a:rPr lang="en-US" b="1" dirty="0">
                <a:latin typeface="Courier New" panose="02070309020205020404" pitchFamily="49" charset="0"/>
                <a:ea typeface="MS Mincho"/>
                <a:cs typeface="Bank Gothic Bold"/>
              </a:rPr>
              <a:t>(size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20,</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sort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quicksort):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lyst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count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solidFill>
                  <a:srgbClr val="8A3800"/>
                </a:solidFill>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(size):</a:t>
            </a:r>
            <a:endParaRPr lang="en-US" sz="1300" dirty="0">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lyst.append(random.randint(1,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size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342900" lvl="1" indent="0">
              <a:spcBef>
                <a:spcPts val="0"/>
              </a:spcBef>
              <a:buNone/>
              <a:tabLst>
                <a:tab pos="3200400" algn="l"/>
              </a:tabLst>
            </a:pPr>
            <a:r>
              <a:rPr lang="en-US" b="1" dirty="0">
                <a:solidFill>
                  <a:srgbClr val="660066"/>
                </a:solidFill>
                <a:latin typeface="Courier New" panose="02070309020205020404" pitchFamily="49" charset="0"/>
                <a:ea typeface="MS Mincho"/>
                <a:cs typeface="Bank Gothic Bold"/>
              </a:rPr>
              <a:t>    print</a:t>
            </a:r>
            <a:r>
              <a:rPr lang="en-US" b="1" dirty="0">
                <a:latin typeface="Courier New" panose="02070309020205020404" pitchFamily="49" charset="0"/>
                <a:ea typeface="MS Mincho"/>
                <a:cs typeface="Bank Gothic Bold"/>
              </a:rPr>
              <a:t>(lyst)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sort(lyst)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solidFill>
                  <a:srgbClr val="660066"/>
                </a:solidFill>
                <a:latin typeface="Courier New" panose="02070309020205020404" pitchFamily="49" charset="0"/>
                <a:ea typeface="MS Mincho"/>
                <a:cs typeface="Bank Gothic Bold"/>
              </a:rPr>
              <a:t>    print</a:t>
            </a:r>
            <a:r>
              <a:rPr lang="en-US" b="1" dirty="0">
                <a:latin typeface="Courier New" panose="02070309020205020404" pitchFamily="49" charset="0"/>
                <a:ea typeface="MS Mincho"/>
                <a:cs typeface="Bank Gothic Bold"/>
              </a:rPr>
              <a:t>(lyst)</a:t>
            </a:r>
            <a:endParaRPr lang="en-US" sz="1300" dirty="0">
              <a:latin typeface="Bank Gothic Bold"/>
              <a:ea typeface="MS Mincho"/>
              <a:cs typeface="Bank Gothic Bold"/>
            </a:endParaRPr>
          </a:p>
          <a:p>
            <a:pPr marL="342900" lvl="1" indent="0">
              <a:spcBef>
                <a:spcPts val="0"/>
              </a:spcBef>
              <a:buNone/>
            </a:pPr>
            <a:r>
              <a:rPr lang="en-US" dirty="0">
                <a:latin typeface="Bank Gothic Bold"/>
                <a:ea typeface="MS Mincho"/>
                <a:cs typeface="Bank Gothic Bold"/>
              </a:rPr>
              <a:t> </a:t>
            </a:r>
          </a:p>
          <a:p>
            <a:pPr marL="342900" marR="1828800" lvl="1" indent="0">
              <a:spcBef>
                <a:spcPts val="0"/>
              </a:spcBef>
              <a:buNone/>
            </a:pP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__name__</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"__main__"</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main()</a:t>
            </a:r>
            <a:endParaRPr lang="en-US" dirty="0"/>
          </a:p>
        </p:txBody>
      </p:sp>
      <p:sp>
        <p:nvSpPr>
          <p:cNvPr id="5"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217129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Merge Sort </a:t>
            </a:r>
            <a:r>
              <a:rPr lang="en-US" sz="2000" dirty="0"/>
              <a:t>(1 of 7)</a:t>
            </a:r>
          </a:p>
        </p:txBody>
      </p:sp>
      <p:sp>
        <p:nvSpPr>
          <p:cNvPr id="3" name="Content Placeholder 2"/>
          <p:cNvSpPr>
            <a:spLocks noGrp="1"/>
          </p:cNvSpPr>
          <p:nvPr>
            <p:ph idx="1"/>
          </p:nvPr>
        </p:nvSpPr>
        <p:spPr>
          <a:xfrm>
            <a:off x="628650" y="1825626"/>
            <a:ext cx="7886700" cy="663667"/>
          </a:xfrm>
        </p:spPr>
        <p:txBody>
          <a:bodyPr/>
          <a:lstStyle/>
          <a:p>
            <a:pPr marL="291600" indent="-291600">
              <a:spcBef>
                <a:spcPts val="1000"/>
              </a:spcBef>
            </a:pPr>
            <a:r>
              <a:rPr lang="en-US" dirty="0"/>
              <a:t>A merge sort </a:t>
            </a:r>
            <a:r>
              <a:rPr lang="en-US" dirty="0">
                <a:solidFill>
                  <a:srgbClr val="004978"/>
                </a:solidFill>
              </a:rPr>
              <a:t>employs a </a:t>
            </a:r>
            <a:r>
              <a:rPr lang="en-US" dirty="0"/>
              <a:t>recursive, divide-and-conquer strategy to break the O </a:t>
            </a:r>
          </a:p>
        </p:txBody>
      </p:sp>
      <p:graphicFrame>
        <p:nvGraphicFramePr>
          <p:cNvPr id="7" name="Content Placeholder 6" descr="(n squared) barrier:"/>
          <p:cNvGraphicFramePr>
            <a:graphicFrameLocks noGrp="1" noChangeAspect="1"/>
          </p:cNvGraphicFramePr>
          <p:nvPr>
            <p:ph sz="quarter" idx="12"/>
            <p:extLst>
              <p:ext uri="{D42A27DB-BD31-4B8C-83A1-F6EECF244321}">
                <p14:modId xmlns:p14="http://schemas.microsoft.com/office/powerpoint/2010/main" val="2506259334"/>
              </p:ext>
            </p:extLst>
          </p:nvPr>
        </p:nvGraphicFramePr>
        <p:xfrm>
          <a:off x="3810000" y="2074588"/>
          <a:ext cx="1263039" cy="408777"/>
        </p:xfrm>
        <a:graphic>
          <a:graphicData uri="http://schemas.openxmlformats.org/presentationml/2006/ole">
            <mc:AlternateContent xmlns:mc="http://schemas.openxmlformats.org/markup-compatibility/2006">
              <mc:Choice xmlns:v="urn:schemas-microsoft-com:vml" Requires="v">
                <p:oleObj spid="_x0000_s4230" name="Equation" r:id="rId4" imgW="863280" imgH="279360" progId="Equation.DSMT4">
                  <p:embed/>
                </p:oleObj>
              </mc:Choice>
              <mc:Fallback>
                <p:oleObj name="Equation" r:id="rId4" imgW="863280" imgH="279360" progId="Equation.DSMT4">
                  <p:embed/>
                  <p:pic>
                    <p:nvPicPr>
                      <p:cNvPr id="0" name=""/>
                      <p:cNvPicPr/>
                      <p:nvPr/>
                    </p:nvPicPr>
                    <p:blipFill>
                      <a:blip r:embed="rId5"/>
                      <a:stretch>
                        <a:fillRect/>
                      </a:stretch>
                    </p:blipFill>
                    <p:spPr>
                      <a:xfrm>
                        <a:off x="3810000" y="2074588"/>
                        <a:ext cx="1263039" cy="408777"/>
                      </a:xfrm>
                      <a:prstGeom prst="rect">
                        <a:avLst/>
                      </a:prstGeom>
                    </p:spPr>
                  </p:pic>
                </p:oleObj>
              </mc:Fallback>
            </mc:AlternateContent>
          </a:graphicData>
        </a:graphic>
      </p:graphicFrame>
      <p:sp>
        <p:nvSpPr>
          <p:cNvPr id="6" name="Content Placeholder 5"/>
          <p:cNvSpPr>
            <a:spLocks noGrp="1"/>
          </p:cNvSpPr>
          <p:nvPr>
            <p:ph sz="quarter" idx="13"/>
          </p:nvPr>
        </p:nvSpPr>
        <p:spPr>
          <a:xfrm>
            <a:off x="628650" y="2510899"/>
            <a:ext cx="7753350" cy="3124200"/>
          </a:xfrm>
        </p:spPr>
        <p:txBody>
          <a:bodyPr/>
          <a:lstStyle/>
          <a:p>
            <a:pPr lvl="1">
              <a:spcBef>
                <a:spcPts val="1000"/>
              </a:spcBef>
            </a:pPr>
            <a:r>
              <a:rPr lang="en-US" dirty="0"/>
              <a:t>Compute the middle position of a list and recursively sort its left and right sublists</a:t>
            </a:r>
          </a:p>
          <a:p>
            <a:pPr lvl="1">
              <a:spcBef>
                <a:spcPts val="1000"/>
              </a:spcBef>
            </a:pPr>
            <a:r>
              <a:rPr lang="en-US" dirty="0"/>
              <a:t>Merge the two sorted sublists back into a single sorted list</a:t>
            </a:r>
          </a:p>
          <a:p>
            <a:pPr lvl="1">
              <a:spcBef>
                <a:spcPts val="1000"/>
              </a:spcBef>
            </a:pPr>
            <a:r>
              <a:rPr lang="en-US" dirty="0"/>
              <a:t>Stop the process when sublists can no longer be subdivided</a:t>
            </a:r>
          </a:p>
          <a:p>
            <a:pPr marL="291600" indent="-291600">
              <a:spcBef>
                <a:spcPts val="1000"/>
              </a:spcBef>
            </a:pPr>
            <a:r>
              <a:rPr lang="en-US" dirty="0"/>
              <a:t>Three Python functions collaborate:</a:t>
            </a:r>
          </a:p>
          <a:p>
            <a:pPr lvl="1">
              <a:spcBef>
                <a:spcPts val="1000"/>
              </a:spcBef>
            </a:pPr>
            <a:r>
              <a:rPr lang="en-US" dirty="0"/>
              <a:t>Function called by users</a:t>
            </a:r>
          </a:p>
          <a:p>
            <a:pPr lvl="1">
              <a:spcBef>
                <a:spcPts val="1000"/>
              </a:spcBef>
            </a:pPr>
            <a:r>
              <a:rPr lang="en-US" dirty="0"/>
              <a:t>Helper function that hides the extra parameters required by recursive calls</a:t>
            </a:r>
          </a:p>
          <a:p>
            <a:pPr lvl="1">
              <a:spcBef>
                <a:spcPts val="1000"/>
              </a:spcBef>
            </a:pPr>
            <a:r>
              <a:rPr lang="en-US" dirty="0"/>
              <a:t>A function that implements the merging process</a:t>
            </a:r>
            <a:endParaRPr lang="en-IN" dirty="0"/>
          </a:p>
        </p:txBody>
      </p:sp>
      <p:sp>
        <p:nvSpPr>
          <p:cNvPr id="8"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445238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Merge Sort </a:t>
            </a:r>
            <a:r>
              <a:rPr lang="en-US" sz="2000" dirty="0"/>
              <a:t>(2 of 7)</a:t>
            </a:r>
          </a:p>
        </p:txBody>
      </p:sp>
      <p:sp>
        <p:nvSpPr>
          <p:cNvPr id="3" name="Content Placeholder 2"/>
          <p:cNvSpPr>
            <a:spLocks noGrp="1"/>
          </p:cNvSpPr>
          <p:nvPr>
            <p:ph idx="1"/>
          </p:nvPr>
        </p:nvSpPr>
        <p:spPr>
          <a:xfrm>
            <a:off x="628650" y="1825625"/>
            <a:ext cx="7886700" cy="2136775"/>
          </a:xfrm>
        </p:spPr>
        <p:txBody>
          <a:bodyPr>
            <a:normAutofit/>
          </a:bodyPr>
          <a:lstStyle/>
          <a:p>
            <a:pPr marL="291600" indent="-291600">
              <a:spcBef>
                <a:spcPts val="1000"/>
              </a:spcBef>
            </a:pPr>
            <a:r>
              <a:rPr lang="en-US" dirty="0"/>
              <a:t>Implementing the merging process</a:t>
            </a:r>
          </a:p>
          <a:p>
            <a:pPr lvl="1">
              <a:spcBef>
                <a:spcPts val="1000"/>
              </a:spcBef>
            </a:pPr>
            <a:r>
              <a:rPr lang="en-US" dirty="0"/>
              <a:t>Merging process uses an array of the same size as the list</a:t>
            </a:r>
          </a:p>
          <a:p>
            <a:pPr lvl="1">
              <a:spcBef>
                <a:spcPts val="1000"/>
              </a:spcBef>
            </a:pPr>
            <a:r>
              <a:rPr lang="en-US" dirty="0"/>
              <a:t>Array is called the </a:t>
            </a:r>
            <a:r>
              <a:rPr lang="en-US" b="1" dirty="0">
                <a:latin typeface="Courier New" panose="02070309020205020404" pitchFamily="49" charset="0"/>
                <a:cs typeface="Courier New" panose="02070309020205020404" pitchFamily="49" charset="0"/>
              </a:rPr>
              <a:t>copyBuffer</a:t>
            </a:r>
          </a:p>
          <a:p>
            <a:pPr lvl="1">
              <a:spcBef>
                <a:spcPts val="1000"/>
              </a:spcBef>
            </a:pPr>
            <a:r>
              <a:rPr lang="en-US" dirty="0"/>
              <a:t>The buffer is allocated once in </a:t>
            </a:r>
            <a:r>
              <a:rPr lang="en-US" b="1" dirty="0">
                <a:latin typeface="Courier New" panose="02070309020205020404" pitchFamily="49" charset="0"/>
                <a:cs typeface="Courier New" panose="02070309020205020404" pitchFamily="49" charset="0"/>
              </a:rPr>
              <a:t>mergeSort</a:t>
            </a:r>
            <a:r>
              <a:rPr lang="en-US" dirty="0"/>
              <a:t> and subsequently passed as an argument to </a:t>
            </a:r>
            <a:r>
              <a:rPr lang="en-US" b="1" dirty="0">
                <a:latin typeface="Courier New" panose="02070309020205020404" pitchFamily="49" charset="0"/>
                <a:cs typeface="Courier New" panose="02070309020205020404" pitchFamily="49" charset="0"/>
              </a:rPr>
              <a:t>mergeSortHelper</a:t>
            </a:r>
            <a:r>
              <a:rPr lang="en-US" dirty="0"/>
              <a:t> and </a:t>
            </a:r>
            <a:r>
              <a:rPr lang="en-US" b="1" dirty="0">
                <a:latin typeface="Courier New" panose="02070309020205020404" pitchFamily="49" charset="0"/>
                <a:cs typeface="Courier New" panose="02070309020205020404" pitchFamily="49" charset="0"/>
              </a:rPr>
              <a:t>merge</a:t>
            </a:r>
          </a:p>
          <a:p>
            <a:pPr marL="291600" indent="-291600">
              <a:spcBef>
                <a:spcPts val="1000"/>
              </a:spcBef>
            </a:pPr>
            <a:r>
              <a:rPr lang="en-US" dirty="0"/>
              <a:t>Code for </a:t>
            </a:r>
            <a:r>
              <a:rPr lang="en-US" b="1" dirty="0">
                <a:latin typeface="Courier New" panose="02070309020205020404" pitchFamily="49" charset="0"/>
                <a:cs typeface="Courier New" panose="02070309020205020404" pitchFamily="49" charset="0"/>
              </a:rPr>
              <a:t>mergeSort</a:t>
            </a:r>
            <a:r>
              <a:rPr lang="en-US" dirty="0"/>
              <a:t>:</a:t>
            </a:r>
          </a:p>
        </p:txBody>
      </p:sp>
      <p:sp>
        <p:nvSpPr>
          <p:cNvPr id="5" name="Content Placeholder 4"/>
          <p:cNvSpPr>
            <a:spLocks noGrp="1"/>
          </p:cNvSpPr>
          <p:nvPr>
            <p:ph sz="quarter" idx="12"/>
          </p:nvPr>
        </p:nvSpPr>
        <p:spPr>
          <a:xfrm>
            <a:off x="749423" y="4024631"/>
            <a:ext cx="7772400" cy="1830192"/>
          </a:xfrm>
        </p:spPr>
        <p:txBody>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from</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arrays</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import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mergeSort</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tabLst>
                <a:tab pos="1583055" algn="l"/>
              </a:tabLst>
            </a:pPr>
            <a:r>
              <a:rPr lang="en-US" b="1" dirty="0">
                <a:solidFill>
                  <a:srgbClr val="FF0000"/>
                </a:solidFill>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lyst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list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being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sorted</a:t>
            </a:r>
            <a:endParaRPr lang="en-US" sz="1300" dirty="0">
              <a:solidFill>
                <a:srgbClr val="C00000"/>
              </a:solidFill>
              <a:latin typeface="Bank Gothic Bold"/>
              <a:ea typeface="MS Mincho"/>
              <a:cs typeface="Bank Gothic Bold"/>
            </a:endParaRPr>
          </a:p>
          <a:p>
            <a:pPr marL="171450" lvl="1" indent="0">
              <a:spcBef>
                <a:spcPts val="0"/>
              </a:spcBef>
              <a:buNone/>
              <a:tabLst>
                <a:tab pos="3200400"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copyBuffer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temporary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space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needed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during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merge</a:t>
            </a:r>
            <a:endParaRPr lang="en-US" sz="1300" dirty="0">
              <a:solidFill>
                <a:srgbClr val="C00000"/>
              </a:solidFill>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copyBuffer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a:t>
            </a:r>
            <a:r>
              <a:rPr lang="en-US" b="1" dirty="0" err="1">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a:t>
            </a:r>
            <a:r>
              <a:rPr lang="en-US" b="1" dirty="0" err="1">
                <a:latin typeface="Courier New" panose="02070309020205020404" pitchFamily="49" charset="0"/>
                <a:ea typeface="MS Mincho"/>
              </a:rPr>
              <a:t>mergeSortHelper</a:t>
            </a:r>
            <a:r>
              <a:rPr lang="en-US" b="1" dirty="0">
                <a:latin typeface="Courier New" panose="02070309020205020404" pitchFamily="49" charset="0"/>
                <a:ea typeface="MS Mincho"/>
              </a:rPr>
              <a:t>(</a:t>
            </a:r>
            <a:r>
              <a:rPr lang="en-US" b="1" dirty="0" err="1">
                <a:latin typeface="Courier New" panose="02070309020205020404" pitchFamily="49" charset="0"/>
                <a:ea typeface="MS Mincho"/>
              </a:rPr>
              <a:t>lyst</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err="1">
                <a:latin typeface="Courier New" panose="02070309020205020404" pitchFamily="49" charset="0"/>
                <a:ea typeface="MS Mincho"/>
              </a:rPr>
              <a:t>copyBuffer</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0,</a:t>
            </a:r>
            <a:r>
              <a:rPr lang="en-US" b="1" dirty="0">
                <a:latin typeface="Times" panose="02020603050405020304" pitchFamily="18" charset="0"/>
                <a:ea typeface="MS Mincho"/>
              </a:rPr>
              <a:t> </a:t>
            </a:r>
            <a:r>
              <a:rPr lang="en-US" b="1" dirty="0" err="1">
                <a:solidFill>
                  <a:srgbClr val="660066"/>
                </a:solidFill>
                <a:latin typeface="Courier New" panose="02070309020205020404" pitchFamily="49" charset="0"/>
                <a:ea typeface="MS Mincho"/>
              </a:rPr>
              <a:t>len</a:t>
            </a:r>
            <a:r>
              <a:rPr lang="en-US" b="1" dirty="0">
                <a:latin typeface="Courier New" panose="02070309020205020404" pitchFamily="49" charset="0"/>
                <a:ea typeface="MS Mincho"/>
              </a:rPr>
              <a:t>(</a:t>
            </a:r>
            <a:r>
              <a:rPr lang="en-US" b="1" dirty="0" err="1">
                <a:latin typeface="Courier New" panose="02070309020205020404" pitchFamily="49" charset="0"/>
                <a:ea typeface="MS Mincho"/>
              </a:rPr>
              <a:t>lyst</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1)</a:t>
            </a:r>
            <a:endParaRPr lang="en-IN" dirty="0"/>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862091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Merge Sort </a:t>
            </a:r>
            <a:r>
              <a:rPr lang="en-US" sz="2000" dirty="0"/>
              <a:t>(3 of 7)</a:t>
            </a:r>
          </a:p>
        </p:txBody>
      </p:sp>
      <p:sp>
        <p:nvSpPr>
          <p:cNvPr id="3" name="Content Placeholder 2"/>
          <p:cNvSpPr>
            <a:spLocks noGrp="1"/>
          </p:cNvSpPr>
          <p:nvPr>
            <p:ph idx="1"/>
          </p:nvPr>
        </p:nvSpPr>
        <p:spPr>
          <a:xfrm>
            <a:off x="628650" y="1870971"/>
            <a:ext cx="7886700" cy="330691"/>
          </a:xfrm>
        </p:spPr>
        <p:txBody>
          <a:bodyPr>
            <a:normAutofit/>
          </a:bodyPr>
          <a:lstStyle/>
          <a:p>
            <a:pPr marL="291600" indent="-291600">
              <a:spcBef>
                <a:spcPts val="1000"/>
              </a:spcBef>
            </a:pPr>
            <a:r>
              <a:rPr lang="en-US" dirty="0"/>
              <a:t>Code for </a:t>
            </a:r>
            <a:r>
              <a:rPr lang="en-US" b="1" dirty="0">
                <a:latin typeface="Courier New" panose="02070309020205020404" pitchFamily="49" charset="0"/>
                <a:cs typeface="Courier New" panose="02070309020205020404" pitchFamily="49" charset="0"/>
              </a:rPr>
              <a:t>mergeSortHelper</a:t>
            </a:r>
            <a:r>
              <a:rPr lang="en-US" dirty="0"/>
              <a:t>:</a:t>
            </a:r>
          </a:p>
        </p:txBody>
      </p:sp>
      <p:sp>
        <p:nvSpPr>
          <p:cNvPr id="5" name="Content Placeholder 4"/>
          <p:cNvSpPr>
            <a:spLocks noGrp="1"/>
          </p:cNvSpPr>
          <p:nvPr>
            <p:ph sz="quarter" idx="12"/>
          </p:nvPr>
        </p:nvSpPr>
        <p:spPr>
          <a:xfrm>
            <a:off x="762000" y="2294139"/>
            <a:ext cx="7924800" cy="2607074"/>
          </a:xfrm>
        </p:spPr>
        <p:txBody>
          <a:bodyPr>
            <a:normAutofit/>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mergeSortHelper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copyBuffer</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low,</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high):</a:t>
            </a:r>
            <a:endParaRPr lang="en-US" sz="1300" dirty="0">
              <a:latin typeface="Bank Gothic Bold"/>
              <a:ea typeface="MS Mincho"/>
              <a:cs typeface="Bank Gothic Bold"/>
            </a:endParaRPr>
          </a:p>
          <a:p>
            <a:pPr marL="171450" lvl="1" indent="0">
              <a:spcBef>
                <a:spcPts val="0"/>
              </a:spcBef>
              <a:buNone/>
              <a:tabLst>
                <a:tab pos="1583055" algn="l"/>
              </a:tabLst>
            </a:pPr>
            <a:r>
              <a:rPr lang="en-US" b="1" dirty="0">
                <a:solidFill>
                  <a:srgbClr val="FF0000"/>
                </a:solidFill>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lyst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list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being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sorted</a:t>
            </a:r>
            <a:endParaRPr lang="en-US" sz="1300" dirty="0">
              <a:solidFill>
                <a:srgbClr val="C00000"/>
              </a:solidFill>
              <a:latin typeface="Bank Gothic Bold"/>
              <a:ea typeface="MS Mincho"/>
              <a:cs typeface="Bank Gothic Bold"/>
            </a:endParaRPr>
          </a:p>
          <a:p>
            <a:pPr marL="171450" lvl="1" indent="0">
              <a:spcBef>
                <a:spcPts val="0"/>
              </a:spcBef>
              <a:buNone/>
              <a:tabLst>
                <a:tab pos="3200400"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copyBuffer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temp</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space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needed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during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merge</a:t>
            </a:r>
            <a:endParaRPr lang="en-US" sz="1300" dirty="0">
              <a:solidFill>
                <a:srgbClr val="C00000"/>
              </a:solidFill>
              <a:latin typeface="Bank Gothic Bold"/>
              <a:ea typeface="MS Mincho"/>
              <a:cs typeface="Bank Gothic Bold"/>
            </a:endParaRPr>
          </a:p>
          <a:p>
            <a:pPr marL="171450" lvl="1" indent="0">
              <a:spcBef>
                <a:spcPts val="0"/>
              </a:spcBef>
              <a:buNone/>
              <a:tabLst>
                <a:tab pos="1520190"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low,</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high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bounds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endParaRPr lang="en-US" sz="1300" dirty="0">
              <a:solidFill>
                <a:srgbClr val="C00000"/>
              </a:solidFill>
              <a:latin typeface="Bank Gothic Bold"/>
              <a:ea typeface="MS Mincho"/>
              <a:cs typeface="Bank Gothic Bold"/>
            </a:endParaRPr>
          </a:p>
          <a:p>
            <a:pPr marL="171450" lvl="1" indent="0">
              <a:spcBef>
                <a:spcPts val="0"/>
              </a:spcBef>
              <a:buNone/>
              <a:tabLst>
                <a:tab pos="1451610"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middle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midpoint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endParaRPr lang="en-US" sz="1300" dirty="0">
              <a:solidFill>
                <a:srgbClr val="C00000"/>
              </a:solidFill>
              <a:latin typeface="Bank Gothic Bold"/>
              <a:ea typeface="MS Mincho"/>
              <a:cs typeface="Bank Gothic Bold"/>
            </a:endParaRPr>
          </a:p>
          <a:p>
            <a:pPr marL="171450" lvl="1" indent="0">
              <a:spcBef>
                <a:spcPts val="0"/>
              </a:spcBef>
              <a:buNone/>
              <a:tabLst>
                <a:tab pos="3200400" algn="l"/>
              </a:tabLst>
            </a:pPr>
            <a:r>
              <a:rPr lang="en-US" b="1" dirty="0">
                <a:solidFill>
                  <a:srgbClr val="8A3800"/>
                </a:solidFill>
                <a:latin typeface="Courier New" panose="02070309020205020404" pitchFamily="49" charset="0"/>
                <a:ea typeface="MS Mincho"/>
                <a:cs typeface="Bank Gothic Bold"/>
              </a:rPr>
              <a:t>    if</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low</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high:</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middle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(low</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high)</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2</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mergeSortHelper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copyBuffer</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low,</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middle)</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mergeSortHelper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copyBuffer</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middle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high)</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merge(</a:t>
            </a:r>
            <a:r>
              <a:rPr lang="en-US" b="1" dirty="0" err="1">
                <a:latin typeface="Courier New" panose="02070309020205020404" pitchFamily="49" charset="0"/>
                <a:ea typeface="MS Mincho"/>
              </a:rPr>
              <a:t>lyst</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err="1">
                <a:latin typeface="Courier New" panose="02070309020205020404" pitchFamily="49" charset="0"/>
                <a:ea typeface="MS Mincho"/>
              </a:rPr>
              <a:t>copyBuffer</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low,</a:t>
            </a:r>
            <a:r>
              <a:rPr lang="en-US" b="1" dirty="0">
                <a:latin typeface="Times" panose="02020603050405020304" pitchFamily="18" charset="0"/>
                <a:ea typeface="MS Mincho"/>
              </a:rPr>
              <a:t> </a:t>
            </a:r>
            <a:r>
              <a:rPr lang="en-US" b="1" dirty="0">
                <a:latin typeface="Courier New" panose="02070309020205020404" pitchFamily="49" charset="0"/>
                <a:ea typeface="MS Mincho"/>
              </a:rPr>
              <a:t>middle,</a:t>
            </a:r>
            <a:r>
              <a:rPr lang="en-US" b="1" dirty="0">
                <a:latin typeface="Times" panose="02020603050405020304" pitchFamily="18" charset="0"/>
                <a:ea typeface="MS Mincho"/>
              </a:rPr>
              <a:t> </a:t>
            </a:r>
            <a:r>
              <a:rPr lang="en-US" b="1" dirty="0">
                <a:latin typeface="Courier New" panose="02070309020205020404" pitchFamily="49" charset="0"/>
                <a:ea typeface="MS Mincho"/>
              </a:rPr>
              <a:t>high)</a:t>
            </a:r>
            <a:endParaRPr lang="en-IN" dirty="0"/>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053849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Merge Sort </a:t>
            </a:r>
            <a:r>
              <a:rPr lang="en-US" sz="2000" dirty="0"/>
              <a:t>(4 of 7)</a:t>
            </a:r>
          </a:p>
        </p:txBody>
      </p:sp>
      <p:sp>
        <p:nvSpPr>
          <p:cNvPr id="3" name="Content Placeholder 2"/>
          <p:cNvSpPr>
            <a:spLocks noGrp="1"/>
          </p:cNvSpPr>
          <p:nvPr>
            <p:ph idx="1"/>
          </p:nvPr>
        </p:nvSpPr>
        <p:spPr>
          <a:xfrm>
            <a:off x="628650" y="1825625"/>
            <a:ext cx="7886700" cy="384175"/>
          </a:xfrm>
        </p:spPr>
        <p:txBody>
          <a:bodyPr>
            <a:normAutofit fontScale="92500"/>
          </a:bodyPr>
          <a:lstStyle/>
          <a:p>
            <a:pPr marL="0" indent="0">
              <a:spcBef>
                <a:spcPts val="1000"/>
              </a:spcBef>
              <a:buNone/>
            </a:pPr>
            <a:r>
              <a:rPr lang="en-IN" b="1" dirty="0"/>
              <a:t>Figure 3-14: </a:t>
            </a:r>
            <a:r>
              <a:rPr lang="en-IN" dirty="0"/>
              <a:t>Sublists generated during calls of mergeSortHelper</a:t>
            </a:r>
            <a:endParaRPr lang="en-US" dirty="0"/>
          </a:p>
        </p:txBody>
      </p:sp>
      <p:pic>
        <p:nvPicPr>
          <p:cNvPr id="7" name="Content Placeholder 6" descr="Illustration shows sublists generated during calls of merge sort helper. Figure shows rows of numbers at various levels. Level 0. Numbers 4, 1, 7, 6, 5, 3, 8, 2. Level 1. The numbers in Level 0 are split into two rows, first row with numbers 4, 1, 7, 6 and second row with numbers 5, 3, 8, 2. Level 2. The first row in level 1 is split into the rows 4, 1 and 7, 6. The second row in level 1 is split into 5, 3 and 8, 2. Level 3. The rows of numbers from level 2 are further split into individual numbers. Numbers 4, 1 are split into 4 and 1. Numbers 7, 6 are split into 7 and 6. Numbers 5, 3 are split into 5 and 3. Numbers 8, 2 are split into 8 and 2."/>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345384" y="2528172"/>
            <a:ext cx="5804238" cy="3281271"/>
          </a:xfrm>
        </p:spPr>
      </p:pic>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225354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Merge Sort </a:t>
            </a:r>
            <a:r>
              <a:rPr lang="en-US" sz="2000" dirty="0"/>
              <a:t>(5 of 7)</a:t>
            </a:r>
          </a:p>
        </p:txBody>
      </p:sp>
      <p:sp>
        <p:nvSpPr>
          <p:cNvPr id="3" name="Content Placeholder 2"/>
          <p:cNvSpPr>
            <a:spLocks noGrp="1"/>
          </p:cNvSpPr>
          <p:nvPr>
            <p:ph idx="1"/>
          </p:nvPr>
        </p:nvSpPr>
        <p:spPr>
          <a:xfrm>
            <a:off x="628650" y="1831814"/>
            <a:ext cx="7886700" cy="404619"/>
          </a:xfrm>
        </p:spPr>
        <p:txBody>
          <a:bodyPr>
            <a:normAutofit fontScale="92500"/>
          </a:bodyPr>
          <a:lstStyle/>
          <a:p>
            <a:pPr marL="0" indent="0">
              <a:spcBef>
                <a:spcPts val="1000"/>
              </a:spcBef>
              <a:buNone/>
            </a:pPr>
            <a:r>
              <a:rPr lang="en-IN" b="1" dirty="0"/>
              <a:t>Figure 3-15: </a:t>
            </a:r>
            <a:r>
              <a:rPr lang="en-IN" dirty="0"/>
              <a:t>Merging the sublists generated during a merge sort</a:t>
            </a:r>
            <a:endParaRPr lang="en-US" dirty="0"/>
          </a:p>
        </p:txBody>
      </p:sp>
      <p:pic>
        <p:nvPicPr>
          <p:cNvPr id="7" name="Content Placeholder 6" descr="Illustration shows how the sublists generated during a merge sort are merged. Figure shows numbers at various levels. The process starts from the bottom moving upwards. Level 3. Numbers 4, 1, 7, 6, 5, 3, 8, 2 are present individually. Level 2. Numbers 4 and 1 are merged into 1, 4. Numbers 7, 6 are merged into 6, 7. Numbers 5, 3 are merged into 3, 5. Numbers 8, 2 are merged into 2, 8. Level 1. Numbers 1, 4 and 6, 7 are merged into 1, 4, 6, 7. Numbers 3, 5 and 2, 8 are merged into 2, 3, 5, 8. Level 0. Numbers 1, 4, 6, 7 and 2, 3, 5, 8 are merged into 1, 2, 3, 4, 5, 6, 7, 8."/>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399041" y="2519306"/>
            <a:ext cx="5864545" cy="3322528"/>
          </a:xfrm>
        </p:spPr>
      </p:pic>
      <p:sp>
        <p:nvSpPr>
          <p:cNvPr id="8"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845360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Merge Sort </a:t>
            </a:r>
            <a:r>
              <a:rPr lang="en-US" sz="2000" dirty="0"/>
              <a:t>(6 of 7)</a:t>
            </a:r>
          </a:p>
        </p:txBody>
      </p:sp>
      <p:sp>
        <p:nvSpPr>
          <p:cNvPr id="3" name="Content Placeholder 2"/>
          <p:cNvSpPr>
            <a:spLocks noGrp="1"/>
          </p:cNvSpPr>
          <p:nvPr>
            <p:ph idx="1"/>
          </p:nvPr>
        </p:nvSpPr>
        <p:spPr>
          <a:xfrm>
            <a:off x="628650" y="1587366"/>
            <a:ext cx="7886700" cy="251791"/>
          </a:xfrm>
        </p:spPr>
        <p:txBody>
          <a:bodyPr>
            <a:normAutofit fontScale="62500" lnSpcReduction="20000"/>
          </a:bodyPr>
          <a:lstStyle/>
          <a:p>
            <a:pPr marL="291600" indent="-291600">
              <a:lnSpc>
                <a:spcPct val="110000"/>
              </a:lnSpc>
              <a:spcBef>
                <a:spcPts val="1000"/>
              </a:spcBef>
            </a:pPr>
            <a:r>
              <a:rPr lang="en-US" sz="2600" dirty="0"/>
              <a:t>Code for the </a:t>
            </a:r>
            <a:r>
              <a:rPr lang="en-US" sz="2600" b="1" dirty="0">
                <a:latin typeface="Courier New" panose="02070309020205020404" pitchFamily="49" charset="0"/>
                <a:cs typeface="Courier New" panose="02070309020205020404" pitchFamily="49" charset="0"/>
              </a:rPr>
              <a:t>merge</a:t>
            </a:r>
            <a:r>
              <a:rPr lang="en-US" sz="2600" dirty="0"/>
              <a:t> function:</a:t>
            </a:r>
            <a:endParaRPr lang="en-US" dirty="0"/>
          </a:p>
        </p:txBody>
      </p:sp>
      <p:sp>
        <p:nvSpPr>
          <p:cNvPr id="5" name="Content Placeholder 4"/>
          <p:cNvSpPr>
            <a:spLocks noGrp="1"/>
          </p:cNvSpPr>
          <p:nvPr>
            <p:ph sz="quarter" idx="12"/>
          </p:nvPr>
        </p:nvSpPr>
        <p:spPr>
          <a:xfrm>
            <a:off x="762000" y="1950863"/>
            <a:ext cx="7620000" cy="4170144"/>
          </a:xfrm>
        </p:spPr>
        <p:txBody>
          <a:bodyPr>
            <a:normAutofit fontScale="77500" lnSpcReduction="20000"/>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merge</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copyBuffer</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low,</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middle,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high):</a:t>
            </a:r>
            <a:endParaRPr lang="en-US" sz="1300" dirty="0">
              <a:latin typeface="Bank Gothic Bold"/>
              <a:ea typeface="MS Mincho"/>
              <a:cs typeface="Bank Gothic Bold"/>
            </a:endParaRPr>
          </a:p>
          <a:p>
            <a:pPr marL="171450" lvl="1" indent="0">
              <a:spcBef>
                <a:spcPts val="0"/>
              </a:spcBef>
              <a:buNone/>
              <a:tabLst>
                <a:tab pos="1583055" algn="l"/>
              </a:tabLst>
            </a:pPr>
            <a:r>
              <a:rPr lang="en-US" b="1" dirty="0">
                <a:solidFill>
                  <a:srgbClr val="FF0000"/>
                </a:solidFill>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lyst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list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being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sorted</a:t>
            </a:r>
            <a:endParaRPr lang="en-US" sz="1300" dirty="0">
              <a:solidFill>
                <a:srgbClr val="C00000"/>
              </a:solidFill>
              <a:latin typeface="Bank Gothic Bold"/>
              <a:ea typeface="MS Mincho"/>
              <a:cs typeface="Bank Gothic Bold"/>
            </a:endParaRPr>
          </a:p>
          <a:p>
            <a:pPr marL="171450" lvl="1" indent="0">
              <a:spcBef>
                <a:spcPts val="0"/>
              </a:spcBef>
              <a:buNone/>
              <a:tabLst>
                <a:tab pos="1583055"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copyBuffer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temp</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space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needed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during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merge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process</a:t>
            </a:r>
            <a:endParaRPr lang="en-US" sz="1300" dirty="0">
              <a:solidFill>
                <a:srgbClr val="C00000"/>
              </a:solidFill>
              <a:latin typeface="Bank Gothic Bold"/>
              <a:ea typeface="MS Mincho"/>
              <a:cs typeface="Bank Gothic Bold"/>
            </a:endParaRPr>
          </a:p>
          <a:p>
            <a:pPr marL="171450" lvl="1" indent="0">
              <a:spcBef>
                <a:spcPts val="0"/>
              </a:spcBef>
              <a:buNone/>
              <a:tabLst>
                <a:tab pos="1583055"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low</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beginning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first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sorted</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endParaRPr lang="en-US" sz="1300" dirty="0">
              <a:solidFill>
                <a:srgbClr val="C00000"/>
              </a:solidFill>
              <a:latin typeface="Bank Gothic Bold"/>
              <a:ea typeface="MS Mincho"/>
              <a:cs typeface="Bank Gothic Bold"/>
            </a:endParaRPr>
          </a:p>
          <a:p>
            <a:pPr marL="171450" lvl="1" indent="0">
              <a:spcBef>
                <a:spcPts val="0"/>
              </a:spcBef>
              <a:buNone/>
              <a:tabLst>
                <a:tab pos="1583055"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middle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first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sorted</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endParaRPr lang="en-US" sz="1300" dirty="0">
              <a:solidFill>
                <a:srgbClr val="C00000"/>
              </a:solidFill>
              <a:latin typeface="Bank Gothic Bold"/>
              <a:ea typeface="MS Mincho"/>
              <a:cs typeface="Bank Gothic Bold"/>
            </a:endParaRPr>
          </a:p>
          <a:p>
            <a:pPr marL="171450" lvl="1" indent="0">
              <a:spcBef>
                <a:spcPts val="0"/>
              </a:spcBef>
              <a:buNone/>
              <a:tabLst>
                <a:tab pos="1583055"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middle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1</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beginning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second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sorted</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endParaRPr lang="en-US" sz="1300" dirty="0">
              <a:solidFill>
                <a:srgbClr val="C00000"/>
              </a:solidFill>
              <a:latin typeface="Bank Gothic Bold"/>
              <a:ea typeface="MS Mincho"/>
              <a:cs typeface="Bank Gothic Bold"/>
            </a:endParaRPr>
          </a:p>
          <a:p>
            <a:pPr marL="171450" lvl="1" indent="0">
              <a:spcBef>
                <a:spcPts val="0"/>
              </a:spcBef>
              <a:buNone/>
              <a:tabLst>
                <a:tab pos="1583055"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high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second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sorted</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endParaRPr lang="en-US" sz="1300" dirty="0">
              <a:solidFill>
                <a:srgbClr val="C00000"/>
              </a:solidFill>
              <a:latin typeface="Bank Gothic Bold"/>
              <a:ea typeface="MS Mincho"/>
              <a:cs typeface="Bank Gothic Bold"/>
            </a:endParaRPr>
          </a:p>
          <a:p>
            <a:pPr marL="171450" lvl="1" indent="0">
              <a:spcBef>
                <a:spcPts val="0"/>
              </a:spcBef>
              <a:buNone/>
              <a:tabLst>
                <a:tab pos="1583055"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Initialize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i1</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i2</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first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each</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endParaRPr lang="en-US" sz="1300" dirty="0">
              <a:solidFill>
                <a:srgbClr val="C00000"/>
              </a:solidFill>
              <a:latin typeface="Bank Gothic Bold"/>
              <a:ea typeface="MS Mincho"/>
              <a:cs typeface="Bank Gothic Bold"/>
            </a:endParaRPr>
          </a:p>
          <a:p>
            <a:pPr marL="171450" lvl="1" indent="0">
              <a:spcBef>
                <a:spcPts val="0"/>
              </a:spcBef>
              <a:buNone/>
              <a:tabLst>
                <a:tab pos="1583055" algn="l"/>
              </a:tabLst>
            </a:pPr>
            <a:r>
              <a:rPr lang="en-US" b="1" dirty="0">
                <a:latin typeface="Courier New" panose="02070309020205020404" pitchFamily="49" charset="0"/>
                <a:ea typeface="MS Mincho"/>
                <a:cs typeface="Bank Gothic Bold"/>
              </a:rPr>
              <a:t>    i1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low</a:t>
            </a:r>
            <a:endParaRPr lang="en-US" sz="1300" dirty="0">
              <a:latin typeface="Bank Gothic Bold"/>
              <a:ea typeface="MS Mincho"/>
              <a:cs typeface="Bank Gothic Bold"/>
            </a:endParaRPr>
          </a:p>
          <a:p>
            <a:pPr marL="171450" lvl="1" indent="0">
              <a:spcBef>
                <a:spcPts val="0"/>
              </a:spcBef>
              <a:buNone/>
              <a:tabLst>
                <a:tab pos="1583055" algn="l"/>
              </a:tabLst>
            </a:pPr>
            <a:r>
              <a:rPr lang="en-US" b="1" dirty="0">
                <a:latin typeface="Courier New" panose="02070309020205020404" pitchFamily="49" charset="0"/>
                <a:ea typeface="MS Mincho"/>
                <a:cs typeface="Bank Gothic Bold"/>
              </a:rPr>
              <a:t>    i2</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middle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1583055" algn="l"/>
              </a:tabLst>
            </a:pPr>
            <a:r>
              <a:rPr lang="en-US" b="1" dirty="0">
                <a:solidFill>
                  <a:srgbClr val="FF0000"/>
                </a:solidFill>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Interleave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from</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sublists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into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endParaRPr lang="en-US" sz="1300" dirty="0">
              <a:solidFill>
                <a:srgbClr val="C00000"/>
              </a:solidFill>
              <a:latin typeface="Bank Gothic Bold"/>
              <a:ea typeface="MS Mincho"/>
              <a:cs typeface="Bank Gothic Bold"/>
            </a:endParaRPr>
          </a:p>
          <a:p>
            <a:pPr marL="171450" lvl="1" indent="0">
              <a:spcBef>
                <a:spcPts val="0"/>
              </a:spcBef>
              <a:buNone/>
              <a:tabLst>
                <a:tab pos="1583055"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copyBuffer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such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way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order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maintained.</a:t>
            </a:r>
            <a:endParaRPr lang="en-US" sz="1300" dirty="0">
              <a:solidFill>
                <a:srgbClr val="C00000"/>
              </a:solidFill>
              <a:latin typeface="Bank Gothic Bold"/>
              <a:ea typeface="MS Mincho"/>
              <a:cs typeface="Bank Gothic Bold"/>
            </a:endParaRPr>
          </a:p>
          <a:p>
            <a:pPr marL="171450" lvl="1" indent="0">
              <a:spcBef>
                <a:spcPts val="0"/>
              </a:spcBef>
              <a:buNone/>
              <a:tabLst>
                <a:tab pos="1583055"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 for</a:t>
            </a:r>
            <a:r>
              <a:rPr lang="en-US" b="1" dirty="0">
                <a:solidFill>
                  <a:srgbClr val="8A3800"/>
                </a:solidFill>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solidFill>
                  <a:srgbClr val="8A3800"/>
                </a:solidFill>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(low,</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high</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middle:</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copyBuffer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[i2]</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First</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exhausted</a:t>
            </a:r>
            <a:endParaRPr lang="en-US" sz="1300" dirty="0">
              <a:solidFill>
                <a:srgbClr val="C00000"/>
              </a:solidFill>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i2</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 </a:t>
            </a:r>
            <a:r>
              <a:rPr lang="en-US" b="1" dirty="0" err="1">
                <a:solidFill>
                  <a:srgbClr val="8A3800"/>
                </a:solidFill>
                <a:latin typeface="Courier New" panose="02070309020205020404" pitchFamily="49" charset="0"/>
                <a:ea typeface="MS Mincho"/>
                <a:cs typeface="Bank Gothic Bold"/>
              </a:rPr>
              <a:t>elif</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i2</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high:</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copyBuffer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[i1</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Second</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exhausted</a:t>
            </a:r>
            <a:endParaRPr lang="en-US" sz="1300" dirty="0">
              <a:solidFill>
                <a:srgbClr val="C00000"/>
              </a:solidFill>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i1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 </a:t>
            </a:r>
            <a:r>
              <a:rPr lang="en-US" b="1" dirty="0" err="1">
                <a:solidFill>
                  <a:srgbClr val="8A3800"/>
                </a:solidFill>
                <a:latin typeface="Courier New" panose="02070309020205020404" pitchFamily="49" charset="0"/>
                <a:ea typeface="MS Mincho"/>
                <a:cs typeface="Bank Gothic Bold"/>
              </a:rPr>
              <a:t>elif</a:t>
            </a:r>
            <a:r>
              <a:rPr lang="en-US" b="1" dirty="0">
                <a:solidFill>
                  <a:srgbClr val="8A3800"/>
                </a:solidFill>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[i1]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[i2]:</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copyBuffer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[i1]</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first</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&lt;</a:t>
            </a:r>
            <a:endParaRPr lang="en-US" sz="1300" dirty="0">
              <a:solidFill>
                <a:srgbClr val="C00000"/>
              </a:solidFill>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i1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else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copyBuffer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[i2]</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second</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r>
              <a:rPr lang="en-US" b="1" dirty="0">
                <a:solidFill>
                  <a:srgbClr val="C00000"/>
                </a:solidFill>
                <a:latin typeface="Courier New" panose="02070309020205020404" pitchFamily="49" charset="0"/>
                <a:ea typeface="MS Mincho"/>
                <a:cs typeface="Bank Gothic Bold"/>
              </a:rPr>
              <a:t> &lt;</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i2 += 1</a:t>
            </a:r>
            <a:r>
              <a:rPr lang="en-US" dirty="0">
                <a:latin typeface="Bank Gothic Bold"/>
                <a:ea typeface="MS Mincho"/>
                <a:cs typeface="Bank Gothic Bold"/>
              </a:rPr>
              <a:t>    </a:t>
            </a: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(low,</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high</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Copy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sorted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back</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to</a:t>
            </a:r>
            <a:endParaRPr lang="en-US" sz="1300" dirty="0">
              <a:solidFill>
                <a:srgbClr val="C00000"/>
              </a:solidFill>
              <a:latin typeface="Bank Gothic Bold"/>
              <a:ea typeface="MS Mincho"/>
              <a:cs typeface="Bank Gothic Bold"/>
            </a:endParaRPr>
          </a:p>
          <a:p>
            <a:pPr marL="342900" lvl="1" indent="0">
              <a:buNone/>
            </a:pPr>
            <a:r>
              <a:rPr lang="en-US" b="1" dirty="0" err="1">
                <a:latin typeface="Courier New" panose="02070309020205020404" pitchFamily="49" charset="0"/>
                <a:ea typeface="MS Mincho"/>
              </a:rPr>
              <a:t>lyst</a:t>
            </a:r>
            <a:r>
              <a:rPr lang="en-US" b="1" dirty="0">
                <a:latin typeface="Courier New" panose="02070309020205020404" pitchFamily="49" charset="0"/>
                <a:ea typeface="MS Mincho"/>
              </a:rPr>
              <a:t>[</a:t>
            </a:r>
            <a:r>
              <a:rPr lang="en-US" b="1" dirty="0" err="1">
                <a:latin typeface="Courier New" panose="02070309020205020404" pitchFamily="49" charset="0"/>
                <a:ea typeface="MS Mincho"/>
              </a:rPr>
              <a:t>i</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err="1">
                <a:latin typeface="Courier New" panose="02070309020205020404" pitchFamily="49" charset="0"/>
                <a:ea typeface="MS Mincho"/>
              </a:rPr>
              <a:t>copyBuffer</a:t>
            </a:r>
            <a:r>
              <a:rPr lang="en-US" b="1" dirty="0">
                <a:latin typeface="Courier New" panose="02070309020205020404" pitchFamily="49" charset="0"/>
                <a:ea typeface="MS Mincho"/>
              </a:rPr>
              <a:t>[</a:t>
            </a:r>
            <a:r>
              <a:rPr lang="en-US" b="1" dirty="0" err="1">
                <a:latin typeface="Courier New" panose="02070309020205020404" pitchFamily="49" charset="0"/>
                <a:ea typeface="MS Mincho"/>
              </a:rPr>
              <a:t>i</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proper</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position</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in</a:t>
            </a:r>
            <a:r>
              <a:rPr lang="en-US" b="1" dirty="0">
                <a:solidFill>
                  <a:srgbClr val="C00000"/>
                </a:solidFill>
                <a:latin typeface="Times" panose="02020603050405020304" pitchFamily="18" charset="0"/>
                <a:ea typeface="MS Mincho"/>
              </a:rPr>
              <a:t> </a:t>
            </a:r>
            <a:r>
              <a:rPr lang="en-US" b="1" dirty="0" err="1">
                <a:solidFill>
                  <a:srgbClr val="C00000"/>
                </a:solidFill>
                <a:latin typeface="Courier New" panose="02070309020205020404" pitchFamily="49" charset="0"/>
                <a:ea typeface="MS Mincho"/>
              </a:rPr>
              <a:t>lyst</a:t>
            </a:r>
            <a:endParaRPr lang="en-IN" dirty="0">
              <a:solidFill>
                <a:srgbClr val="C00000"/>
              </a:solidFill>
            </a:endParaRPr>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468874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Merge Sort </a:t>
            </a:r>
            <a:r>
              <a:rPr lang="en-US" sz="2000" dirty="0"/>
              <a:t>(7 of 7)</a:t>
            </a:r>
          </a:p>
        </p:txBody>
      </p:sp>
      <p:sp>
        <p:nvSpPr>
          <p:cNvPr id="3" name="Content Placeholder 2"/>
          <p:cNvSpPr>
            <a:spLocks noGrp="1"/>
          </p:cNvSpPr>
          <p:nvPr>
            <p:ph idx="1"/>
          </p:nvPr>
        </p:nvSpPr>
        <p:spPr>
          <a:xfrm>
            <a:off x="628650" y="1825625"/>
            <a:ext cx="7886700" cy="2822575"/>
          </a:xfrm>
        </p:spPr>
        <p:txBody>
          <a:bodyPr/>
          <a:lstStyle/>
          <a:p>
            <a:pPr marL="291600" indent="-291600">
              <a:spcBef>
                <a:spcPts val="1000"/>
              </a:spcBef>
            </a:pPr>
            <a:r>
              <a:rPr lang="en-US" dirty="0"/>
              <a:t>Complexity analysis for merge sort</a:t>
            </a:r>
          </a:p>
          <a:p>
            <a:pPr lvl="1">
              <a:spcBef>
                <a:spcPts val="1000"/>
              </a:spcBef>
            </a:pPr>
            <a:r>
              <a:rPr lang="en-US" dirty="0"/>
              <a:t>The running time of the </a:t>
            </a:r>
            <a:r>
              <a:rPr lang="en-US" b="1" dirty="0"/>
              <a:t>merge</a:t>
            </a:r>
            <a:r>
              <a:rPr lang="en-US" dirty="0"/>
              <a:t> function is dominated by the two </a:t>
            </a:r>
            <a:r>
              <a:rPr lang="en-US" b="1" dirty="0"/>
              <a:t>for</a:t>
            </a:r>
            <a:r>
              <a:rPr lang="en-US" dirty="0"/>
              <a:t> statements, each of which loops (</a:t>
            </a:r>
            <a:r>
              <a:rPr lang="en-US" b="1" dirty="0"/>
              <a:t>high </a:t>
            </a:r>
            <a:r>
              <a:rPr lang="en-US" b="1" dirty="0">
                <a:latin typeface="Arial" panose="020B0604020202020204" pitchFamily="34" charset="0"/>
                <a:cs typeface="Arial" panose="020B0604020202020204" pitchFamily="34" charset="0"/>
              </a:rPr>
              <a:t>−</a:t>
            </a:r>
            <a:r>
              <a:rPr lang="en-US" b="1" dirty="0"/>
              <a:t> low + 1</a:t>
            </a:r>
            <a:r>
              <a:rPr lang="en-US" dirty="0"/>
              <a:t>) times</a:t>
            </a:r>
          </a:p>
          <a:p>
            <a:pPr lvl="1">
              <a:spcBef>
                <a:spcPts val="1000"/>
              </a:spcBef>
            </a:pPr>
            <a:r>
              <a:rPr lang="en-US" dirty="0"/>
              <a:t>The function’s running time is O(</a:t>
            </a:r>
            <a:r>
              <a:rPr lang="en-US" b="1" dirty="0"/>
              <a:t>high </a:t>
            </a:r>
            <a:r>
              <a:rPr lang="en-US" b="1" dirty="0">
                <a:latin typeface="Arial" panose="020B0604020202020204" pitchFamily="34" charset="0"/>
                <a:cs typeface="Arial" panose="020B0604020202020204" pitchFamily="34" charset="0"/>
              </a:rPr>
              <a:t>−</a:t>
            </a:r>
            <a:r>
              <a:rPr lang="en-US" b="1" dirty="0"/>
              <a:t> low)</a:t>
            </a:r>
          </a:p>
          <a:p>
            <a:pPr lvl="1">
              <a:spcBef>
                <a:spcPts val="1000"/>
              </a:spcBef>
            </a:pPr>
            <a:r>
              <a:rPr lang="en-US" dirty="0"/>
              <a:t>All the merges at a single level take O(</a:t>
            </a:r>
            <a:r>
              <a:rPr lang="en-US" i="1" dirty="0"/>
              <a:t>n</a:t>
            </a:r>
            <a:r>
              <a:rPr lang="en-US" dirty="0"/>
              <a:t>) time</a:t>
            </a:r>
          </a:p>
          <a:p>
            <a:pPr lvl="1">
              <a:spcBef>
                <a:spcPts val="1000"/>
              </a:spcBef>
            </a:pPr>
            <a:r>
              <a:rPr lang="en-US" dirty="0"/>
              <a:t>Because </a:t>
            </a:r>
            <a:r>
              <a:rPr lang="en-US" b="1" dirty="0"/>
              <a:t>mergeSortHelper</a:t>
            </a:r>
            <a:r>
              <a:rPr lang="en-US" dirty="0"/>
              <a:t> splits sublists as evenly as possible at each level, the number of levels is O(log </a:t>
            </a:r>
            <a:r>
              <a:rPr lang="en-US" i="1" dirty="0"/>
              <a:t>n</a:t>
            </a:r>
            <a:r>
              <a:rPr lang="en-US" dirty="0"/>
              <a:t>), and the maximum running time for this function is O(</a:t>
            </a:r>
            <a:r>
              <a:rPr lang="en-US" i="1" dirty="0"/>
              <a:t>n </a:t>
            </a:r>
            <a:r>
              <a:rPr lang="en-US" dirty="0"/>
              <a:t>log </a:t>
            </a:r>
            <a:r>
              <a:rPr lang="en-US" i="1" dirty="0"/>
              <a:t>n</a:t>
            </a:r>
            <a:r>
              <a:rPr lang="en-US" dirty="0"/>
              <a:t>) in all cases</a:t>
            </a:r>
          </a:p>
        </p:txBody>
      </p:sp>
      <p:sp>
        <p:nvSpPr>
          <p:cNvPr id="5"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473425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normAutofit fontScale="90000"/>
          </a:bodyPr>
          <a:lstStyle/>
          <a:p>
            <a:r>
              <a:rPr lang="en-US" b="1" dirty="0"/>
              <a:t>Exponential Algorithm: Recursive Fibonacci </a:t>
            </a:r>
            <a:r>
              <a:rPr lang="en-US" sz="2000" dirty="0"/>
              <a:t>(1 of 3)</a:t>
            </a:r>
          </a:p>
        </p:txBody>
      </p:sp>
      <p:sp>
        <p:nvSpPr>
          <p:cNvPr id="3" name="Content Placeholder 2"/>
          <p:cNvSpPr>
            <a:spLocks noGrp="1"/>
          </p:cNvSpPr>
          <p:nvPr>
            <p:ph idx="1"/>
          </p:nvPr>
        </p:nvSpPr>
        <p:spPr>
          <a:xfrm>
            <a:off x="628650" y="1825625"/>
            <a:ext cx="7886700" cy="307975"/>
          </a:xfrm>
        </p:spPr>
        <p:txBody>
          <a:bodyPr/>
          <a:lstStyle/>
          <a:p>
            <a:pPr marL="291600" indent="-291600">
              <a:spcBef>
                <a:spcPts val="1000"/>
              </a:spcBef>
            </a:pPr>
            <a:r>
              <a:rPr lang="en-US" dirty="0"/>
              <a:t>Code for the Fibonacci function:</a:t>
            </a:r>
          </a:p>
        </p:txBody>
      </p:sp>
      <p:sp>
        <p:nvSpPr>
          <p:cNvPr id="5" name="Content Placeholder 4"/>
          <p:cNvSpPr>
            <a:spLocks noGrp="1"/>
          </p:cNvSpPr>
          <p:nvPr>
            <p:ph sz="quarter" idx="12"/>
          </p:nvPr>
        </p:nvSpPr>
        <p:spPr>
          <a:xfrm>
            <a:off x="770878" y="2277122"/>
            <a:ext cx="7391400" cy="1828800"/>
          </a:xfrm>
        </p:spPr>
        <p:txBody>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fib</a:t>
            </a:r>
            <a:r>
              <a:rPr lang="en-US" b="1" dirty="0">
                <a:latin typeface="Courier New" panose="02070309020205020404" pitchFamily="49" charset="0"/>
                <a:ea typeface="MS Mincho"/>
                <a:cs typeface="Bank Gothic Bold"/>
              </a:rPr>
              <a:t>(n):</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006800"/>
                </a:solidFill>
                <a:latin typeface="Courier New" panose="02070309020205020404" pitchFamily="49" charset="0"/>
                <a:ea typeface="MS Mincho"/>
                <a:cs typeface="Bank Gothic Bold"/>
              </a:rPr>
              <a:t>    """The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recursive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Fibonacci</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function."""</a:t>
            </a:r>
            <a:endParaRPr lang="en-US" sz="1300" dirty="0">
              <a:solidFill>
                <a:srgbClr val="006800"/>
              </a:solidFill>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3:</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else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342900" lvl="1" indent="0">
              <a:buNone/>
            </a:pPr>
            <a:r>
              <a:rPr lang="en-US" b="1" dirty="0">
                <a:solidFill>
                  <a:srgbClr val="FF6600"/>
                </a:solidFill>
                <a:latin typeface="Courier New" panose="02070309020205020404" pitchFamily="49" charset="0"/>
                <a:ea typeface="MS Mincho"/>
              </a:rPr>
              <a:t>       </a:t>
            </a:r>
            <a:r>
              <a:rPr lang="en-US" b="1" dirty="0">
                <a:solidFill>
                  <a:srgbClr val="8A3800"/>
                </a:solidFill>
                <a:latin typeface="Courier New" panose="02070309020205020404" pitchFamily="49" charset="0"/>
                <a:ea typeface="MS Mincho"/>
              </a:rPr>
              <a:t>return</a:t>
            </a:r>
            <a:r>
              <a:rPr lang="en-US" b="1" dirty="0">
                <a:latin typeface="Times" panose="02020603050405020304" pitchFamily="18" charset="0"/>
                <a:ea typeface="MS Mincho"/>
              </a:rPr>
              <a:t> </a:t>
            </a:r>
            <a:r>
              <a:rPr lang="en-US" b="1" dirty="0">
                <a:latin typeface="Courier New" panose="02070309020205020404" pitchFamily="49" charset="0"/>
                <a:ea typeface="MS Mincho"/>
              </a:rPr>
              <a:t>fib(n</a:t>
            </a:r>
            <a:r>
              <a:rPr lang="en-US" b="1" dirty="0">
                <a:latin typeface="Times" panose="02020603050405020304" pitchFamily="18" charset="0"/>
                <a:ea typeface="MS Mincho"/>
              </a:rPr>
              <a:t> </a:t>
            </a:r>
            <a:r>
              <a:rPr lang="en-US" dirty="0">
                <a:latin typeface="Arial" panose="020B0604020202020204" pitchFamily="34" charset="0"/>
                <a:cs typeface="Arial" panose="020B0604020202020204" pitchFamily="34" charset="0"/>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1)</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fib(n</a:t>
            </a:r>
            <a:r>
              <a:rPr lang="en-US" b="1" dirty="0">
                <a:latin typeface="Times" panose="02020603050405020304" pitchFamily="18" charset="0"/>
                <a:ea typeface="MS Mincho"/>
              </a:rPr>
              <a:t> </a:t>
            </a:r>
            <a:r>
              <a:rPr lang="en-US" dirty="0">
                <a:latin typeface="Arial" panose="020B0604020202020204" pitchFamily="34" charset="0"/>
                <a:cs typeface="Arial" panose="020B0604020202020204" pitchFamily="34" charset="0"/>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2)</a:t>
            </a:r>
            <a:endParaRPr lang="en-IN" dirty="0"/>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472018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normAutofit fontScale="90000"/>
          </a:bodyPr>
          <a:lstStyle/>
          <a:p>
            <a:r>
              <a:rPr lang="en-US" b="1" dirty="0"/>
              <a:t>Exponential Algorithm: Recursive Fibonacci </a:t>
            </a:r>
            <a:r>
              <a:rPr lang="en-US" sz="2000" dirty="0"/>
              <a:t>(2 of 3)</a:t>
            </a:r>
          </a:p>
        </p:txBody>
      </p:sp>
      <p:sp>
        <p:nvSpPr>
          <p:cNvPr id="3" name="Content Placeholder 2"/>
          <p:cNvSpPr>
            <a:spLocks noGrp="1"/>
          </p:cNvSpPr>
          <p:nvPr>
            <p:ph idx="1"/>
          </p:nvPr>
        </p:nvSpPr>
        <p:spPr>
          <a:xfrm>
            <a:off x="628650" y="1825625"/>
            <a:ext cx="7886700" cy="688975"/>
          </a:xfrm>
        </p:spPr>
        <p:txBody>
          <a:bodyPr/>
          <a:lstStyle/>
          <a:p>
            <a:pPr marL="291600" indent="-291600">
              <a:spcBef>
                <a:spcPts val="1000"/>
              </a:spcBef>
            </a:pPr>
            <a:r>
              <a:rPr lang="en-US" dirty="0"/>
              <a:t>Figure 3.16 shows the calls involved when using the recursive function to compute the sixth Fibonacci number</a:t>
            </a:r>
          </a:p>
        </p:txBody>
      </p:sp>
      <p:sp>
        <p:nvSpPr>
          <p:cNvPr id="5" name="Content Placeholder 4"/>
          <p:cNvSpPr>
            <a:spLocks noGrp="1"/>
          </p:cNvSpPr>
          <p:nvPr>
            <p:ph sz="quarter" idx="12"/>
          </p:nvPr>
        </p:nvSpPr>
        <p:spPr>
          <a:xfrm>
            <a:off x="628650" y="2743200"/>
            <a:ext cx="6991350" cy="320481"/>
          </a:xfrm>
        </p:spPr>
        <p:txBody>
          <a:bodyPr/>
          <a:lstStyle/>
          <a:p>
            <a:pPr marL="0" indent="0">
              <a:spcBef>
                <a:spcPts val="1000"/>
              </a:spcBef>
              <a:buNone/>
            </a:pPr>
            <a:r>
              <a:rPr lang="en-IN" b="1" dirty="0"/>
              <a:t>Figure 3-16: </a:t>
            </a:r>
            <a:r>
              <a:rPr lang="en-IN" dirty="0"/>
              <a:t>A call tree for fib(6)</a:t>
            </a:r>
          </a:p>
        </p:txBody>
      </p:sp>
      <p:pic>
        <p:nvPicPr>
          <p:cNvPr id="7" name="Content Placeholder 6" descr="Illustration shows call tree for the Fibonacci function with problem size 6. Figure is in the form of an inverted tree. The root has the number 6. This splits into the nodes 5 on the left hand side and 4 on the right hand side at level 1. The left hand side is described further. The number 5 at level 1 splits into 4 and 3 at level 2. The number 4 splits into 3 and 2 at level 3. The number 3 at level 2 splits into 2 and 1 at level 4. The number 3 at level 2 splits into 2 and 1 at level 3. At level 1 on the right hand side, the number 4 splits into 3 and 2 at level 2. The number 3 splits into 2 and 1 at level 3."/>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272492" y="3276600"/>
            <a:ext cx="6903816" cy="2667000"/>
          </a:xfrm>
        </p:spPr>
      </p:pic>
      <p:sp>
        <p:nvSpPr>
          <p:cNvPr id="8"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092288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normAutofit fontScale="90000"/>
          </a:bodyPr>
          <a:lstStyle/>
          <a:p>
            <a:r>
              <a:rPr lang="en-US" b="1" dirty="0"/>
              <a:t>Exponential Algorithm: Recursive Fibonacci </a:t>
            </a:r>
            <a:r>
              <a:rPr lang="en-US" sz="2000" dirty="0"/>
              <a:t>(3 of 3)</a:t>
            </a:r>
          </a:p>
        </p:txBody>
      </p:sp>
      <p:sp>
        <p:nvSpPr>
          <p:cNvPr id="3" name="Content Placeholder 2"/>
          <p:cNvSpPr>
            <a:spLocks noGrp="1"/>
          </p:cNvSpPr>
          <p:nvPr>
            <p:ph idx="1"/>
          </p:nvPr>
        </p:nvSpPr>
        <p:spPr>
          <a:xfrm>
            <a:off x="628650" y="1600201"/>
            <a:ext cx="7886700" cy="4419599"/>
          </a:xfrm>
        </p:spPr>
        <p:txBody>
          <a:bodyPr>
            <a:normAutofit fontScale="92500" lnSpcReduction="10000"/>
          </a:bodyPr>
          <a:lstStyle/>
          <a:p>
            <a:pPr marL="291600" indent="-291600">
              <a:lnSpc>
                <a:spcPct val="100000"/>
              </a:lnSpc>
              <a:spcBef>
                <a:spcPts val="1000"/>
              </a:spcBef>
            </a:pPr>
            <a:r>
              <a:rPr lang="en-US" dirty="0"/>
              <a:t>Exponential algorithms are generally impractical to run with anything but very small problem sizes</a:t>
            </a:r>
          </a:p>
          <a:p>
            <a:pPr marL="291600" indent="-291600">
              <a:lnSpc>
                <a:spcPct val="100000"/>
              </a:lnSpc>
              <a:spcBef>
                <a:spcPts val="1000"/>
              </a:spcBef>
            </a:pPr>
            <a:r>
              <a:rPr lang="en-US" dirty="0"/>
              <a:t>Although recursive Fibonacci is elegant in its design,</a:t>
            </a:r>
          </a:p>
          <a:p>
            <a:pPr lvl="1">
              <a:spcBef>
                <a:spcPts val="1000"/>
              </a:spcBef>
            </a:pPr>
            <a:r>
              <a:rPr lang="en-US" dirty="0"/>
              <a:t>There is a less beautiful but much faster version that uses a loop to run in linear time (see the next section)</a:t>
            </a:r>
          </a:p>
          <a:p>
            <a:pPr marL="291600" indent="-291600">
              <a:lnSpc>
                <a:spcPct val="100000"/>
              </a:lnSpc>
              <a:spcBef>
                <a:spcPts val="1000"/>
              </a:spcBef>
            </a:pPr>
            <a:r>
              <a:rPr lang="en-US" dirty="0"/>
              <a:t>Alternatively, recursive functions that are called repeatedly with the same arguments can be made more efficient by a technique called </a:t>
            </a:r>
            <a:r>
              <a:rPr lang="en-US" i="1" dirty="0"/>
              <a:t>memorization:</a:t>
            </a:r>
          </a:p>
          <a:p>
            <a:pPr lvl="1">
              <a:spcBef>
                <a:spcPts val="1000"/>
              </a:spcBef>
            </a:pPr>
            <a:r>
              <a:rPr lang="en-US" dirty="0"/>
              <a:t>The program maintains a table of the values for each argument used with the function</a:t>
            </a:r>
          </a:p>
          <a:p>
            <a:pPr lvl="1">
              <a:spcBef>
                <a:spcPts val="1000"/>
              </a:spcBef>
            </a:pPr>
            <a:r>
              <a:rPr lang="en-US" dirty="0"/>
              <a:t>Before the function recursively computes a value for a given argument, it checks the table to see if that argument already has a value</a:t>
            </a:r>
          </a:p>
          <a:p>
            <a:pPr lvl="1"/>
            <a:r>
              <a:rPr lang="en-US" dirty="0"/>
              <a:t>If so, that value is simply returned</a:t>
            </a:r>
          </a:p>
          <a:p>
            <a:pPr lvl="1">
              <a:spcBef>
                <a:spcPts val="1000"/>
              </a:spcBef>
            </a:pPr>
            <a:r>
              <a:rPr lang="en-US" dirty="0"/>
              <a:t>If not, computation proceeds and the argument and value are added to the table afterward</a:t>
            </a:r>
          </a:p>
        </p:txBody>
      </p:sp>
      <p:sp>
        <p:nvSpPr>
          <p:cNvPr id="5"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305566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normAutofit fontScale="90000"/>
          </a:bodyPr>
          <a:lstStyle/>
          <a:p>
            <a:r>
              <a:rPr lang="en-US" b="1" dirty="0"/>
              <a:t>Converting Fibonacci to a Linear Algorithm </a:t>
            </a:r>
            <a:r>
              <a:rPr lang="en-US" sz="2000" dirty="0"/>
              <a:t>(1 of 2)</a:t>
            </a:r>
          </a:p>
        </p:txBody>
      </p:sp>
      <p:sp>
        <p:nvSpPr>
          <p:cNvPr id="3" name="Content Placeholder 2"/>
          <p:cNvSpPr>
            <a:spLocks noGrp="1"/>
          </p:cNvSpPr>
          <p:nvPr>
            <p:ph idx="1"/>
          </p:nvPr>
        </p:nvSpPr>
        <p:spPr>
          <a:xfrm>
            <a:off x="628650" y="1825625"/>
            <a:ext cx="7886700" cy="3432175"/>
          </a:xfrm>
        </p:spPr>
        <p:txBody>
          <a:bodyPr/>
          <a:lstStyle/>
          <a:p>
            <a:pPr marL="291600" indent="-291600">
              <a:spcBef>
                <a:spcPts val="1000"/>
              </a:spcBef>
            </a:pPr>
            <a:r>
              <a:rPr lang="en-US" dirty="0"/>
              <a:t>An alternate algorithm starts a loop if </a:t>
            </a:r>
            <a:r>
              <a:rPr lang="en-US" i="1" dirty="0"/>
              <a:t>n </a:t>
            </a:r>
            <a:r>
              <a:rPr lang="en-US" dirty="0"/>
              <a:t>is at least the third Fibonacci number:</a:t>
            </a:r>
          </a:p>
          <a:p>
            <a:pPr lvl="1">
              <a:spcBef>
                <a:spcPts val="1000"/>
              </a:spcBef>
            </a:pPr>
            <a:r>
              <a:rPr lang="en-US" dirty="0"/>
              <a:t>This number will be at least the sum of the first two (1 + 1 = 2)</a:t>
            </a:r>
          </a:p>
          <a:p>
            <a:pPr marL="291600" indent="-291600">
              <a:spcBef>
                <a:spcPts val="1000"/>
              </a:spcBef>
            </a:pPr>
            <a:r>
              <a:rPr lang="en-US" dirty="0"/>
              <a:t>The loop computes this sum and then performs two replacements: </a:t>
            </a:r>
          </a:p>
          <a:p>
            <a:pPr lvl="1">
              <a:spcBef>
                <a:spcPts val="1000"/>
              </a:spcBef>
            </a:pPr>
            <a:r>
              <a:rPr lang="en-US" dirty="0"/>
              <a:t>The first number becomes the second one, and the second one becomes the sum just computed</a:t>
            </a:r>
          </a:p>
          <a:p>
            <a:pPr marL="291600" indent="-291600">
              <a:spcBef>
                <a:spcPts val="1000"/>
              </a:spcBef>
            </a:pPr>
            <a:r>
              <a:rPr lang="en-US" dirty="0"/>
              <a:t>The loop counts from 3 through </a:t>
            </a:r>
            <a:r>
              <a:rPr lang="en-US" i="1" dirty="0"/>
              <a:t>n</a:t>
            </a:r>
            <a:endParaRPr lang="en-US" dirty="0"/>
          </a:p>
          <a:p>
            <a:pPr marL="291600" indent="-291600">
              <a:spcBef>
                <a:spcPts val="1000"/>
              </a:spcBef>
            </a:pPr>
            <a:r>
              <a:rPr lang="en-US" dirty="0"/>
              <a:t>The sum at the end of the loop is the </a:t>
            </a:r>
            <a:r>
              <a:rPr lang="en-US" i="1" dirty="0"/>
              <a:t>n</a:t>
            </a:r>
            <a:r>
              <a:rPr lang="en-US" dirty="0"/>
              <a:t>th Fibonacci number</a:t>
            </a:r>
          </a:p>
        </p:txBody>
      </p:sp>
      <p:sp>
        <p:nvSpPr>
          <p:cNvPr id="5"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86415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normAutofit fontScale="90000"/>
          </a:bodyPr>
          <a:lstStyle/>
          <a:p>
            <a:r>
              <a:rPr lang="en-US" b="1" dirty="0"/>
              <a:t>Converting Fibonacci to a Linear Algorithm </a:t>
            </a:r>
            <a:r>
              <a:rPr lang="en-US" sz="2000" dirty="0"/>
              <a:t>(2 of 2)</a:t>
            </a:r>
          </a:p>
        </p:txBody>
      </p:sp>
      <p:sp>
        <p:nvSpPr>
          <p:cNvPr id="3" name="Content Placeholder 2"/>
          <p:cNvSpPr>
            <a:spLocks noGrp="1"/>
          </p:cNvSpPr>
          <p:nvPr>
            <p:ph idx="1"/>
          </p:nvPr>
        </p:nvSpPr>
        <p:spPr>
          <a:xfrm>
            <a:off x="628650" y="1825625"/>
            <a:ext cx="7886700" cy="384175"/>
          </a:xfrm>
        </p:spPr>
        <p:txBody>
          <a:bodyPr/>
          <a:lstStyle/>
          <a:p>
            <a:pPr marL="291600" indent="-291600">
              <a:spcBef>
                <a:spcPts val="1000"/>
              </a:spcBef>
            </a:pPr>
            <a:r>
              <a:rPr lang="en-US" dirty="0"/>
              <a:t>Pseudocode for this algorithm:</a:t>
            </a:r>
          </a:p>
        </p:txBody>
      </p:sp>
      <p:sp>
        <p:nvSpPr>
          <p:cNvPr id="5" name="Content Placeholder 4"/>
          <p:cNvSpPr>
            <a:spLocks noGrp="1"/>
          </p:cNvSpPr>
          <p:nvPr>
            <p:ph sz="quarter" idx="12"/>
          </p:nvPr>
        </p:nvSpPr>
        <p:spPr>
          <a:xfrm>
            <a:off x="762000" y="2282301"/>
            <a:ext cx="7620000" cy="2362200"/>
          </a:xfrm>
        </p:spPr>
        <p:txBody>
          <a:bodyPr/>
          <a:lstStyle/>
          <a:p>
            <a:pPr marL="171450" lvl="1" indent="0">
              <a:spcBef>
                <a:spcPts val="0"/>
              </a:spcBef>
              <a:buNone/>
            </a:pPr>
            <a:r>
              <a:rPr lang="en-US" b="1" dirty="0">
                <a:latin typeface="Courier New" panose="02070309020205020404" pitchFamily="49" charset="0"/>
                <a:ea typeface="MS Mincho"/>
                <a:cs typeface="Bank Gothic Bold"/>
              </a:rPr>
              <a:t>Set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sum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to</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Set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first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to</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Set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second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to</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Set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count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to</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3</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count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Set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sum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to</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first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second</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Set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first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to</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second</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Set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second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to</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sum</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Increment</a:t>
            </a:r>
            <a:r>
              <a:rPr lang="en-US" b="1" dirty="0">
                <a:latin typeface="Times" panose="02020603050405020304" pitchFamily="18" charset="0"/>
                <a:ea typeface="MS Mincho"/>
              </a:rPr>
              <a:t> </a:t>
            </a:r>
            <a:r>
              <a:rPr lang="en-US" b="1" dirty="0">
                <a:latin typeface="Courier New" panose="02070309020205020404" pitchFamily="49" charset="0"/>
                <a:ea typeface="MS Mincho"/>
              </a:rPr>
              <a:t>count	</a:t>
            </a:r>
            <a:endParaRPr lang="en-IN" dirty="0"/>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50138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Chapter Summary </a:t>
            </a:r>
            <a:r>
              <a:rPr lang="en-US" sz="2000" dirty="0"/>
              <a:t>(1 of 2)</a:t>
            </a:r>
          </a:p>
        </p:txBody>
      </p:sp>
      <p:sp>
        <p:nvSpPr>
          <p:cNvPr id="3" name="Content Placeholder 2"/>
          <p:cNvSpPr>
            <a:spLocks noGrp="1"/>
          </p:cNvSpPr>
          <p:nvPr>
            <p:ph idx="1"/>
          </p:nvPr>
        </p:nvSpPr>
        <p:spPr>
          <a:xfrm>
            <a:off x="628650" y="1676399"/>
            <a:ext cx="8468063" cy="4343401"/>
          </a:xfrm>
        </p:spPr>
        <p:txBody>
          <a:bodyPr>
            <a:normAutofit/>
          </a:bodyPr>
          <a:lstStyle/>
          <a:p>
            <a:pPr marL="291600" lvl="0" indent="-291600">
              <a:spcBef>
                <a:spcPts val="1000"/>
              </a:spcBef>
            </a:pPr>
            <a:r>
              <a:rPr lang="en-US" dirty="0"/>
              <a:t>Different algorithms for solving the same problem can be ranked according to the time and memory resources that they require</a:t>
            </a:r>
          </a:p>
          <a:p>
            <a:pPr marL="291600" lvl="0" indent="-291600">
              <a:spcBef>
                <a:spcPts val="1000"/>
              </a:spcBef>
            </a:pPr>
            <a:r>
              <a:rPr lang="en-US" dirty="0"/>
              <a:t>You can measure the running time of an algorithm empirically with the computer’s clock</a:t>
            </a:r>
          </a:p>
          <a:p>
            <a:pPr marL="291600" lvl="0" indent="-291600">
              <a:spcBef>
                <a:spcPts val="1000"/>
              </a:spcBef>
            </a:pPr>
            <a:r>
              <a:rPr lang="en-US" dirty="0"/>
              <a:t>Counting instructions provide another empirical measurement of the amount of work that an algorithm does</a:t>
            </a:r>
          </a:p>
          <a:p>
            <a:pPr marL="291600" lvl="0" indent="-291600">
              <a:spcBef>
                <a:spcPts val="1000"/>
              </a:spcBef>
            </a:pPr>
            <a:r>
              <a:rPr lang="en-US" dirty="0"/>
              <a:t>The rate of growth of an algorithm’s work can be expressed as a function of the size of its problem instances</a:t>
            </a:r>
          </a:p>
          <a:p>
            <a:pPr marL="291600" lvl="0" indent="-291600">
              <a:spcBef>
                <a:spcPts val="1000"/>
              </a:spcBef>
            </a:pPr>
            <a:r>
              <a:rPr lang="en-US" dirty="0"/>
              <a:t>Big-O notation is a co</a:t>
            </a:r>
            <a:r>
              <a:rPr lang="en-US" dirty="0">
                <a:solidFill>
                  <a:srgbClr val="004978"/>
                </a:solidFill>
              </a:rPr>
              <a:t>mmo</a:t>
            </a:r>
            <a:r>
              <a:rPr lang="en-US" dirty="0"/>
              <a:t>n way of expressing an algorithm’s run-time behavior</a:t>
            </a:r>
          </a:p>
          <a:p>
            <a:pPr marL="291600" lvl="0" indent="-291600">
              <a:spcBef>
                <a:spcPts val="1000"/>
              </a:spcBef>
            </a:pPr>
            <a:r>
              <a:rPr lang="en-US" dirty="0"/>
              <a:t>Common expressions of run-time behavior are O(log</a:t>
            </a:r>
            <a:r>
              <a:rPr lang="en-US" baseline="-25000" dirty="0"/>
              <a:t>2</a:t>
            </a:r>
            <a:r>
              <a:rPr lang="en-US" i="1" dirty="0"/>
              <a:t>n</a:t>
            </a:r>
            <a:r>
              <a:rPr lang="en-US" dirty="0"/>
              <a:t>)</a:t>
            </a:r>
          </a:p>
          <a:p>
            <a:pPr marL="0" lvl="0" indent="266700">
              <a:spcBef>
                <a:spcPts val="1000"/>
              </a:spcBef>
              <a:buNone/>
            </a:pPr>
            <a:r>
              <a:rPr lang="en-US" dirty="0"/>
              <a:t>(logarithmic), O(</a:t>
            </a:r>
            <a:r>
              <a:rPr lang="en-US" i="1" dirty="0"/>
              <a:t>n</a:t>
            </a:r>
            <a:r>
              <a:rPr lang="en-US" dirty="0"/>
              <a:t>) (linear),</a:t>
            </a:r>
          </a:p>
        </p:txBody>
      </p:sp>
      <p:graphicFrame>
        <p:nvGraphicFramePr>
          <p:cNvPr id="7" name="Content Placeholder 6" descr="O(n squared) (quadratic), and O(k to the power n) (exponential)"/>
          <p:cNvGraphicFramePr>
            <a:graphicFrameLocks noGrp="1" noChangeAspect="1"/>
          </p:cNvGraphicFramePr>
          <p:nvPr>
            <p:ph sz="quarter" idx="12"/>
            <p:extLst>
              <p:ext uri="{D42A27DB-BD31-4B8C-83A1-F6EECF244321}">
                <p14:modId xmlns:p14="http://schemas.microsoft.com/office/powerpoint/2010/main" val="2544292939"/>
              </p:ext>
            </p:extLst>
          </p:nvPr>
        </p:nvGraphicFramePr>
        <p:xfrm>
          <a:off x="4071646" y="5560257"/>
          <a:ext cx="4872870" cy="459543"/>
        </p:xfrm>
        <a:graphic>
          <a:graphicData uri="http://schemas.openxmlformats.org/presentationml/2006/ole">
            <mc:AlternateContent xmlns:mc="http://schemas.openxmlformats.org/markup-compatibility/2006">
              <mc:Choice xmlns:v="urn:schemas-microsoft-com:vml" Requires="v">
                <p:oleObj spid="_x0000_s5222" name="Equation" r:id="rId4" imgW="2958840" imgH="279360" progId="Equation.DSMT4">
                  <p:embed/>
                </p:oleObj>
              </mc:Choice>
              <mc:Fallback>
                <p:oleObj name="Equation" r:id="rId4" imgW="2958840" imgH="279360" progId="Equation.DSMT4">
                  <p:embed/>
                  <p:pic>
                    <p:nvPicPr>
                      <p:cNvPr id="0" name=""/>
                      <p:cNvPicPr/>
                      <p:nvPr/>
                    </p:nvPicPr>
                    <p:blipFill>
                      <a:blip r:embed="rId5"/>
                      <a:stretch>
                        <a:fillRect/>
                      </a:stretch>
                    </p:blipFill>
                    <p:spPr>
                      <a:xfrm>
                        <a:off x="4071646" y="5560257"/>
                        <a:ext cx="4872870" cy="459543"/>
                      </a:xfrm>
                      <a:prstGeom prst="rect">
                        <a:avLst/>
                      </a:prstGeom>
                    </p:spPr>
                  </p:pic>
                </p:oleObj>
              </mc:Fallback>
            </mc:AlternateContent>
          </a:graphicData>
        </a:graphic>
      </p:graphicFrame>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5869351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61780"/>
          </a:xfrm>
        </p:spPr>
        <p:txBody>
          <a:bodyPr/>
          <a:lstStyle/>
          <a:p>
            <a:r>
              <a:rPr lang="en-US" b="1" dirty="0"/>
              <a:t>Chapter Summary </a:t>
            </a:r>
            <a:r>
              <a:rPr lang="en-US" sz="2000" dirty="0"/>
              <a:t>(2 of 2)</a:t>
            </a:r>
          </a:p>
        </p:txBody>
      </p:sp>
      <p:sp>
        <p:nvSpPr>
          <p:cNvPr id="3" name="Content Placeholder 2"/>
          <p:cNvSpPr>
            <a:spLocks noGrp="1"/>
          </p:cNvSpPr>
          <p:nvPr>
            <p:ph idx="1"/>
          </p:nvPr>
        </p:nvSpPr>
        <p:spPr>
          <a:xfrm>
            <a:off x="628650" y="1825625"/>
            <a:ext cx="7886700" cy="2746375"/>
          </a:xfrm>
        </p:spPr>
        <p:txBody>
          <a:bodyPr>
            <a:normAutofit lnSpcReduction="10000"/>
          </a:bodyPr>
          <a:lstStyle/>
          <a:p>
            <a:pPr marL="291600" lvl="0" indent="-291600">
              <a:spcBef>
                <a:spcPts val="1000"/>
              </a:spcBef>
            </a:pPr>
            <a:r>
              <a:rPr lang="en-US" dirty="0"/>
              <a:t>An algorithm can have different best-case, worst-case, and average-case behaviors</a:t>
            </a:r>
          </a:p>
          <a:p>
            <a:pPr marL="291600" lvl="0" indent="-291600">
              <a:spcBef>
                <a:spcPts val="1000"/>
              </a:spcBef>
            </a:pPr>
            <a:r>
              <a:rPr lang="en-US" dirty="0"/>
              <a:t>In general, it is better to try to reduce the order of an algorithm’s complexity than it is to try to enhance performance by tweaking the code</a:t>
            </a:r>
          </a:p>
          <a:p>
            <a:pPr marL="291600" lvl="0" indent="-291600">
              <a:spcBef>
                <a:spcPts val="1000"/>
              </a:spcBef>
            </a:pPr>
            <a:r>
              <a:rPr lang="en-US" dirty="0"/>
              <a:t>A binary search is substantially faster than a sequential search</a:t>
            </a:r>
          </a:p>
          <a:p>
            <a:pPr marL="291600" lvl="0" indent="-291600">
              <a:spcBef>
                <a:spcPts val="1000"/>
              </a:spcBef>
            </a:pPr>
            <a:r>
              <a:rPr lang="en-US" dirty="0"/>
              <a:t>The </a:t>
            </a:r>
            <a:r>
              <a:rPr lang="en-US" i="1" dirty="0"/>
              <a:t>n </a:t>
            </a:r>
            <a:r>
              <a:rPr lang="en-US" dirty="0"/>
              <a:t>log </a:t>
            </a:r>
            <a:r>
              <a:rPr lang="en-US" i="1" dirty="0"/>
              <a:t>n </a:t>
            </a:r>
            <a:r>
              <a:rPr lang="en-US" dirty="0"/>
              <a:t>sort algorithms use a recursive, divide-and-conquer strategy to break the</a:t>
            </a:r>
          </a:p>
        </p:txBody>
      </p:sp>
      <p:graphicFrame>
        <p:nvGraphicFramePr>
          <p:cNvPr id="7" name="Content Placeholder 6" descr="n squared barrier"/>
          <p:cNvGraphicFramePr>
            <a:graphicFrameLocks noGrp="1" noChangeAspect="1"/>
          </p:cNvGraphicFramePr>
          <p:nvPr>
            <p:ph sz="quarter" idx="12"/>
            <p:extLst>
              <p:ext uri="{D42A27DB-BD31-4B8C-83A1-F6EECF244321}">
                <p14:modId xmlns:p14="http://schemas.microsoft.com/office/powerpoint/2010/main" val="2023156726"/>
              </p:ext>
            </p:extLst>
          </p:nvPr>
        </p:nvGraphicFramePr>
        <p:xfrm>
          <a:off x="4648200" y="4164605"/>
          <a:ext cx="1200884" cy="349947"/>
        </p:xfrm>
        <a:graphic>
          <a:graphicData uri="http://schemas.openxmlformats.org/presentationml/2006/ole">
            <mc:AlternateContent xmlns:mc="http://schemas.openxmlformats.org/markup-compatibility/2006">
              <mc:Choice xmlns:v="urn:schemas-microsoft-com:vml" Requires="v">
                <p:oleObj spid="_x0000_s6243" name="Equation" r:id="rId4" imgW="698400" imgH="203040" progId="Equation.DSMT4">
                  <p:embed/>
                </p:oleObj>
              </mc:Choice>
              <mc:Fallback>
                <p:oleObj name="Equation" r:id="rId4" imgW="698400" imgH="203040" progId="Equation.DSMT4">
                  <p:embed/>
                  <p:pic>
                    <p:nvPicPr>
                      <p:cNvPr id="0" name=""/>
                      <p:cNvPicPr/>
                      <p:nvPr/>
                    </p:nvPicPr>
                    <p:blipFill>
                      <a:blip r:embed="rId5"/>
                      <a:stretch>
                        <a:fillRect/>
                      </a:stretch>
                    </p:blipFill>
                    <p:spPr>
                      <a:xfrm>
                        <a:off x="4648200" y="4164605"/>
                        <a:ext cx="1200884" cy="349947"/>
                      </a:xfrm>
                      <a:prstGeom prst="rect">
                        <a:avLst/>
                      </a:prstGeom>
                    </p:spPr>
                  </p:pic>
                </p:oleObj>
              </mc:Fallback>
            </mc:AlternateContent>
          </a:graphicData>
        </a:graphic>
      </p:graphicFrame>
      <p:sp>
        <p:nvSpPr>
          <p:cNvPr id="6" name="Content Placeholder 5"/>
          <p:cNvSpPr>
            <a:spLocks noGrp="1"/>
          </p:cNvSpPr>
          <p:nvPr>
            <p:ph sz="quarter" idx="13"/>
          </p:nvPr>
        </p:nvSpPr>
        <p:spPr>
          <a:xfrm>
            <a:off x="608772" y="4648200"/>
            <a:ext cx="7677150" cy="609600"/>
          </a:xfrm>
        </p:spPr>
        <p:txBody>
          <a:bodyPr/>
          <a:lstStyle/>
          <a:p>
            <a:pPr marL="291600" indent="-291600">
              <a:spcBef>
                <a:spcPts val="1000"/>
              </a:spcBef>
              <a:buFont typeface="Arial" panose="020B0604020202020204" pitchFamily="34" charset="0"/>
              <a:buChar char="•"/>
            </a:pPr>
            <a:r>
              <a:rPr lang="en-US" dirty="0"/>
              <a:t>Exponential algorithms are primarily of theoretical interest and are impractical to run with large problem sizes</a:t>
            </a:r>
            <a:endParaRPr lang="en-IN" dirty="0"/>
          </a:p>
        </p:txBody>
      </p:sp>
      <p:sp>
        <p:nvSpPr>
          <p:cNvPr id="8"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212011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27F63CBC-DA92-4EB0-96D6-574F9949D6E2"/>
  <p:tag name="ISPRING_SCORM_ENDPOINT" val="&lt;endpoint&gt;&lt;enable&gt;0&lt;/enable&gt;&lt;lrs&gt;http://&lt;/lrs&gt;&lt;auth&gt;0&lt;/auth&gt;&lt;login&gt;&lt;/login&gt;&lt;password&gt;&lt;/password&gt;&lt;key&gt;&lt;/key&gt;&lt;name&gt;&lt;/name&gt;&lt;email&gt;&lt;/email&gt;&lt;/endpoint&gt;&#10;"/>
  <p:tag name="ISPRING_SCORM_RATE_SLIDES" val="1"/>
  <p:tag name="ISPRINGONLINEFOLDERID" val="0"/>
  <p:tag name="ISPRINGONLINEFOLDERPATH" val="Content List"/>
  <p:tag name="ISPRINGCLOUDFOLDERID" val="0"/>
  <p:tag name="ISPRINGCLOUDFOLDERPATH" val="Repository"/>
  <p:tag name="ISPRING_PLAYERS_CUSTOMIZATION" val="UEsDBBQAAgAIAGtOyEwVDq0oZAQAAAcRAAAmAAAAdW5pdmVyc2FsLW5vLXZpZGVvL2NvbW1vbl9tZXNzYWdlcy5sbmetWG1v2zYQ/l6g/4EQUGADtrQd0KIYEge0xNhEZMmV6DjZCwRGYmwilJjpxW32ab9mP2y/ZEfKTuK+QFISwDZMyvfc8e6eu6MPjz/nCm1EWUldHDlvD944SBSpzmSxOnIW7OTnDw6qal5kXOlCHDmFdtDx6OWLQ8WLVcNXAr6/fIHQYS6qCpbVyKzu10hmR858nLjhbI6Di8QPJ2EyphNn5Or8hhe3yNcr/Uf5wy/vP3x+++79j4evt5J9gOIZ9v19KGSR3r3pARSwKPQTQCN+EpBz5ozM5zC5cMF8GhBntP0yTHoekTNnZD475RZRRAKWxD71SELjJAiZ9YVPGPGc0YVu0JpvBKo12kjxCdVrAZGsZSlQpWRmH6QaNopGdCnzwhmmQRKRmEXUZTQMnFGsy/L2JwvLm3qtS1BXoUxW/FKJzOqEnLHPb0pRgWpeQ04heNVrCb/UOZfFQafqCC9pMElYGPpxQgJvt+OMSJEhr+RGzUCUCMckAoCSV6J8hGxis8yKI6zUMIQpnUx9eDNjwlSu1gre9VA75gRiMBdFlxTkCIkgu+J4GUaecRqoQhzd8Kr6pMtsLz8eBqoLmAZuCCnosgfgzGDsgCHGEipHWYq07gKbkTjGE5KMw3NIZOBdOEQiPAW6nQ6RuCAxUITEXTIBPqMTbBLeUGyX/zt+pdyks7pFPE1BzrhvI3VTwY5xKbDAMq06GKYmJh8XEDaK/e/QuEUF79rVSm4E2FFmouxUBJXFJZ7Joo8L+ltygqlPvATSyguXCbMlz2jM+S0qdI14tuFFKtClSHkDuX4LzzKZ2Wcmzlb/X438G/F6W1VebQtS4JHzV0Pt2ath3zCrqcCmuhb5Td2l2jhsa/5jrDA5/V0T+hz9cfpjlwQ4ouHzRKaSeaPaqvvk+NxZNjRGnUY80VP9o/XclsRtbR1TKFhjqftLEOimpn9AA1T9pWhwAormbYmGGk6LqwE6g3ALEGj0WIwzcNWeCWfgwgHySzKOKYPZaCkuK1l3jh2WjW2Avh3aFOY8JWpxT8ZLcaVhwlGCb9rpA7qQjXRnQB8MN3utglHmg8kBAK7a5AFIJXOwP+uBuZiRnQfaAr93kqVuVGbJq+S1LfLg2yYXX49NV6XO7a7i1S552yZz/BQr2sNFrdL5gPZ/x7/e8XlAv8dHKSY4cqeJiwOXmEHfcFX1FAIKGFf4LE58PDbiwIWc1+kamumVboqsJ1A7q3vkBAPY9syx4GW6/u+ff3tifGFJu4u2u78OAgFimypI7sB+D3Qtqj+7QBge78vZRR+p7d1mJ9fzqsMoZOGz3CF421pyncPWQbdeSPJt0DBj2J3OgAexTXvdlDC6DUGY4egUapmdwp3RjJfXUAiZ1moQinW1ScB6mPb762VTK1mIIbJPayXmwIzOE+x59q4N5FMyvW57ZgY3inR76VZw6e4L5k5xAHX2CzyRyXogoG1NuyoERG/X9zTffN2p7laV/cvi8PWDfzD+B1BLAwQUAAIACABrTshM8lxpzfQDAAASEQAAMAAAAHVuaXZlcnNhbC1uby12aWRlby9mbGFzaF9wdWJsaXNoaW5nX3NldHRpbmdzLnhtbNVY727aSBD/zlOsfOrH4qSXXFJkiKLEKKgEOOxcW1WnaLEHvJf1rs+7htJP9zT3YH2SznqBQCGtaY9TKxSBd2d+O/9+M954F+9TTqaQKyZF0zmuHzkERCRjJiZN5y5sPz93iNJUxJRLAU1HSIdctGpeVow4U0kAWqOoIggjVCPTTSfROmu47mw2qzOV5WZX8kIjvqpHMnWzHBQIDbmbcTrHLz3PQDkLhAoA+JdKsVBr1WqEeBbpVsYFB8JitFww4xTlbU5V4rhWbESjh0kuCxFfSS5zkk9GTeeX80vzWcpYqGuWgjAxUS1cNMu6QeOYGSsoD9gHIAmwSYLmnp04ZMZinTSdFycGBaXdbZQS27pODcqVxBgIvYBPQdOYamof7Xka3mu1XLBL8VzQlEUh7hDjf9O5Du+Dbufav+/1Qz+4vwlvu9aGPZRC/024h1LYCbv+PvJV4W/eDvxht9N7dR/2+92wM3jUwohuBMRzNyPmYWRlkUewCpinkyIdCco41uhnYVSgsco5zScQyjbDJI4pV+CQvzKY/F5QzvQcyXCEZHgAyC5VBpEemrQ1HZ0X4DzCWUA0DHO5KonTl6uSODvfcN21pz+6tdNKj2pNowSLB9dK0zx3fWkpNpZiwzXzTEaSxyuHIB1B3KMprFEieGCijZLHDhljEji62s9AkIAKpCHT6H60AlDFSGmmS/q1F9KXOaOcIB72CSC3wVY4ooTmaiPqq8ib4o9a73pSg/rThsMuPSX6WhY8JnNZEM4egGhJMNVFir8SIOuEIuNcpuUqUl4TxRkaN2Uwg/iiykFv8Yi0QE3sLxkHbU/4u2AfyAjGMkdcoFPsRrjOlMWv7wWcUaUeQenSxmeWJp3etf/mmXGQxlMqoj3BsT4gzfRB8OmcCKmXehiOiBYKyqTELC73qvhW//Y0KJYW3Kb5v07GGvQBU3KYU/ZJzFctqHxsQqclEQ25SmikIMOUWEzciLC7MFFAVcCICiIFnxMaYQdXhtZTJguFK5bAFlp9u4VWnzBRPk2wE+KJeQx5Jcij4xe/npz+dnb+slF3P/7z7/MvKi1m24BTc5wdbldPDs9qWp+N0K8ofWGQbum2ZZ6aQo23Dt39crAYYtst3nPN+Nk9jcqh+aMOo8C/HF7dkKEf3HXDoFGlIHoSuaejBEtqbF4nq+j070JMiV9FdDD0/6hkBuamEiX8oBJcv5Ifr6pIDe2QHqwN6EomYFOf2CaFbZ2zlGFl/hQUfYot38/u/4Wh3/2+aCl+IIYCzaMEs3qwSvgpuuAhQ/wjRc0+rW56G1c7z915iTY7KRMsxViaUb+6ebdOT47wsrhzq1ZDtM3/Y7RqnwBQSwMEFAACAAgAa07ITDoqP066AgAAWAoAACoAAAB1bml2ZXJzYWwtbm8tdmlkZW8vZmxhc2hfc2tpbl9zZXR0aW5ncy54bWyVVttO4zAQfecrqu57w17LSqYSlK6E1F0QIN6dZJpYdezInpTt36/tOMRuG5rtCKmeOcdz9RSit0wsLiYTkkku1TMgMlFoq+l0E5ZfT9MGUYpZJgWCwJmQqqJ8uvj0y31I4pDnWHIHaixnQzPo3czdZwzF+/g+tzJEyGRVU7Ffy0LOUpptCyUbkZ8NrdzXoDgTW4O8/DlfrgYdcKbxHqGKYlpdWRlHqRVoDTakHysrZ1mcpsA7T5fuM5LTu/o4+wPajmmGjnbz2coQraYFxEW+urEyjBfm9rgrcysfExD+ooF+/WJlEMrpHlR8+d03K4MMWTf1/8xIrWRhCxpzPm7iO4dLmpvnZ6O6tHKWYBOyjs52wZfH5XoXgPzX8N0T+1yV5I+2rgcLwTY95bBA1QBJulNr06V8e2jQvI/OHmp6zKOJ+ZE2GhYbyrWH9coe+ARvTOQhymt6yKvkTQXLNuAQGRt6wnJ565ZFiH3XBTEq2Hlln0qg7JF/TGGPkIGyRz5zlsOD4PvjCA5NLanr8i31/Qwa4MlRB4wZBDXH3IfSnTqrdbW2j1cHsXpFh6lkDgtt43lhFdjWkcTp2piSo6CIoDtWUGRS/La4dO+y0SQ5MPhpOz1bBBlyODVyLkazqMN6ufPF2YKQ9oehT649T9Ds8espRaRZWZkfJj2deJ55KKYw0+Q0w25KAwd1LzYy4DjfQ6SKqi2oFyn5WDdCIuix18v2fQ3BSRLUgCSnq0z8JafKL5oqBbUyXWOguyrHyhZYsqLk5g9fGbxBfsAYsLZULM19grL3uQwUfgiAqqzsprY9tJaq4cg47IB7a6BwKQ/lRrSZ0qGBu8E1bDAcOa8ZNZN+WfSzEi+RQH8C/2rCii4+sIwYe6SpdplFL7/bxMHV0XLuFpqdvnCXubMfpuhmYz8uoVHa/yj/AVBLAwQUAAIACABrTshMdO22Qt8DAACjEAAALwAAAHVuaXZlcnNhbC1uby12aWRlby9odG1sX3B1Ymxpc2hpbmdfc2V0dGluZ3MueG1s1VjvbtpIEP/OU6x86sfitJdeUmSIosQoqAQ47Ny1qqpo8Q54L+td17uG0k/3NH2wPsmNvUBCIKlpy+VOKAKPZ347/34zdryTT4kgU8g0V7LpvKgfOARkpBiXk6ZzFbafHztEGyoZFUpC05HKISetmpfmI8F1HIAxqKoJwkjdSE3TiY1JG647m83qXKdZcVeJ3CC+rkcqcdMMNEgDmZsKOscvM09BOwuECgD4lyi5MGvVaoR4FulSsVwA4Qw9l7wIiooLkwjHtVojGt1MMpVLdqaEykg2GTWdX45Pi89SxyKd8wRkkRLdQmEhNg3KGC+coCLgn4HEwCcxent06JAZZyZuOi8PCxTUdjdRSmwbOS1QzhSmQJoFfAKGMmqovbTnGfhk9FJgRWwuacKjEO+QIvymcx5eB93OuX/d64d+cH0RXnatDzsYhf7bcAejsBN2/V30q8JfvBv4w26n9+Y67Pe7YWdwa4UZXUuI565nzMPMqjyLYJUwz8R5MpKUC2zRe2nUYLDJBc0mEKo2xyKOqdDgkL9SmPyeU8HNHLlwgFy4AUhPdQqRGRZlazomy8G5hbOA6BjWctUSr16vWuLoeC10155+G9ZWLz1qDI1ibB6Ula557l3RUm2s5FpoxTUZKcFWAUEyAtajCSZ40JYOGWPWBcbWT0GSgEqkHTcYb7Sy0PlIG25KurUX2qcZp4IgpXAuALkMNuKPYprptTSvUl10e9R631MG9AcbvxU9pPqnygUjc5UTwW+AGEWwtnmCv2IgdxlExplKSqmg2hAtODo35TADdlLloHd4RJKjJc6TVICxJ3zM+WcygrHKEBfoFKcPyrm2+PWdgFOq9S0oXfr4zPKi0zv33z4rAqRsSmW0Izg2BCSp2Qs+nROpzNIO0xHRXENZFMZZea9KbPXvL4PmSS5smX92Me5A77Ek+zlll8J804PKx8Z0WhKxIFcJjRTkWBKLiTciHDxc5lAVMKKSKCnmhEY4snVB6ylXuUaJJbCF1t/vobUnXJZXE3wYwBMzBlklyIMXL389fPXb0fHrRt39+veX548aLZbZQNDiOLvNzh7cltWs7u3Mbxg9sjk3bNsqS4pGZRuHbn8aWGytzRHvucW+2b5+yi15b/uMnm79BP7p8OyCDP3gqhsGjSot0FPINhPF2ETj4omxik3/KsQi+FVUB0P/j0puYDUqkcAPKsH1K8XxporW0K7lwZ2VXMkFHOMTO5ZwkAuecOzF/wUpH+LHj/P5X+Hk1kdC/igpLY33xEmgWRRjHfdW+6ebdE+X1f9SouzV6o1t7RXNc7e+DNdQvv6PhVbtH1BLAwQUAAIACABrTshMghPHdJYBAAAiBgAAKAAAAHVuaXZlcnNhbC1uby12aWRlby9odG1sX3NraW5fc2V0dGluZ3MuanONlMtuwjAQRfd8BXK3FaJPaHeoUKkSi0plV3VhwhAiHNuyTQpF/Hsz5hU7k1LPJr46uvOIPNtWuzwsYe3n9tZ/+/t7ePcaoObMCq5DXTToOerMimwGkywHkUlgEVIgMufCwknfnRHKmUnvOt18oK+tGDJF0PqUoCIaArQUWBDgNwWuKfEnbO7Q2L6pyqinK+eU7CRKOpCuI5XJuWfY1as/1R4jWBVgLqBznkBg2vOniTw7PvQwqlyics3lZqxS1ZnyZJkatZKzpvyLjQZT/vTlHug+9V5GgZ3IrHtzkMeJR32MZlIbsBYOeR9HGCQs+BRExbfrzx9oYFxvKKKLzGbuSA9uMKq05inUptQfYISYLL1q0+xh1DkHa7cn7m4xAkLwDZia1fAeIwCVXul//EBtVIoTqaH1mZ9Qofgsk+khdReD5LBYtG2a3rlRX/6QBU9IRU9oQT2/vGl5xKAlQHfUgrw2yjum7AQlSiKHokBNgAW9SFy8SPD+2WbcOZ4s8nI/lOuxnAM3SzATpURZ/telQuNcrd0vUEsDBBQAAgAIAGtOyEw9PC/RwQAAAOUBAAAjAAAAdW5pdmVyc2FsLW5vLXZpZGVvL2kxOG5fcHJlc2V0cy54bWydkbEKwjAQhvc+RbjdxG6lJHUT3Bx0lpqmGmkvJZdaH9+UinSRgEMg//F9PyQnd6++Y0/jyTpUkPMtMIPaNRZvCs6n/aYARqHGpu4cGgXogO2qTNq8wKM3ZAKxWIGk4B7CUAoxTRO3NPjYQK4bQywmrl0v4ukditkUw6LC4pb2L/szgyrLGJPX0XbhgFW8x7QgjLxWMDsXjdxi60D8AhqTAEyqwVACaH0CeAwJwI8rQIrvm+ekRwrxo2KQYrWeKnsDUEsDBBQAAgAIAGtOyEyewaynaAAAAGwAAAAlAAAAdW5pdmVyc2FsLW5vLXZpZGVvL2xvY2FsX3NldHRpbmdzLnhtbA3KuwrDMAxG4T1PIbT3tmWIk6HQMUvSBxDJTzHIUrGd0r59vZ0D3zB9k9IHuUS3wLfzlQm2+R7tFfi5Pk49U6liu6gbApszTWM3qG+iC2ptsNBb5Ye8IrWomCU1ucR2oLsfuYAvY/cHUEsDBBQAAgAIAEqMlUdYuREx+gIAAKoIAAAdAAAAdW5pdmVyc2FsLW5vLXZpZGVvL3BsYXllci54bWytVU1v2zAMPWfA/oOhe6Qkbdc2sFN0BYIdtqFA1m23QLUZW4steZLcNP31k+RvwylaYAcHMcX3SJGPtH/znKXeE0jFBA/QHM+QBzwUEeNxgB5+rKdX6Gbl5yk9gvQiUKFkuTa+91QnAeoYsCFCHosCVHBmCWk65WL6xCIQyMslE5LpowlxYUI0ARfnyDNArgKUaJ0vCTkcDpgp489jJdLCUisciozkEhRwDZKU2VTAZa7fjyX6mIOqGd5AYJ5M8D7sWbEe8HCGhYzJYjabk9/fvm7CBDI6ZVxpykNAq48fJq6QjzTcfxNRkYKytolfkm9AaxvX2Sa+XrL5FfeUDANUOmwzUIrGoHDKY0RKLBkB+7uUqqTiUT1ay6v2rOJ1flv7vq3dXBtJ65wXjylTiTnqQlrrKNAn/ah+5q7r1PFQq2NtmZAn4W/BJETu9WcjxNkceTaxNQ21kMc7c2o0UvUGN/3EZT+xdcWN8HATZNNSoPICjZO7N1aHENW33QHVhYS6VBPfifc7lZJaJay0LMAnA2OFJX2wT8orV01qG+InOksv3tAb6zdozR/1Wmcc4H805oshamrCeATPa2Z8NGSm2BpMF6wN6zzFNmabkyoes46ue6Yyx6pb5iKepjIGM3kR1ZS0dnIKCpIq4xIWcoDtHJwEJyxOUvPoUYbh6UmajMr9KEPn4CQ4FeF+BNqYmzKSYR0HYmoU5JORdeKHhdIiYy9Onr09o5dOh83I3easGbjL2euj2B+dXox6kHZoZHXZf519VR/e2wHWqvXZ5qWlp1YzD6CLvPSqZ6HIBz4R7GiR6rtuTvU+7EAHOY9NxzjXL6N3cdiwF/ASsDIJ0KerM+QdWGS/gfMzU7uWwfTTrJ1eeGc6FXEneF0HjIl7K39dRestX7Wu7PqpDvumhk8MDiWmnKnPRh2xFAWPBj3EefsRUanZabcSaHPBy/k18lLYmb/zhVGsyAN0vmjufH1xXWNdXvdl4DKXd+ioSrhVEKl03VzEr3bD6h9QSwMEFAACAAgAa07ITFvYtdtvAQAA+AIAADIAAAB1bml2ZXJzYWwtbm8tdmlkZW8vc2tpbl9jdXN0b21pemF0aW9uX3NldHRpbmdzLnhtbI1S22rcMBB9z1eI/MBKGt0M7oJuLgsNDd2WPgazVotJIgdLoSHo4yunWTbbbEg0TzPnzBlmdNp0PUZ7n/J0Oz72eZziNuQ8xt9pfYZQu5tupvlyDinktDpUfo5xmP5s4q9pqdVqyn0c+nmwC5rWGHVPDymplVM1Y4ZRJJmnXiHnua1YA64BWzFHiW1X/0n8053DLsR8WrVdHaGvGzYxhTlv4hAe1nDMfgkdb/B57oex8tJasCXKfmpxbAnECJfcF6oBQCDLHXG4SNlITZDHjGMoRlGggAjnpBGFSMqhZl0jqgrzjUBMMkZdoZ7WbqS1cdQWCQ0huk7zqrGl64zEGBFCgLnCBXQGo8qGqqFBLQcEBwZE0UYTBaiznelY8c4Ly5GiXmBcmDGA8eG4h+1enutQ/fA6+3O+I3jyC06ii7dWJ8zV7u7nuZK/h9u7mz4HNA6fzrebi8sv/sp+/fFt68+fjflk4j1tcWtd+01z/wVQSwMEFAACAAgAbE7ITA5/2u9kCQAAexgAACAAAAB1bml2ZXJzYWwtbm8tdmlkZW8vdW5pdmVyc2FsLnBuZ+1Ya1RTVxa+1rZUGaVqCzUloHam1A6FUgULY6AUFbFAUMtDeVUzyoIUAw0RSLjgVFt0sUw6S2fQBEGtEiAkaaokkBBil0LGKq8mJECaBEklJJckjeQBCUnmBtpO1/yaX/MrP+663z7nnr322d+53z7nXMhIT163FrEWAIB1Kfv3HAKA1Q0A8NzUSy/CLajs6XT4tQp/KPlDgDUUrION54sS0xIBgEPxXzr2AmyvKdt/BA8AgX/yPqtSDv3xZwB47eWUPYkfVxUYlEJcXubdgSdL8suXb/jn7/mibdvoltFb169f33/28psbb57Z+QH/lv+5gEXVieKnRpLq6bhm8+v4pU91G+bLh6qGmhMnRU2bnd9NvKfqA0m2R5GiJtfS/LC2oLdqFQDcSyc4M/2yAlgaMNxtU+A0Q3A4PwaMfYEawpitkFzzpdeOHKvXchaMSkH5atg00vUP/KwTUl36r0aCe0FTFQZb9sOE6bO69d72XZyXAOCDlxu80/VBH/RBH/RBH/RBH/RBH/RBH/RBH/w/w6qfnSZRi/fkeyD8OQB4+cE2uCvxf4OsVxtwqt5YksOim9CIKcMh8TVVttHk0PIz1DtUAfU+9VExeRUwFdOJdRYbiI1j+IhC0DqWCOknuTadiy52R7Zpay+llZeF9xGt+jkNJSGkJbye0dMZe20GAQCnfnjUGFmJf0aXjRF2S8pZJTShNVX4ZXasLQkZ3IBu3r25ZYs8Gx83GA0fyS/HHePw0Gtq3YtaDQf+tFjt4RPfQYMb9VM5FVlmS0k6vedF4AwtIzS3xjI72h3jYtPIldGGO0FWavOzN9r9xNOWW++rdsoBoGyTnnRKQq0IaNXkpznnUoRcSXlhfU7vG61eD4cZJm4aNCq8Qq6GR4dlu4wzmef7/3KcigWA9287zk+r+ujd0Uh7yWQRTq9pk3BCD4SrNkjyVgP3thusjYLOVk0B7PWgq/gr3ULA1kDT+WIWnKSPm1GkGFaS/WScbezucAGqzl3TdJaxsaHywXJIa+063G20WES1TTCIg5RFPMJzILzWoaMXtYC2CVKQUgQmsRW4UEym8x/8PAWTMspN0FxCx1eLPKcVBo3lNMOAR0lXXJFcOzZf0i1kS+JJpx/bg3CowEJRLchF4tR9KOd0Q6QKNy9BJ1xTF2zgGhUY5UkEsiy6RGCNmrQV1cwP7tLKsTWLTxs9OAUC0qRinHkB0V4Gghl9ghhmArsElbLj2pbFkZRGmZ3t+Cl94pSacsSjVFVeLV6fJYlv1MWON5/XY2a1PSGSDmNuJNthI4TwuAn2DLnLPc0cOO43wRa5ibU9NR6XXcvLfNd2OvtCf+13fW4HNK/QR5Hec+7tKL+W03k935PcFtV/3NPrvgp6CKn4dQAgXnhSHzrQpd1KVPaSj963u6A4fjJzUD5C28e8gRUgFK8RzdP9iwZozW0GdeZYtAF/lbBepunAtB3Ef1OgJvPZgiJUVGYjtuJR3s6IEmqSlHSMSgno6crpvKLngDssP9lpN9jyc0yFNQcHpSjTp/byeIbh2V3ValVkVTsnPp3SV7t2meyodLMCTQLzwopLLv7Y8srcrI5Q0Z+RbzT8ecERRZROCjJDLRdaTH1Oo4urXAc9vJWUOv8N1daTGnr4orWbH8tHOhzEbQwpSMgjpN6OsFsRY8kEIc90nrXYDombj4RbC67MaJJOvRMIbcFK/4YzQbty0J+JXkNxmGJiboIRgQ/lC0vr9iXU196X+cs9JRkYsCmEkAs5WdjltTpw17hbuheaKRDg2PI11xESRw+bt/7+2pE+5jCXuar6fHGIl692TDtZ1w31zM7MYkSdiY7xtzudqRiTYHJosT113ryVF9IgeVCq/iQoLZ1i5TaE2L8NKnHucMRKrUSMbFYCRcvEV/epK/NXktJK0N7gQjPkpriHh+QkZD5PHgOCF4Uh1hymCaI02S5Qa5eg5jTaCjfNZ+M50rB7cDIwDuLeE6HaGKKTU5Ia9oOslDiEPuFlZlNR4F+GjAfCWfRzdLFuVI4+tjK5+/UB4pV1gERWCskFyczFSOfQcbW8SBEXj0X2NRfvlu4MYBS3PLIES5/GcRHWXsGrXE43uZRSUSabxagmud9v/4X9scKyO6hShQM/DJI80Id16/lSGnMfap86y/HCRN9LQUoVN/IeooEAokCVxwCSLNbDV7wCRjYbeGoydjjJQuze1h4hvyqyBg1b4vhGmsx8GyYJotyUuYUviozJGY9+F4vmyNf8Wy2mmECsk+CRhd3OIihOC9zVyjfpGaYviuPjf8rCcNT7o7cTeiyvlzianvHz0eO2i/hR/x94cowUZKq7XVWu5yz43MKvVK378o0KkgXzT4yoYlkogyGzRqxxzHcQ02oOdsPBuHOfHIYcR8+iiwLlrizl8y41RiaTBHe2ghES/IjceenvIAlJUtYepN1VsYfesm0eiJsxnG4cXLyhR7072H/iVHTgR6KrsoOeAxwwybKH9bUoqZs/+4JOwfu68F8G/5FhLJjo+PTkRauZXj7nH7sSwyBtl2aCweCH5xGRSmguwPU5jc9kQh4VfcDS1ZWUil/+E4YTC007zqEc44JEblinzCnTQJS7pxLIkwmm8YG3rHnQSgCowI+EUfp7irtp7TlQKbn6rCdoWQzoZY/Vub3heVxOjuMPx5JHdnIpcjNh1L7AKolzwyJ7grhepnBIvoqGaUcSCuufIB4SegZsqXPbMebFea1md16/aGPDrV/kOR6M+508Vz/76+/l+QAlBIWQ3yS9t6z7FD2vpcCuoaf9JvxCuL6p6oRYuK+gryY2xLP1wTQyypuLpqNgfelRirG/4jG8AITVtrmJqrn63xxv0gs+/U8peshRH86Dax8podSFa/ulSn7PqaszR3SYdGlifkdpK2if4tehzdvggtbseXVa/dn3Dj/gDGNcYw9if8tSYYel2CNsXcVjOaEsXFUf2a9qpVUdhGf4tr7x+tyJ0roxgjWE1ErWviIaOQlN5YRb99iqJh3csWDVg4a1AJDdVd/lugHpUdbHaTH9Xcc3AMAZcNN/bS3O+dUtmcVVfr/egCd4lvC9m+Avne1x5u9ga4dqDbzjcH18bWFqrq7+jnfMZf19hJaTo4HFH7HreQCYqm2LmDPHB2KXXHZ1kUklfL0S3nN80tKxmuHnwTVdcwX0pnZUs27SvDfyQMre9D2sDz/5/N9QSwMEFAACAAgAbE7ITGH/pqRJAAAAagAAACQAAAB1bml2ZXJzYWwtbm8tdmlkZW8vdW5pdmVyc2FsLnBuZy54bWyzsa/IzVEoSy0qzszPs1Uy1DNQsrfj5bIpKEoty0wtV6gAihnpGUCAkkIlKrc8M6Ukw1bJwsIYIZaRmpmeUWKrZGaGUKgPNBIAUEsBAgAAFAACAAgAa07ITBUOrShkBAAABxEAACYAAAAAAAAAAQAAAAAAAAAAAHVuaXZlcnNhbC1uby12aWRlby9jb21tb25fbWVzc2FnZXMubG5nUEsBAgAAFAACAAgAa07ITPJcac30AwAAEhEAADAAAAAAAAAAAQAAAAAAqAQAAHVuaXZlcnNhbC1uby12aWRlby9mbGFzaF9wdWJsaXNoaW5nX3NldHRpbmdzLnhtbFBLAQIAABQAAgAIAGtOyEw6Kj9OugIAAFgKAAAqAAAAAAAAAAEAAAAAAOoIAAB1bml2ZXJzYWwtbm8tdmlkZW8vZmxhc2hfc2tpbl9zZXR0aW5ncy54bWxQSwECAAAUAAIACABrTshMdO22Qt8DAACjEAAALwAAAAAAAAABAAAAAADsCwAAdW5pdmVyc2FsLW5vLXZpZGVvL2h0bWxfcHVibGlzaGluZ19zZXR0aW5ncy54bWxQSwECAAAUAAIACABrTshMghPHdJYBAAAiBgAAKAAAAAAAAAABAAAAAAAYEAAAdW5pdmVyc2FsLW5vLXZpZGVvL2h0bWxfc2tpbl9zZXR0aW5ncy5qc1BLAQIAABQAAgAIAGtOyEw9PC/RwQAAAOUBAAAjAAAAAAAAAAEAAAAAAPQRAAB1bml2ZXJzYWwtbm8tdmlkZW8vaTE4bl9wcmVzZXRzLnhtbFBLAQIAABQAAgAIAGtOyEyewaynaAAAAGwAAAAlAAAAAAAAAAEAAAAAAPYSAAB1bml2ZXJzYWwtbm8tdmlkZW8vbG9jYWxfc2V0dGluZ3MueG1sUEsBAgAAFAACAAgASoyVR1i5ETH6AgAAqggAAB0AAAAAAAAAAQAAAAAAoRMAAHVuaXZlcnNhbC1uby12aWRlby9wbGF5ZXIueG1sUEsBAgAAFAACAAgAa07ITFvYtdtvAQAA+AIAADIAAAAAAAAAAQAAAAAA1hYAAHVuaXZlcnNhbC1uby12aWRlby9za2luX2N1c3RvbWl6YXRpb25fc2V0dGluZ3MueG1sUEsBAgAAFAACAAgAbE7ITA5/2u9kCQAAexgAACAAAAAAAAAAAAAAAAAAlRgAAHVuaXZlcnNhbC1uby12aWRlby91bml2ZXJzYWwucG5nUEsBAgAAFAACAAgAbE7ITGH/pqRJAAAAagAAACQAAAAAAAAAAQAAAAAANyIAAHVuaXZlcnNhbC1uby12aWRlby91bml2ZXJzYWwucG5nLnhtbFBLBQYAAAAACwALAKwDAADCIgAAAAA="/>
  <p:tag name="ISPRING_OUTPUT_FOLDER" val="C:\Users\Jvaughey\Downloads\ppt"/>
  <p:tag name="ISPRING_PRESENTATION_TITLE" val="9780357122754_ch03_CE"/>
</p:tagLst>
</file>

<file path=ppt/theme/theme1.xml><?xml version="1.0" encoding="utf-8"?>
<a:theme xmlns:a="http://schemas.openxmlformats.org/drawingml/2006/main" name="Brand_PPT_Template_SIMPLIFIED_SD">
  <a:themeElements>
    <a:clrScheme name="Cengage Colors">
      <a:dk1>
        <a:srgbClr val="004978"/>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dirty="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160808_Cengage PP Brand Update" id="{61CF522C-3938-544D-B6D2-01C3CB24134A}" vid="{85A4C21B-B5BA-1B4B-9AA0-C3802FB375A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25845</TotalTime>
  <Words>7950</Words>
  <Application>Microsoft Office PowerPoint</Application>
  <PresentationFormat>On-screen Show (4:3)</PresentationFormat>
  <Paragraphs>743</Paragraphs>
  <Slides>65</Slides>
  <Notes>65</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65</vt:i4>
      </vt:variant>
    </vt:vector>
  </HeadingPairs>
  <TitlesOfParts>
    <vt:vector size="76" baseType="lpstr">
      <vt:lpstr>MS Mincho</vt:lpstr>
      <vt:lpstr>Arial</vt:lpstr>
      <vt:lpstr>Bank Gothic Bold</vt:lpstr>
      <vt:lpstr>Courier New</vt:lpstr>
      <vt:lpstr>Open Sans</vt:lpstr>
      <vt:lpstr>Open Sans Regular</vt:lpstr>
      <vt:lpstr>Summer Font</vt:lpstr>
      <vt:lpstr>Times</vt:lpstr>
      <vt:lpstr>Times New Roman</vt:lpstr>
      <vt:lpstr>Brand_PPT_Template_SIMPLIFIED_SD</vt:lpstr>
      <vt:lpstr>Equation</vt:lpstr>
      <vt:lpstr>Chapter 3: Searching, Sorting, and Complexity</vt:lpstr>
      <vt:lpstr>Learning Objectives</vt:lpstr>
      <vt:lpstr>Measuring the Efficiency of Algorithms</vt:lpstr>
      <vt:lpstr>Measuring the Run Time of an Algorithm (1 of 6)</vt:lpstr>
      <vt:lpstr>Measuring the Run Time of an Algorithm (2 of 6)</vt:lpstr>
      <vt:lpstr>Measuring the Run Time of an Algorithm (3 of 6)</vt:lpstr>
      <vt:lpstr>Measuring the Run Time of an Algorithm (4 of 6)</vt:lpstr>
      <vt:lpstr>Measuring the Run Time of an Algorithm (5 of 6)</vt:lpstr>
      <vt:lpstr>Measuring the Run Time of an Algorithm (6 of 6)</vt:lpstr>
      <vt:lpstr>Counting Instructions (1 of 5)</vt:lpstr>
      <vt:lpstr>Counting Instructions (2 of 5)</vt:lpstr>
      <vt:lpstr>Counting Instructions (3 of 5)</vt:lpstr>
      <vt:lpstr>Counting Instructions (4 of 5)</vt:lpstr>
      <vt:lpstr>Counting Instructions (5 of 5)</vt:lpstr>
      <vt:lpstr>Measuring the Memory Used by an Algorithm</vt:lpstr>
      <vt:lpstr>Complexity Analysis</vt:lpstr>
      <vt:lpstr>Orders of Complexity (1 of 5)</vt:lpstr>
      <vt:lpstr>Orders of Complexity (2 of 5)</vt:lpstr>
      <vt:lpstr>Orders of Complexity (3 of 5)</vt:lpstr>
      <vt:lpstr>Orders of Complexity (4 of 5)</vt:lpstr>
      <vt:lpstr>Orders of Complexity (5 of 5)</vt:lpstr>
      <vt:lpstr>Big-O-Notation (1 of 2)</vt:lpstr>
      <vt:lpstr>Big-O-Notation (2 of 2)</vt:lpstr>
      <vt:lpstr>The Role of the Constant of Proportionality</vt:lpstr>
      <vt:lpstr>Search Algorithms</vt:lpstr>
      <vt:lpstr>Search for the Minimum</vt:lpstr>
      <vt:lpstr>Sequential Search of a List</vt:lpstr>
      <vt:lpstr>Best-Case, Worst-Case, and Average-Case Performance</vt:lpstr>
      <vt:lpstr>Binary Search of a Sorted List (1 of 2)</vt:lpstr>
      <vt:lpstr>Binary Search of a Sorted List (2 of 2)</vt:lpstr>
      <vt:lpstr>Comparing Data Items (1 of 3)</vt:lpstr>
      <vt:lpstr>Comparing Data Items (2 of 3)</vt:lpstr>
      <vt:lpstr>Comparing Data Items (3 of 3)</vt:lpstr>
      <vt:lpstr>Basic Sort Algorithms</vt:lpstr>
      <vt:lpstr>Selection Sort (1 of 2)</vt:lpstr>
      <vt:lpstr>Selection Sort (2 of 2)</vt:lpstr>
      <vt:lpstr>Bubble Sort (1 of 2)</vt:lpstr>
      <vt:lpstr>Bubble Sort (2 of 2)</vt:lpstr>
      <vt:lpstr>Insertion Sort (1 of 3)</vt:lpstr>
      <vt:lpstr>Insertion Sort (2 of 3)</vt:lpstr>
      <vt:lpstr>Insertion Sort (3 of 3)</vt:lpstr>
      <vt:lpstr>Best-Case, Worst-Case, and Average-Case Performance Revisited</vt:lpstr>
      <vt:lpstr>Faster Sorting (1 of 2)</vt:lpstr>
      <vt:lpstr>Faster Sorting (2 of 2)</vt:lpstr>
      <vt:lpstr>Overview of Quicksort (1 of 5)</vt:lpstr>
      <vt:lpstr>Overview of Quicksort (2 of 5)</vt:lpstr>
      <vt:lpstr>Overview of Quicksort (3 of 5)</vt:lpstr>
      <vt:lpstr>Overview of Quicksort (4 of 5)</vt:lpstr>
      <vt:lpstr>Overview of Quicksort (5 of 5)</vt:lpstr>
      <vt:lpstr>Implementation of Quicksort (1 of 2)</vt:lpstr>
      <vt:lpstr>Implementation of Quicksort (2 of 2)</vt:lpstr>
      <vt:lpstr>Merge Sort (1 of 7)</vt:lpstr>
      <vt:lpstr>Merge Sort (2 of 7)</vt:lpstr>
      <vt:lpstr>Merge Sort (3 of 7)</vt:lpstr>
      <vt:lpstr>Merge Sort (4 of 7)</vt:lpstr>
      <vt:lpstr>Merge Sort (5 of 7)</vt:lpstr>
      <vt:lpstr>Merge Sort (6 of 7)</vt:lpstr>
      <vt:lpstr>Merge Sort (7 of 7)</vt:lpstr>
      <vt:lpstr>Exponential Algorithm: Recursive Fibonacci (1 of 3)</vt:lpstr>
      <vt:lpstr>Exponential Algorithm: Recursive Fibonacci (2 of 3)</vt:lpstr>
      <vt:lpstr>Exponential Algorithm: Recursive Fibonacci (3 of 3)</vt:lpstr>
      <vt:lpstr>Converting Fibonacci to a Linear Algorithm (1 of 2)</vt:lpstr>
      <vt:lpstr>Converting Fibonacci to a Linear Algorithm (2 of 2)</vt:lpstr>
      <vt:lpstr>Chapter Summary (1 of 2)</vt:lpstr>
      <vt:lpstr>Chapter Summary (2 of 2)</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9780357122754_ch03_CE</dc:title>
  <dc:creator>Stulga, Michele L</dc:creator>
  <cp:lastModifiedBy>Vaughey, Jim</cp:lastModifiedBy>
  <cp:revision>628</cp:revision>
  <dcterms:created xsi:type="dcterms:W3CDTF">2001-07-05T23:10:12Z</dcterms:created>
  <dcterms:modified xsi:type="dcterms:W3CDTF">2018-12-21T19:00:16Z</dcterms:modified>
</cp:coreProperties>
</file>